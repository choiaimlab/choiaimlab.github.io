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sldIdLst>
    <p:sldId id="260" r:id="rId2"/>
    <p:sldId id="257" r:id="rId3"/>
    <p:sldId id="258" r:id="rId4"/>
    <p:sldId id="261" r:id="rId5"/>
  </p:sldIdLst>
  <p:sldSz cx="43891200" cy="32918400"/>
  <p:notesSz cx="6858000" cy="9144000"/>
  <p:defaultTextStyle>
    <a:defPPr>
      <a:defRPr lang="en-US"/>
    </a:defPPr>
    <a:lvl1pPr algn="r" rtl="0" eaLnBrk="0" fontAlgn="base" hangingPunct="0">
      <a:spcBef>
        <a:spcPct val="0"/>
      </a:spcBef>
      <a:spcAft>
        <a:spcPct val="0"/>
      </a:spcAft>
      <a:defRPr sz="2400" kern="1200">
        <a:solidFill>
          <a:schemeClr val="tx1"/>
        </a:solidFill>
        <a:latin typeface="Times" charset="0"/>
        <a:ea typeface="+mn-ea"/>
        <a:cs typeface="+mn-cs"/>
      </a:defRPr>
    </a:lvl1pPr>
    <a:lvl2pPr marL="457200" algn="r" rtl="0" eaLnBrk="0" fontAlgn="base" hangingPunct="0">
      <a:spcBef>
        <a:spcPct val="0"/>
      </a:spcBef>
      <a:spcAft>
        <a:spcPct val="0"/>
      </a:spcAft>
      <a:defRPr sz="2400" kern="1200">
        <a:solidFill>
          <a:schemeClr val="tx1"/>
        </a:solidFill>
        <a:latin typeface="Times" charset="0"/>
        <a:ea typeface="+mn-ea"/>
        <a:cs typeface="+mn-cs"/>
      </a:defRPr>
    </a:lvl2pPr>
    <a:lvl3pPr marL="914400" algn="r" rtl="0" eaLnBrk="0" fontAlgn="base" hangingPunct="0">
      <a:spcBef>
        <a:spcPct val="0"/>
      </a:spcBef>
      <a:spcAft>
        <a:spcPct val="0"/>
      </a:spcAft>
      <a:defRPr sz="2400" kern="1200">
        <a:solidFill>
          <a:schemeClr val="tx1"/>
        </a:solidFill>
        <a:latin typeface="Times" charset="0"/>
        <a:ea typeface="+mn-ea"/>
        <a:cs typeface="+mn-cs"/>
      </a:defRPr>
    </a:lvl3pPr>
    <a:lvl4pPr marL="1371600" algn="r" rtl="0" eaLnBrk="0" fontAlgn="base" hangingPunct="0">
      <a:spcBef>
        <a:spcPct val="0"/>
      </a:spcBef>
      <a:spcAft>
        <a:spcPct val="0"/>
      </a:spcAft>
      <a:defRPr sz="2400" kern="1200">
        <a:solidFill>
          <a:schemeClr val="tx1"/>
        </a:solidFill>
        <a:latin typeface="Times" charset="0"/>
        <a:ea typeface="+mn-ea"/>
        <a:cs typeface="+mn-cs"/>
      </a:defRPr>
    </a:lvl4pPr>
    <a:lvl5pPr marL="1828800" algn="r"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102E"/>
    <a:srgbClr val="524727"/>
    <a:srgbClr val="52472B"/>
    <a:srgbClr val="CAC7A7"/>
    <a:srgbClr val="4C452B"/>
    <a:srgbClr val="FFFFFF"/>
    <a:srgbClr val="D2D0CA"/>
    <a:srgbClr val="B3153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70" autoAdjust="0"/>
    <p:restoredTop sz="90884"/>
  </p:normalViewPr>
  <p:slideViewPr>
    <p:cSldViewPr>
      <p:cViewPr>
        <p:scale>
          <a:sx n="50" d="100"/>
          <a:sy n="50" d="100"/>
        </p:scale>
        <p:origin x="36" y="-5814"/>
      </p:cViewPr>
      <p:guideLst>
        <p:guide orient="horz" pos="10368"/>
        <p:guide pos="13824"/>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5"/>
            <a:ext cx="37306250" cy="7054850"/>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6583363" y="18653125"/>
            <a:ext cx="30724475" cy="84137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2193925" y="7680325"/>
            <a:ext cx="39503350" cy="21724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8"/>
            <a:ext cx="37307838" cy="653732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2193925" y="7680325"/>
            <a:ext cx="19675475" cy="2172493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21800" y="7680325"/>
            <a:ext cx="19675475" cy="2172493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5" y="7369175"/>
            <a:ext cx="19392900" cy="30702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5"/>
            <a:ext cx="19400837" cy="30702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7" cy="1896586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a:prstGeom prst="rect">
            <a:avLst/>
          </a:prstGeom>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5"/>
            <a:ext cx="14439900" cy="557688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7160875" y="1311275"/>
            <a:ext cx="24536400" cy="28093988"/>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3"/>
            <a:ext cx="26335037" cy="2720975"/>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8"/>
            <a:ext cx="26335037" cy="19750087"/>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602663" y="25763538"/>
            <a:ext cx="26335037" cy="386238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2193925" y="7680325"/>
            <a:ext cx="39503350" cy="217249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438" y="1317625"/>
            <a:ext cx="9875837" cy="280876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2193925" y="1317625"/>
            <a:ext cx="29475113" cy="280876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tif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userDrawn="1"/>
        </p:nvSpPr>
        <p:spPr bwMode="auto">
          <a:xfrm>
            <a:off x="0" y="0"/>
            <a:ext cx="43891200" cy="3581400"/>
          </a:xfrm>
          <a:prstGeom prst="rect">
            <a:avLst/>
          </a:prstGeom>
          <a:solidFill>
            <a:srgbClr val="C8102E"/>
          </a:solidFill>
          <a:ln w="9525">
            <a:noFill/>
            <a:miter lim="800000"/>
            <a:headEnd/>
            <a:tailEnd/>
          </a:ln>
          <a:effectLst/>
        </p:spPr>
        <p:txBody>
          <a:bodyPr wrap="none" anchor="ctr"/>
          <a:lstStyle/>
          <a:p>
            <a:pPr algn="ctr"/>
            <a:endParaRPr lang="en-US"/>
          </a:p>
        </p:txBody>
      </p:sp>
      <p:sp>
        <p:nvSpPr>
          <p:cNvPr id="1032" name="Rectangle 8"/>
          <p:cNvSpPr>
            <a:spLocks noChangeArrowheads="1"/>
          </p:cNvSpPr>
          <p:nvPr userDrawn="1"/>
        </p:nvSpPr>
        <p:spPr bwMode="auto">
          <a:xfrm>
            <a:off x="0" y="31470600"/>
            <a:ext cx="43891200" cy="1447800"/>
          </a:xfrm>
          <a:prstGeom prst="rect">
            <a:avLst/>
          </a:prstGeom>
          <a:solidFill>
            <a:srgbClr val="C8102E"/>
          </a:solidFill>
          <a:ln w="9525">
            <a:noFill/>
            <a:miter lim="800000"/>
            <a:headEnd/>
            <a:tailEnd/>
          </a:ln>
          <a:effectLst/>
        </p:spPr>
        <p:txBody>
          <a:bodyPr wrap="none" anchor="ctr"/>
          <a:lstStyle/>
          <a:p>
            <a:endParaRPr lang="en-US"/>
          </a:p>
        </p:txBody>
      </p:sp>
      <p:sp>
        <p:nvSpPr>
          <p:cNvPr id="1033" name="Rectangle 9"/>
          <p:cNvSpPr>
            <a:spLocks noChangeArrowheads="1"/>
          </p:cNvSpPr>
          <p:nvPr userDrawn="1"/>
        </p:nvSpPr>
        <p:spPr bwMode="auto">
          <a:xfrm>
            <a:off x="0" y="3581400"/>
            <a:ext cx="43891200" cy="1600200"/>
          </a:xfrm>
          <a:prstGeom prst="rect">
            <a:avLst/>
          </a:prstGeom>
          <a:solidFill>
            <a:srgbClr val="CAC7A7"/>
          </a:solidFill>
          <a:ln w="9525">
            <a:noFill/>
            <a:miter lim="800000"/>
            <a:headEnd/>
            <a:tailEnd/>
          </a:ln>
          <a:effectLst/>
        </p:spPr>
        <p:txBody>
          <a:bodyPr wrap="none" anchor="ctr"/>
          <a:lstStyle/>
          <a:p>
            <a:endParaRPr lang="en-US"/>
          </a:p>
        </p:txBody>
      </p:sp>
      <p:pic>
        <p:nvPicPr>
          <p:cNvPr id="6" name="Picture 5"/>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600205" y="470055"/>
            <a:ext cx="16306789" cy="122128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9438" rtl="0" fontAlgn="base">
        <a:spcBef>
          <a:spcPct val="0"/>
        </a:spcBef>
        <a:spcAft>
          <a:spcPct val="0"/>
        </a:spcAft>
        <a:defRPr sz="21100">
          <a:solidFill>
            <a:schemeClr val="tx2"/>
          </a:solidFill>
          <a:latin typeface="+mj-lt"/>
          <a:ea typeface="+mj-ea"/>
          <a:cs typeface="+mj-cs"/>
        </a:defRPr>
      </a:lvl1pPr>
      <a:lvl2pPr algn="ctr" defTabSz="4389438" rtl="0" fontAlgn="base">
        <a:spcBef>
          <a:spcPct val="0"/>
        </a:spcBef>
        <a:spcAft>
          <a:spcPct val="0"/>
        </a:spcAft>
        <a:defRPr sz="21100">
          <a:solidFill>
            <a:schemeClr val="tx2"/>
          </a:solidFill>
          <a:latin typeface="Times" charset="0"/>
        </a:defRPr>
      </a:lvl2pPr>
      <a:lvl3pPr algn="ctr" defTabSz="4389438" rtl="0" fontAlgn="base">
        <a:spcBef>
          <a:spcPct val="0"/>
        </a:spcBef>
        <a:spcAft>
          <a:spcPct val="0"/>
        </a:spcAft>
        <a:defRPr sz="21100">
          <a:solidFill>
            <a:schemeClr val="tx2"/>
          </a:solidFill>
          <a:latin typeface="Times" charset="0"/>
        </a:defRPr>
      </a:lvl3pPr>
      <a:lvl4pPr algn="ctr" defTabSz="4389438" rtl="0" fontAlgn="base">
        <a:spcBef>
          <a:spcPct val="0"/>
        </a:spcBef>
        <a:spcAft>
          <a:spcPct val="0"/>
        </a:spcAft>
        <a:defRPr sz="21100">
          <a:solidFill>
            <a:schemeClr val="tx2"/>
          </a:solidFill>
          <a:latin typeface="Times" charset="0"/>
        </a:defRPr>
      </a:lvl4pPr>
      <a:lvl5pPr algn="ctr" defTabSz="4389438" rtl="0" fontAlgn="base">
        <a:spcBef>
          <a:spcPct val="0"/>
        </a:spcBef>
        <a:spcAft>
          <a:spcPct val="0"/>
        </a:spcAft>
        <a:defRPr sz="21100">
          <a:solidFill>
            <a:schemeClr val="tx2"/>
          </a:solidFill>
          <a:latin typeface="Times" charset="0"/>
        </a:defRPr>
      </a:lvl5pPr>
      <a:lvl6pPr marL="457200" algn="ctr" defTabSz="4389438" rtl="0" fontAlgn="base">
        <a:spcBef>
          <a:spcPct val="0"/>
        </a:spcBef>
        <a:spcAft>
          <a:spcPct val="0"/>
        </a:spcAft>
        <a:defRPr sz="21100">
          <a:solidFill>
            <a:schemeClr val="tx2"/>
          </a:solidFill>
          <a:latin typeface="Times" charset="0"/>
        </a:defRPr>
      </a:lvl6pPr>
      <a:lvl7pPr marL="914400" algn="ctr" defTabSz="4389438" rtl="0" fontAlgn="base">
        <a:spcBef>
          <a:spcPct val="0"/>
        </a:spcBef>
        <a:spcAft>
          <a:spcPct val="0"/>
        </a:spcAft>
        <a:defRPr sz="21100">
          <a:solidFill>
            <a:schemeClr val="tx2"/>
          </a:solidFill>
          <a:latin typeface="Times" charset="0"/>
        </a:defRPr>
      </a:lvl7pPr>
      <a:lvl8pPr marL="1371600" algn="ctr" defTabSz="4389438" rtl="0" fontAlgn="base">
        <a:spcBef>
          <a:spcPct val="0"/>
        </a:spcBef>
        <a:spcAft>
          <a:spcPct val="0"/>
        </a:spcAft>
        <a:defRPr sz="21100">
          <a:solidFill>
            <a:schemeClr val="tx2"/>
          </a:solidFill>
          <a:latin typeface="Times" charset="0"/>
        </a:defRPr>
      </a:lvl8pPr>
      <a:lvl9pPr marL="1828800" algn="ctr" defTabSz="4389438" rtl="0" fontAlgn="base">
        <a:spcBef>
          <a:spcPct val="0"/>
        </a:spcBef>
        <a:spcAft>
          <a:spcPct val="0"/>
        </a:spcAft>
        <a:defRPr sz="21100">
          <a:solidFill>
            <a:schemeClr val="tx2"/>
          </a:solidFill>
          <a:latin typeface="Times" charset="0"/>
        </a:defRPr>
      </a:lvl9pPr>
    </p:titleStyle>
    <p:bodyStyle>
      <a:lvl1pPr marL="1646238" indent="-1646238" algn="l" defTabSz="4389438" rtl="0" fontAlgn="base">
        <a:spcBef>
          <a:spcPct val="20000"/>
        </a:spcBef>
        <a:spcAft>
          <a:spcPct val="0"/>
        </a:spcAft>
        <a:buChar char="•"/>
        <a:defRPr sz="15400">
          <a:solidFill>
            <a:schemeClr val="tx1"/>
          </a:solidFill>
          <a:latin typeface="+mn-lt"/>
          <a:ea typeface="+mn-ea"/>
          <a:cs typeface="+mn-cs"/>
        </a:defRPr>
      </a:lvl1pPr>
      <a:lvl2pPr marL="3565525" indent="-1371600" algn="l" defTabSz="4389438" rtl="0" fontAlgn="base">
        <a:spcBef>
          <a:spcPct val="20000"/>
        </a:spcBef>
        <a:spcAft>
          <a:spcPct val="0"/>
        </a:spcAft>
        <a:buChar char="–"/>
        <a:defRPr sz="13400">
          <a:solidFill>
            <a:schemeClr val="tx1"/>
          </a:solidFill>
          <a:latin typeface="+mn-lt"/>
        </a:defRPr>
      </a:lvl2pPr>
      <a:lvl3pPr marL="5486400" indent="-1096963" algn="l" defTabSz="4389438" rtl="0" fontAlgn="base">
        <a:spcBef>
          <a:spcPct val="20000"/>
        </a:spcBef>
        <a:spcAft>
          <a:spcPct val="0"/>
        </a:spcAft>
        <a:buChar char="•"/>
        <a:defRPr sz="11500">
          <a:solidFill>
            <a:schemeClr val="tx1"/>
          </a:solidFill>
          <a:latin typeface="+mn-lt"/>
        </a:defRPr>
      </a:lvl3pPr>
      <a:lvl4pPr marL="7680325" indent="-1096963" algn="l" defTabSz="4389438" rtl="0" fontAlgn="base">
        <a:spcBef>
          <a:spcPct val="20000"/>
        </a:spcBef>
        <a:spcAft>
          <a:spcPct val="0"/>
        </a:spcAft>
        <a:buChar char="–"/>
        <a:defRPr sz="9600">
          <a:solidFill>
            <a:schemeClr val="tx1"/>
          </a:solidFill>
          <a:latin typeface="+mn-lt"/>
        </a:defRPr>
      </a:lvl4pPr>
      <a:lvl5pPr marL="9875838" indent="-1096963" algn="l" defTabSz="4389438" rtl="0" fontAlgn="base">
        <a:spcBef>
          <a:spcPct val="20000"/>
        </a:spcBef>
        <a:spcAft>
          <a:spcPct val="0"/>
        </a:spcAft>
        <a:buChar char="»"/>
        <a:defRPr sz="9600">
          <a:solidFill>
            <a:schemeClr val="tx1"/>
          </a:solidFill>
          <a:latin typeface="+mn-lt"/>
        </a:defRPr>
      </a:lvl5pPr>
      <a:lvl6pPr marL="10333038" indent="-1096963" algn="l" defTabSz="4389438" rtl="0" fontAlgn="base">
        <a:spcBef>
          <a:spcPct val="20000"/>
        </a:spcBef>
        <a:spcAft>
          <a:spcPct val="0"/>
        </a:spcAft>
        <a:buChar char="»"/>
        <a:defRPr sz="9600">
          <a:solidFill>
            <a:schemeClr val="tx1"/>
          </a:solidFill>
          <a:latin typeface="+mn-lt"/>
        </a:defRPr>
      </a:lvl6pPr>
      <a:lvl7pPr marL="10790238" indent="-1096963" algn="l" defTabSz="4389438" rtl="0" fontAlgn="base">
        <a:spcBef>
          <a:spcPct val="20000"/>
        </a:spcBef>
        <a:spcAft>
          <a:spcPct val="0"/>
        </a:spcAft>
        <a:buChar char="»"/>
        <a:defRPr sz="9600">
          <a:solidFill>
            <a:schemeClr val="tx1"/>
          </a:solidFill>
          <a:latin typeface="+mn-lt"/>
        </a:defRPr>
      </a:lvl7pPr>
      <a:lvl8pPr marL="11247438" indent="-1096963" algn="l" defTabSz="4389438" rtl="0" fontAlgn="base">
        <a:spcBef>
          <a:spcPct val="20000"/>
        </a:spcBef>
        <a:spcAft>
          <a:spcPct val="0"/>
        </a:spcAft>
        <a:buChar char="»"/>
        <a:defRPr sz="9600">
          <a:solidFill>
            <a:schemeClr val="tx1"/>
          </a:solidFill>
          <a:latin typeface="+mn-lt"/>
        </a:defRPr>
      </a:lvl8pPr>
      <a:lvl9pPr marL="11704638" indent="-1096963" algn="l" defTabSz="4389438" rtl="0" fontAlgn="base">
        <a:spcBef>
          <a:spcPct val="20000"/>
        </a:spcBef>
        <a:spcAft>
          <a:spcPct val="0"/>
        </a:spcAft>
        <a:buChar char="»"/>
        <a:defRPr sz="9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3.png"/><Relationship Id="rId18" Type="http://schemas.openxmlformats.org/officeDocument/2006/relationships/image" Target="../media/image18.png"/><Relationship Id="rId26" Type="http://schemas.openxmlformats.org/officeDocument/2006/relationships/image" Target="../media/image26.png"/><Relationship Id="rId39" Type="http://schemas.openxmlformats.org/officeDocument/2006/relationships/image" Target="../media/image39.png"/><Relationship Id="rId21" Type="http://schemas.openxmlformats.org/officeDocument/2006/relationships/image" Target="../media/image21.png"/><Relationship Id="rId34" Type="http://schemas.openxmlformats.org/officeDocument/2006/relationships/image" Target="../media/image34.png"/><Relationship Id="rId7" Type="http://schemas.openxmlformats.org/officeDocument/2006/relationships/image" Target="../media/image6.jp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5.png"/><Relationship Id="rId33" Type="http://schemas.openxmlformats.org/officeDocument/2006/relationships/image" Target="../media/image33.png"/><Relationship Id="rId38" Type="http://schemas.openxmlformats.org/officeDocument/2006/relationships/image" Target="../media/image38.png"/><Relationship Id="rId2" Type="http://schemas.openxmlformats.org/officeDocument/2006/relationships/image" Target="../media/image2.jpg"/><Relationship Id="rId16" Type="http://schemas.openxmlformats.org/officeDocument/2006/relationships/image" Target="../media/image16.png"/><Relationship Id="rId20" Type="http://schemas.openxmlformats.org/officeDocument/2006/relationships/image" Target="../media/image20.png"/><Relationship Id="rId29"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image" Target="../media/image9.jpg"/><Relationship Id="rId32" Type="http://schemas.openxmlformats.org/officeDocument/2006/relationships/image" Target="../media/image32.png"/><Relationship Id="rId37" Type="http://schemas.openxmlformats.org/officeDocument/2006/relationships/image" Target="../media/image37.png"/><Relationship Id="rId40" Type="http://schemas.openxmlformats.org/officeDocument/2006/relationships/image" Target="../media/image40.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28" Type="http://schemas.openxmlformats.org/officeDocument/2006/relationships/image" Target="../media/image28.png"/><Relationship Id="rId36" Type="http://schemas.openxmlformats.org/officeDocument/2006/relationships/image" Target="../media/image36.png"/><Relationship Id="rId10" Type="http://schemas.openxmlformats.org/officeDocument/2006/relationships/image" Target="../media/image8.jpg"/><Relationship Id="rId19" Type="http://schemas.openxmlformats.org/officeDocument/2006/relationships/image" Target="../media/image19.png"/><Relationship Id="rId31" Type="http://schemas.openxmlformats.org/officeDocument/2006/relationships/image" Target="../media/image31.png"/><Relationship Id="rId4" Type="http://schemas.openxmlformats.org/officeDocument/2006/relationships/image" Target="../media/image4.png"/><Relationship Id="rId9" Type="http://schemas.openxmlformats.org/officeDocument/2006/relationships/image" Target="../media/image7.jpg"/><Relationship Id="rId14" Type="http://schemas.openxmlformats.org/officeDocument/2006/relationships/image" Target="../media/image14.png"/><Relationship Id="rId22" Type="http://schemas.openxmlformats.org/officeDocument/2006/relationships/image" Target="../media/image22.png"/><Relationship Id="rId27" Type="http://schemas.openxmlformats.org/officeDocument/2006/relationships/image" Target="../media/image27.png"/><Relationship Id="rId30" Type="http://schemas.openxmlformats.org/officeDocument/2006/relationships/image" Target="../media/image30.png"/><Relationship Id="rId35" Type="http://schemas.openxmlformats.org/officeDocument/2006/relationships/image" Target="../media/image35.png"/><Relationship Id="rId8" Type="http://schemas.openxmlformats.org/officeDocument/2006/relationships/image" Target="../media/image8.png"/><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14.jpg"/><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18" Type="http://schemas.openxmlformats.org/officeDocument/2006/relationships/image" Target="../media/image150.png"/><Relationship Id="rId26" Type="http://schemas.openxmlformats.org/officeDocument/2006/relationships/image" Target="../media/image200.png"/><Relationship Id="rId39" Type="http://schemas.openxmlformats.org/officeDocument/2006/relationships/image" Target="../media/image311.png"/><Relationship Id="rId21" Type="http://schemas.openxmlformats.org/officeDocument/2006/relationships/image" Target="../media/image120.png"/><Relationship Id="rId34" Type="http://schemas.openxmlformats.org/officeDocument/2006/relationships/image" Target="../media/image46.png"/><Relationship Id="rId42" Type="http://schemas.openxmlformats.org/officeDocument/2006/relationships/image" Target="../media/image340.png"/><Relationship Id="rId7" Type="http://schemas.openxmlformats.org/officeDocument/2006/relationships/image" Target="../media/image6.jpg"/><Relationship Id="rId17" Type="http://schemas.openxmlformats.org/officeDocument/2006/relationships/image" Target="../media/image140.png"/><Relationship Id="rId25" Type="http://schemas.openxmlformats.org/officeDocument/2006/relationships/image" Target="../media/image190.png"/><Relationship Id="rId33" Type="http://schemas.openxmlformats.org/officeDocument/2006/relationships/image" Target="../media/image10.png"/><Relationship Id="rId38" Type="http://schemas.openxmlformats.org/officeDocument/2006/relationships/image" Target="../media/image300.png"/><Relationship Id="rId46" Type="http://schemas.openxmlformats.org/officeDocument/2006/relationships/image" Target="../media/image380.png"/><Relationship Id="rId2" Type="http://schemas.openxmlformats.org/officeDocument/2006/relationships/image" Target="../media/image2.jpg"/><Relationship Id="rId20" Type="http://schemas.openxmlformats.org/officeDocument/2006/relationships/image" Target="../media/image110.png"/><Relationship Id="rId29" Type="http://schemas.openxmlformats.org/officeDocument/2006/relationships/image" Target="../media/image230.png"/><Relationship Id="rId41" Type="http://schemas.openxmlformats.org/officeDocument/2006/relationships/image" Target="../media/image330.png"/><Relationship Id="rId1" Type="http://schemas.openxmlformats.org/officeDocument/2006/relationships/slideLayout" Target="../slideLayouts/slideLayout1.xml"/><Relationship Id="rId6" Type="http://schemas.openxmlformats.org/officeDocument/2006/relationships/image" Target="../media/image60.png"/><Relationship Id="rId24" Type="http://schemas.openxmlformats.org/officeDocument/2006/relationships/image" Target="../media/image180.png"/><Relationship Id="rId32" Type="http://schemas.openxmlformats.org/officeDocument/2006/relationships/image" Target="../media/image260.png"/><Relationship Id="rId37" Type="http://schemas.openxmlformats.org/officeDocument/2006/relationships/image" Target="../media/image290.png"/><Relationship Id="rId40" Type="http://schemas.openxmlformats.org/officeDocument/2006/relationships/image" Target="../media/image320.png"/><Relationship Id="rId45" Type="http://schemas.openxmlformats.org/officeDocument/2006/relationships/image" Target="../media/image370.png"/><Relationship Id="rId5" Type="http://schemas.openxmlformats.org/officeDocument/2006/relationships/image" Target="../media/image5.png"/><Relationship Id="rId23" Type="http://schemas.openxmlformats.org/officeDocument/2006/relationships/image" Target="../media/image170.png"/><Relationship Id="rId28" Type="http://schemas.openxmlformats.org/officeDocument/2006/relationships/image" Target="../media/image220.png"/><Relationship Id="rId36" Type="http://schemas.openxmlformats.org/officeDocument/2006/relationships/image" Target="../media/image270.png"/><Relationship Id="rId10" Type="http://schemas.openxmlformats.org/officeDocument/2006/relationships/image" Target="../media/image8.jpg"/><Relationship Id="rId19" Type="http://schemas.openxmlformats.org/officeDocument/2006/relationships/image" Target="../media/image160.png"/><Relationship Id="rId31" Type="http://schemas.openxmlformats.org/officeDocument/2006/relationships/image" Target="../media/image250.png"/><Relationship Id="rId44" Type="http://schemas.openxmlformats.org/officeDocument/2006/relationships/image" Target="../media/image360.png"/><Relationship Id="rId4" Type="http://schemas.openxmlformats.org/officeDocument/2006/relationships/image" Target="../media/image41.png"/><Relationship Id="rId9" Type="http://schemas.openxmlformats.org/officeDocument/2006/relationships/image" Target="../media/image7.jpg"/><Relationship Id="rId22" Type="http://schemas.openxmlformats.org/officeDocument/2006/relationships/image" Target="../media/image130.png"/><Relationship Id="rId27" Type="http://schemas.openxmlformats.org/officeDocument/2006/relationships/image" Target="../media/image210.png"/><Relationship Id="rId30" Type="http://schemas.openxmlformats.org/officeDocument/2006/relationships/image" Target="../media/image9.jpg"/><Relationship Id="rId35" Type="http://schemas.openxmlformats.org/officeDocument/2006/relationships/image" Target="../media/image24.png"/><Relationship Id="rId43" Type="http://schemas.openxmlformats.org/officeDocument/2006/relationships/image" Target="../media/image350.png"/><Relationship Id="rId8" Type="http://schemas.openxmlformats.org/officeDocument/2006/relationships/image" Target="../media/image80.png"/><Relationship Id="rId3" Type="http://schemas.openxmlformats.org/officeDocument/2006/relationships/image" Target="../media/image3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B89A-AAA1-76B5-8A80-A7FB5CE3D5FD}"/>
            </a:ext>
          </a:extLst>
        </p:cNvPr>
        <p:cNvGrpSpPr/>
        <p:nvPr/>
      </p:nvGrpSpPr>
      <p:grpSpPr>
        <a:xfrm>
          <a:off x="0" y="0"/>
          <a:ext cx="0" cy="0"/>
          <a:chOff x="0" y="0"/>
          <a:chExt cx="0" cy="0"/>
        </a:xfrm>
      </p:grpSpPr>
      <p:pic>
        <p:nvPicPr>
          <p:cNvPr id="14" name="Picture 13" descr="A group of math equations&#10;&#10;AI-generated content may be incorrect.">
            <a:extLst>
              <a:ext uri="{FF2B5EF4-FFF2-40B4-BE49-F238E27FC236}">
                <a16:creationId xmlns:a16="http://schemas.microsoft.com/office/drawing/2014/main" id="{F6B02133-21C8-5ADE-7CD9-B778B3E8BD77}"/>
              </a:ext>
            </a:extLst>
          </p:cNvPr>
          <p:cNvPicPr>
            <a:picLocks noChangeAspect="1"/>
          </p:cNvPicPr>
          <p:nvPr/>
        </p:nvPicPr>
        <p:blipFill>
          <a:blip r:embed="rId2">
            <a:extLst>
              <a:ext uri="{28A0092B-C50C-407E-A947-70E740481C1C}">
                <a14:useLocalDpi xmlns:a14="http://schemas.microsoft.com/office/drawing/2010/main" val="0"/>
              </a:ext>
            </a:extLst>
          </a:blip>
          <a:srcRect l="9332" t="5200" r="9900" b="2653"/>
          <a:stretch/>
        </p:blipFill>
        <p:spPr>
          <a:xfrm>
            <a:off x="15480031" y="11201400"/>
            <a:ext cx="13441680" cy="6814456"/>
          </a:xfrm>
          <a:prstGeom prst="rect">
            <a:avLst/>
          </a:prstGeom>
        </p:spPr>
      </p:pic>
      <mc:AlternateContent xmlns:mc="http://schemas.openxmlformats.org/markup-compatibility/2006" xmlns:a14="http://schemas.microsoft.com/office/drawing/2010/main">
        <mc:Choice Requires="a14">
          <p:sp>
            <p:nvSpPr>
              <p:cNvPr id="40" name="Text Box 18">
                <a:extLst>
                  <a:ext uri="{FF2B5EF4-FFF2-40B4-BE49-F238E27FC236}">
                    <a16:creationId xmlns:a16="http://schemas.microsoft.com/office/drawing/2014/main" id="{FD8A8D5E-31C1-86BB-0E89-A0ABA98392F9}"/>
                  </a:ext>
                </a:extLst>
              </p:cNvPr>
              <p:cNvSpPr txBox="1">
                <a:spLocks noChangeArrowheads="1"/>
              </p:cNvSpPr>
              <p:nvPr/>
            </p:nvSpPr>
            <p:spPr bwMode="auto">
              <a:xfrm>
                <a:off x="15480031" y="7389910"/>
                <a:ext cx="13441680" cy="3586816"/>
              </a:xfrm>
              <a:prstGeom prst="rect">
                <a:avLst/>
              </a:prstGeom>
              <a:noFill/>
              <a:ln w="9525">
                <a:noFill/>
                <a:miter lim="800000"/>
                <a:headEnd/>
                <a:tailEnd/>
              </a:ln>
              <a:effectLst/>
            </p:spPr>
            <p:txBody>
              <a:bodyPr wrap="square">
                <a:spAutoFit/>
              </a:bodyPr>
              <a:lstStyle/>
              <a:p>
                <a:pPr algn="l">
                  <a:spcBef>
                    <a:spcPct val="50000"/>
                  </a:spcBef>
                </a:pPr>
                <a:r>
                  <a:rPr lang="en-US" altLang="ko-KR" sz="4000" b="1" i="1" dirty="0"/>
                  <a:t>Sign Ambiguity: </a:t>
                </a:r>
                <a14:m>
                  <m:oMath xmlns:m="http://schemas.openxmlformats.org/officeDocument/2006/math">
                    <m:sSub>
                      <m:sSubPr>
                        <m:ctrlPr>
                          <a:rPr lang="en-US" altLang="ko-KR" sz="4000" b="1" i="1">
                            <a:latin typeface="Cambria Math" panose="02040503050406030204" pitchFamily="18" charset="0"/>
                          </a:rPr>
                        </m:ctrlPr>
                      </m:sSubPr>
                      <m:e>
                        <m:r>
                          <a:rPr lang="en-US" altLang="ko-KR" sz="4000" b="1" i="1">
                            <a:latin typeface="Cambria Math" panose="02040503050406030204" pitchFamily="18" charset="0"/>
                          </a:rPr>
                          <m:t>𝒔</m:t>
                        </m:r>
                      </m:e>
                      <m:sub>
                        <m:r>
                          <a:rPr lang="en-US" altLang="ko-KR" sz="4000" b="1" i="1">
                            <a:latin typeface="Cambria Math" panose="02040503050406030204" pitchFamily="18" charset="0"/>
                          </a:rPr>
                          <m:t>𝜸</m:t>
                        </m:r>
                      </m:sub>
                    </m:sSub>
                  </m:oMath>
                </a14:m>
                <a:endParaRPr lang="en-US" altLang="ko-KR" sz="4000" b="1" i="1" dirty="0"/>
              </a:p>
              <a:p>
                <a:pPr indent="457200" algn="l">
                  <a:spcBef>
                    <a:spcPct val="50000"/>
                  </a:spcBef>
                </a:pPr>
                <a:r>
                  <a:rPr lang="en-US" altLang="ko-KR" dirty="0"/>
                  <a:t>The first sign ambiguity for </a:t>
                </a:r>
                <a14:m>
                  <m:oMath xmlns:m="http://schemas.openxmlformats.org/officeDocument/2006/math">
                    <m:r>
                      <a:rPr lang="en-US" altLang="ko-KR" i="1">
                        <a:latin typeface="Cambria Math" panose="02040503050406030204" pitchFamily="18" charset="0"/>
                      </a:rPr>
                      <m:t>𝛾</m:t>
                    </m:r>
                  </m:oMath>
                </a14:m>
                <a:r>
                  <a:rPr lang="en-US" altLang="ko-KR" dirty="0"/>
                  <a:t> can be resolved in a straightforward manner. The figure below illustrates how the geometry changes with fixed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𝑠</m:t>
                        </m:r>
                      </m:sub>
                    </m:sSub>
                  </m:oMath>
                </a14:m>
                <a:r>
                  <a:rPr lang="en-US" altLang="ko-KR" dirty="0"/>
                  <a:t> as the angle </a:t>
                </a:r>
                <a14:m>
                  <m:oMath xmlns:m="http://schemas.openxmlformats.org/officeDocument/2006/math">
                    <m:r>
                      <a:rPr lang="en-US" altLang="ko-KR" b="0" i="1" smtClean="0">
                        <a:latin typeface="Cambria Math" panose="02040503050406030204" pitchFamily="18" charset="0"/>
                      </a:rPr>
                      <m:t>𝛼</m:t>
                    </m:r>
                  </m:oMath>
                </a14:m>
                <a:r>
                  <a:rPr lang="en-US" altLang="ko-KR" dirty="0"/>
                  <a:t> varies. As </a:t>
                </a:r>
                <a14:m>
                  <m:oMath xmlns:m="http://schemas.openxmlformats.org/officeDocument/2006/math">
                    <m:r>
                      <a:rPr lang="en-US" altLang="ko-KR" i="1">
                        <a:latin typeface="Cambria Math" panose="02040503050406030204" pitchFamily="18" charset="0"/>
                      </a:rPr>
                      <m:t>𝛼</m:t>
                    </m:r>
                  </m:oMath>
                </a14:m>
                <a:r>
                  <a:rPr lang="en-US" altLang="ko-KR" dirty="0"/>
                  <a:t> increases from 4</a:t>
                </a:r>
                <a14:m>
                  <m:oMath xmlns:m="http://schemas.openxmlformats.org/officeDocument/2006/math">
                    <m:r>
                      <a:rPr lang="en-US" altLang="ko-KR" b="0" i="0" smtClean="0">
                        <a:latin typeface="Cambria Math" panose="02040503050406030204" pitchFamily="18" charset="0"/>
                      </a:rPr>
                      <m:t>5</m:t>
                    </m:r>
                    <m:r>
                      <a:rPr lang="en-US" altLang="ko-KR" i="1">
                        <a:latin typeface="Cambria Math" panose="02040503050406030204" pitchFamily="18" charset="0"/>
                      </a:rPr>
                      <m:t>°</m:t>
                    </m:r>
                  </m:oMath>
                </a14:m>
                <a:r>
                  <a:rPr lang="en-US" altLang="ko-KR" dirty="0"/>
                  <a:t> to </a:t>
                </a:r>
                <a14:m>
                  <m:oMath xmlns:m="http://schemas.openxmlformats.org/officeDocument/2006/math">
                    <m:r>
                      <a:rPr lang="en-US" altLang="ko-KR" b="0" i="1" smtClean="0">
                        <a:latin typeface="Cambria Math" panose="02040503050406030204" pitchFamily="18" charset="0"/>
                      </a:rPr>
                      <m:t>75</m:t>
                    </m:r>
                    <m:r>
                      <a:rPr lang="en-US" altLang="ko-KR" i="1">
                        <a:latin typeface="Cambria Math" panose="02040503050406030204" pitchFamily="18" charset="0"/>
                      </a:rPr>
                      <m:t>°</m:t>
                    </m:r>
                  </m:oMath>
                </a14:m>
                <a:r>
                  <a:rPr lang="en-US" altLang="ko-KR" dirty="0"/>
                  <a:t>, the angle </a:t>
                </a:r>
                <a14:m>
                  <m:oMath xmlns:m="http://schemas.openxmlformats.org/officeDocument/2006/math">
                    <m:r>
                      <a:rPr lang="en-US" altLang="ko-KR" i="1" dirty="0">
                        <a:latin typeface="Cambria Math" panose="02040503050406030204" pitchFamily="18" charset="0"/>
                      </a:rPr>
                      <m:t>𝛾</m:t>
                    </m:r>
                  </m:oMath>
                </a14:m>
                <a:r>
                  <a:rPr lang="en-US" altLang="ko-KR" dirty="0"/>
                  <a:t> decreases. During this process, the total angle </a:t>
                </a:r>
                <a14:m>
                  <m:oMath xmlns:m="http://schemas.openxmlformats.org/officeDocument/2006/math">
                    <m:r>
                      <a:rPr lang="en-US" altLang="ko-KR" i="1">
                        <a:latin typeface="Cambria Math" panose="02040503050406030204" pitchFamily="18" charset="0"/>
                      </a:rPr>
                      <m:t>𝛿</m:t>
                    </m:r>
                    <m:r>
                      <a:rPr lang="en-US" altLang="ko-KR" i="1">
                        <a:latin typeface="Cambria Math" panose="02040503050406030204" pitchFamily="18" charset="0"/>
                      </a:rPr>
                      <m:t>=</m:t>
                    </m:r>
                    <m:r>
                      <a:rPr lang="en-US" altLang="ko-KR" i="1">
                        <a:latin typeface="Cambria Math" panose="02040503050406030204" pitchFamily="18" charset="0"/>
                      </a:rPr>
                      <m:t>𝜙</m:t>
                    </m:r>
                    <m:r>
                      <a:rPr lang="en-US" altLang="ko-KR" i="1">
                        <a:latin typeface="Cambria Math" panose="02040503050406030204" pitchFamily="18" charset="0"/>
                      </a:rPr>
                      <m:t>+</m:t>
                    </m:r>
                    <m:r>
                      <a:rPr lang="en-US" altLang="ko-KR" i="1">
                        <a:latin typeface="Cambria Math" panose="02040503050406030204" pitchFamily="18" charset="0"/>
                      </a:rPr>
                      <m:t>𝛾</m:t>
                    </m:r>
                  </m:oMath>
                </a14:m>
                <a:r>
                  <a:rPr lang="en-US" altLang="ko-KR" dirty="0"/>
                  <a:t>, representing the angle between S/C (blue), the Sun (orange), and the Planet (red). When </a:t>
                </a:r>
                <a14:m>
                  <m:oMath xmlns:m="http://schemas.openxmlformats.org/officeDocument/2006/math">
                    <m:r>
                      <a:rPr lang="en-US" altLang="ko-KR" b="0" i="1" smtClean="0">
                        <a:latin typeface="Cambria Math" panose="02040503050406030204" pitchFamily="18" charset="0"/>
                      </a:rPr>
                      <m:t>𝛼</m:t>
                    </m:r>
                  </m:oMath>
                </a14:m>
                <a:r>
                  <a:rPr lang="en-US" altLang="ko-KR" dirty="0"/>
                  <a:t> reaches </a:t>
                </a:r>
                <a14:m>
                  <m:oMath xmlns:m="http://schemas.openxmlformats.org/officeDocument/2006/math">
                    <m:r>
                      <a:rPr lang="en-US" altLang="ko-KR" b="0" i="1" smtClean="0">
                        <a:latin typeface="Cambria Math" panose="02040503050406030204" pitchFamily="18" charset="0"/>
                      </a:rPr>
                      <m:t>90°</m:t>
                    </m:r>
                  </m:oMath>
                </a14:m>
                <a:r>
                  <a:rPr lang="en-US" altLang="ko-KR" dirty="0"/>
                  <a:t>, </a:t>
                </a:r>
                <a14:m>
                  <m:oMath xmlns:m="http://schemas.openxmlformats.org/officeDocument/2006/math">
                    <m:r>
                      <a:rPr lang="en-US" altLang="ko-KR" b="0" i="1" dirty="0" smtClean="0">
                        <a:latin typeface="Cambria Math" panose="02040503050406030204" pitchFamily="18" charset="0"/>
                      </a:rPr>
                      <m:t>𝛾</m:t>
                    </m:r>
                  </m:oMath>
                </a14:m>
                <a:r>
                  <a:rPr lang="en-US" altLang="ko-KR" dirty="0"/>
                  <a:t> becomes zero. As </a:t>
                </a:r>
                <a14:m>
                  <m:oMath xmlns:m="http://schemas.openxmlformats.org/officeDocument/2006/math">
                    <m:r>
                      <a:rPr lang="en-US" altLang="ko-KR" b="0" i="1" smtClean="0">
                        <a:latin typeface="Cambria Math" panose="02040503050406030204" pitchFamily="18" charset="0"/>
                      </a:rPr>
                      <m:t>𝛼</m:t>
                    </m:r>
                  </m:oMath>
                </a14:m>
                <a:r>
                  <a:rPr lang="en-US" altLang="ko-KR" dirty="0"/>
                  <a:t> continues to increase beyond </a:t>
                </a:r>
                <a14:m>
                  <m:oMath xmlns:m="http://schemas.openxmlformats.org/officeDocument/2006/math">
                    <m:r>
                      <a:rPr lang="en-US" altLang="ko-KR" b="0" i="1" smtClean="0">
                        <a:latin typeface="Cambria Math" panose="02040503050406030204" pitchFamily="18" charset="0"/>
                      </a:rPr>
                      <m:t>90°</m:t>
                    </m:r>
                  </m:oMath>
                </a14:m>
                <a:r>
                  <a:rPr lang="en-US" altLang="ko-KR" dirty="0"/>
                  <a:t>, to </a:t>
                </a:r>
                <a14:m>
                  <m:oMath xmlns:m="http://schemas.openxmlformats.org/officeDocument/2006/math">
                    <m:r>
                      <a:rPr lang="en-US" altLang="ko-KR" b="0" i="1" smtClean="0">
                        <a:latin typeface="Cambria Math" panose="02040503050406030204" pitchFamily="18" charset="0"/>
                      </a:rPr>
                      <m:t>105°</m:t>
                    </m:r>
                  </m:oMath>
                </a14:m>
                <a:r>
                  <a:rPr lang="en-US" altLang="ko-KR" dirty="0"/>
                  <a:t> and </a:t>
                </a:r>
                <a14:m>
                  <m:oMath xmlns:m="http://schemas.openxmlformats.org/officeDocument/2006/math">
                    <m:r>
                      <a:rPr lang="en-US" altLang="ko-KR" b="0" i="1" smtClean="0">
                        <a:latin typeface="Cambria Math" panose="02040503050406030204" pitchFamily="18" charset="0"/>
                      </a:rPr>
                      <m:t>120°</m:t>
                    </m:r>
                  </m:oMath>
                </a14:m>
                <a:r>
                  <a:rPr lang="en-US" altLang="ko-KR" dirty="0"/>
                  <a:t> by shaping the obtuse triangle, the relationship changes to </a:t>
                </a:r>
                <a14:m>
                  <m:oMath xmlns:m="http://schemas.openxmlformats.org/officeDocument/2006/math">
                    <m:r>
                      <a:rPr lang="en-US" altLang="ko-KR" b="0" i="1" smtClean="0">
                        <a:latin typeface="Cambria Math" panose="02040503050406030204" pitchFamily="18" charset="0"/>
                      </a:rPr>
                      <m:t>𝛿</m:t>
                    </m:r>
                    <m:r>
                      <a:rPr lang="en-US" altLang="ko-KR" b="0" i="1" smtClean="0">
                        <a:latin typeface="Cambria Math" panose="02040503050406030204" pitchFamily="18" charset="0"/>
                      </a:rPr>
                      <m:t>=</m:t>
                    </m:r>
                    <m:r>
                      <a:rPr lang="en-US" altLang="ko-KR" b="0" i="1" smtClean="0">
                        <a:latin typeface="Cambria Math" panose="02040503050406030204" pitchFamily="18" charset="0"/>
                      </a:rPr>
                      <m:t>𝜙</m:t>
                    </m:r>
                    <m:r>
                      <a:rPr lang="en-US" altLang="ko-KR" b="0" i="1" smtClean="0">
                        <a:latin typeface="Cambria Math" panose="02040503050406030204" pitchFamily="18" charset="0"/>
                      </a:rPr>
                      <m:t>−</m:t>
                    </m:r>
                    <m:r>
                      <a:rPr lang="en-US" altLang="ko-KR" b="0" i="1" smtClean="0">
                        <a:latin typeface="Cambria Math" panose="02040503050406030204" pitchFamily="18" charset="0"/>
                      </a:rPr>
                      <m:t>𝛾</m:t>
                    </m:r>
                  </m:oMath>
                </a14:m>
                <a:r>
                  <a:rPr lang="en-US" altLang="ko-KR" dirty="0"/>
                  <a:t>. Therefore, from this observation, when </a:t>
                </a:r>
                <a14:m>
                  <m:oMath xmlns:m="http://schemas.openxmlformats.org/officeDocument/2006/math">
                    <m:r>
                      <a:rPr lang="en-US" altLang="ko-KR" b="0" i="1" smtClean="0">
                        <a:latin typeface="Cambria Math" panose="02040503050406030204" pitchFamily="18" charset="0"/>
                      </a:rPr>
                      <m:t>𝛼</m:t>
                    </m:r>
                  </m:oMath>
                </a14:m>
                <a:r>
                  <a:rPr lang="en-US" altLang="ko-KR" dirty="0"/>
                  <a:t> is smaller than </a:t>
                </a:r>
                <a14:m>
                  <m:oMath xmlns:m="http://schemas.openxmlformats.org/officeDocument/2006/math">
                    <m:r>
                      <a:rPr lang="en-US" altLang="ko-KR" b="0" i="1" smtClean="0">
                        <a:latin typeface="Cambria Math" panose="02040503050406030204" pitchFamily="18" charset="0"/>
                      </a:rPr>
                      <m:t>90°</m:t>
                    </m:r>
                  </m:oMath>
                </a14:m>
                <a:r>
                  <a:rPr lang="en-US" altLang="ko-KR" dirty="0"/>
                  <a:t>, then the sign of </a:t>
                </a:r>
                <a14:m>
                  <m:oMath xmlns:m="http://schemas.openxmlformats.org/officeDocument/2006/math">
                    <m:r>
                      <a:rPr lang="en-US" altLang="ko-KR" b="0" i="1" smtClean="0">
                        <a:latin typeface="Cambria Math" panose="02040503050406030204" pitchFamily="18" charset="0"/>
                      </a:rPr>
                      <m:t>𝛾</m:t>
                    </m:r>
                  </m:oMath>
                </a14:m>
                <a:r>
                  <a:rPr lang="en-US" altLang="ko-KR" dirty="0"/>
                  <a:t> is positive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𝑠</m:t>
                        </m:r>
                      </m:e>
                      <m:sub>
                        <m:r>
                          <a:rPr lang="en-US" altLang="ko-KR" b="0" i="1" smtClean="0">
                            <a:latin typeface="Cambria Math" panose="02040503050406030204" pitchFamily="18" charset="0"/>
                          </a:rPr>
                          <m:t>𝛾</m:t>
                        </m:r>
                      </m:sub>
                    </m:sSub>
                    <m:r>
                      <a:rPr lang="en-US" altLang="ko-KR" b="0" i="0" smtClean="0">
                        <a:latin typeface="Cambria Math" panose="02040503050406030204" pitchFamily="18" charset="0"/>
                      </a:rPr>
                      <m:t>=+1</m:t>
                    </m:r>
                  </m:oMath>
                </a14:m>
                <a:r>
                  <a:rPr lang="en-US" altLang="ko-KR" dirty="0"/>
                  <a:t>), and when </a:t>
                </a:r>
                <a14:m>
                  <m:oMath xmlns:m="http://schemas.openxmlformats.org/officeDocument/2006/math">
                    <m:r>
                      <a:rPr lang="en-US" altLang="ko-KR" b="0" i="1" smtClean="0">
                        <a:latin typeface="Cambria Math" panose="02040503050406030204" pitchFamily="18" charset="0"/>
                      </a:rPr>
                      <m:t>𝛼</m:t>
                    </m:r>
                  </m:oMath>
                </a14:m>
                <a:r>
                  <a:rPr lang="en-US" altLang="ko-KR" dirty="0"/>
                  <a:t> is greater than </a:t>
                </a:r>
                <a14:m>
                  <m:oMath xmlns:m="http://schemas.openxmlformats.org/officeDocument/2006/math">
                    <m:r>
                      <a:rPr lang="en-US" altLang="ko-KR" b="0" i="1" smtClean="0">
                        <a:latin typeface="Cambria Math" panose="02040503050406030204" pitchFamily="18" charset="0"/>
                      </a:rPr>
                      <m:t>90°</m:t>
                    </m:r>
                  </m:oMath>
                </a14:m>
                <a:r>
                  <a:rPr lang="en-US" altLang="ko-KR" dirty="0"/>
                  <a:t>, the sign becomes negative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𝑠</m:t>
                        </m:r>
                      </m:e>
                      <m:sub>
                        <m:r>
                          <a:rPr lang="en-US" altLang="ko-KR" b="0" i="1" smtClean="0">
                            <a:latin typeface="Cambria Math" panose="02040503050406030204" pitchFamily="18" charset="0"/>
                          </a:rPr>
                          <m:t>𝛾</m:t>
                        </m:r>
                      </m:sub>
                    </m:sSub>
                    <m:r>
                      <a:rPr lang="en-US" altLang="ko-KR" b="0" i="1" smtClean="0">
                        <a:latin typeface="Cambria Math" panose="02040503050406030204" pitchFamily="18" charset="0"/>
                      </a:rPr>
                      <m:t>=−1</m:t>
                    </m:r>
                  </m:oMath>
                </a14:m>
                <a:r>
                  <a:rPr lang="en-US" altLang="ko-KR" dirty="0"/>
                  <a:t>).</a:t>
                </a:r>
              </a:p>
            </p:txBody>
          </p:sp>
        </mc:Choice>
        <mc:Fallback xmlns="">
          <p:sp>
            <p:nvSpPr>
              <p:cNvPr id="40" name="Text Box 18">
                <a:extLst>
                  <a:ext uri="{FF2B5EF4-FFF2-40B4-BE49-F238E27FC236}">
                    <a16:creationId xmlns:a16="http://schemas.microsoft.com/office/drawing/2014/main" id="{FD8A8D5E-31C1-86BB-0E89-A0ABA98392F9}"/>
                  </a:ext>
                </a:extLst>
              </p:cNvPr>
              <p:cNvSpPr txBox="1">
                <a:spLocks noRot="1" noChangeAspect="1" noMove="1" noResize="1" noEditPoints="1" noAdjustHandles="1" noChangeArrowheads="1" noChangeShapeType="1" noTextEdit="1"/>
              </p:cNvSpPr>
              <p:nvPr/>
            </p:nvSpPr>
            <p:spPr bwMode="auto">
              <a:xfrm>
                <a:off x="15480031" y="7389910"/>
                <a:ext cx="13441680" cy="3586816"/>
              </a:xfrm>
              <a:prstGeom prst="rect">
                <a:avLst/>
              </a:prstGeom>
              <a:blipFill>
                <a:blip r:embed="rId3"/>
                <a:stretch>
                  <a:fillRect l="-1587" t="-3056" r="-771" b="-2037"/>
                </a:stretch>
              </a:blipFill>
              <a:ln w="9525">
                <a:noFill/>
                <a:miter lim="800000"/>
                <a:headEnd/>
                <a:tailEnd/>
              </a:ln>
              <a:effectLst/>
            </p:spPr>
            <p:txBody>
              <a:bodyPr/>
              <a:lstStyle/>
              <a:p>
                <a:r>
                  <a:rPr lang="ko-KR" altLang="en-US">
                    <a:noFill/>
                  </a:rPr>
                  <a:t> </a:t>
                </a:r>
              </a:p>
            </p:txBody>
          </p:sp>
        </mc:Fallback>
      </mc:AlternateContent>
      <p:sp>
        <p:nvSpPr>
          <p:cNvPr id="2064" name="Text Box 16">
            <a:extLst>
              <a:ext uri="{FF2B5EF4-FFF2-40B4-BE49-F238E27FC236}">
                <a16:creationId xmlns:a16="http://schemas.microsoft.com/office/drawing/2014/main" id="{1CC96062-684D-182B-5D2C-1C0F8C33AFE0}"/>
              </a:ext>
            </a:extLst>
          </p:cNvPr>
          <p:cNvSpPr txBox="1">
            <a:spLocks noChangeArrowheads="1"/>
          </p:cNvSpPr>
          <p:nvPr/>
        </p:nvSpPr>
        <p:spPr bwMode="auto">
          <a:xfrm>
            <a:off x="1597025" y="5692775"/>
            <a:ext cx="41636719" cy="1323439"/>
          </a:xfrm>
          <a:prstGeom prst="rect">
            <a:avLst/>
          </a:prstGeom>
          <a:noFill/>
          <a:ln w="9525">
            <a:noFill/>
            <a:miter lim="800000"/>
            <a:headEnd/>
            <a:tailEnd/>
          </a:ln>
          <a:effectLst/>
        </p:spPr>
        <p:txBody>
          <a:bodyPr wrap="none">
            <a:spAutoFit/>
          </a:bodyPr>
          <a:lstStyle/>
          <a:p>
            <a:pPr algn="l"/>
            <a:r>
              <a:rPr lang="en-US" sz="8000" b="1" dirty="0">
                <a:latin typeface="Arial" charset="0"/>
              </a:rPr>
              <a:t>Ambiguity-Free Geometrical Deep Space Navigation Using Angle-Only Measurements</a:t>
            </a:r>
          </a:p>
        </p:txBody>
      </p:sp>
      <mc:AlternateContent xmlns:mc="http://schemas.openxmlformats.org/markup-compatibility/2006" xmlns:a14="http://schemas.microsoft.com/office/drawing/2010/main">
        <mc:Choice Requires="a14">
          <p:sp>
            <p:nvSpPr>
              <p:cNvPr id="2066" name="Text Box 18">
                <a:extLst>
                  <a:ext uri="{FF2B5EF4-FFF2-40B4-BE49-F238E27FC236}">
                    <a16:creationId xmlns:a16="http://schemas.microsoft.com/office/drawing/2014/main" id="{B1D26339-86D6-03AD-CCCE-4BBE56DE75B3}"/>
                  </a:ext>
                </a:extLst>
              </p:cNvPr>
              <p:cNvSpPr txBox="1">
                <a:spLocks noChangeArrowheads="1"/>
              </p:cNvSpPr>
              <p:nvPr/>
            </p:nvSpPr>
            <p:spPr bwMode="auto">
              <a:xfrm>
                <a:off x="1558925" y="7389910"/>
                <a:ext cx="13441680" cy="16806717"/>
              </a:xfrm>
              <a:prstGeom prst="rect">
                <a:avLst/>
              </a:prstGeom>
              <a:noFill/>
              <a:ln w="9525">
                <a:noFill/>
                <a:miter lim="800000"/>
                <a:headEnd/>
                <a:tailEnd/>
              </a:ln>
              <a:effectLst/>
            </p:spPr>
            <p:txBody>
              <a:bodyPr wrap="square">
                <a:spAutoFit/>
              </a:bodyPr>
              <a:lstStyle/>
              <a:p>
                <a:pPr algn="just">
                  <a:spcBef>
                    <a:spcPct val="50000"/>
                  </a:spcBef>
                </a:pPr>
                <a:r>
                  <a:rPr lang="en-US" sz="4000" b="1" i="1" dirty="0"/>
                  <a:t>Background</a:t>
                </a:r>
              </a:p>
              <a:p>
                <a:pPr indent="457200" algn="just">
                  <a:spcBef>
                    <a:spcPct val="50000"/>
                  </a:spcBef>
                </a:pPr>
                <a:r>
                  <a:rPr lang="en-US" altLang="ko-KR" dirty="0"/>
                  <a:t>Many deep space missions rely on the Deep Space Network (DSN) for navigation. However, for CubeSat missions, access to the DSN may be limited due to its high operational costs. As a result, recent research has focused on developing onboard navigation systems that are computationally efficient. These onboard solutions not only reduce reliance on DSN but also support greater autonomy by eliminating delays associated with signal transmission.</a:t>
                </a:r>
              </a:p>
              <a:p>
                <a:pPr indent="457200" algn="just">
                  <a:spcBef>
                    <a:spcPct val="50000"/>
                  </a:spcBef>
                </a:pPr>
                <a:r>
                  <a:rPr lang="en-US" altLang="ko-KR" dirty="0"/>
                  <a:t>In this study, we present a geometric approach to deep space navigation using angle-only measurements [1]. We assume that the positions of the Sun, Planet 1, and Planet 2 are known a priori from ephemeris data. The spacecraft then measures the angles formed between itself, the Sun, and each of the two planets, specifically, the angles Sun–spacecraft–Planet 1 and Sun–spacecraft–Planet 2. Using this information, the proposed method can compute the spacecraft’s distance from the Sun. While this approach introduces sign ambiguities in some angles during the process, resulting in up to nine possible solutions, we also demonstrate how these ambiguities can be effectively resolved.</a:t>
                </a:r>
              </a:p>
              <a:p>
                <a:pPr indent="457200" algn="just">
                  <a:spcBef>
                    <a:spcPct val="50000"/>
                  </a:spcBef>
                </a:pPr>
                <a:r>
                  <a:rPr lang="en-US" altLang="ko-KR" dirty="0"/>
                  <a:t>Once the distance from the Sun to the spacecraft is determined, the spacecraft's inertial position can be computed [2]. At this stage, a sign ambiguity arises again when expressing the spacecraft's position in a reference frame. Although this is a geometric limitation [2], the ambiguity can be resolved using prior information, such as a known reference orbit or estimation results from the previous step. After determining the inertial position, the spacecraft’s attitude relative to the inertial frame can be calculated using the TRIAD method. Thus, the proposed approach enables determination of both the spacecraft’s inertial position and its attitude.</a:t>
                </a:r>
              </a:p>
              <a:p>
                <a:pPr indent="457200" algn="just">
                  <a:spcBef>
                    <a:spcPct val="50000"/>
                  </a:spcBef>
                </a:pPr>
                <a:endParaRPr lang="en-US" altLang="ko-KR" dirty="0"/>
              </a:p>
              <a:p>
                <a:pPr indent="457200" algn="just">
                  <a:spcBef>
                    <a:spcPct val="50000"/>
                  </a:spcBef>
                </a:pPr>
                <a:r>
                  <a:rPr lang="en-US" altLang="ko-KR" sz="4000" b="1" i="1" dirty="0"/>
                  <a:t>Geometry</a:t>
                </a:r>
              </a:p>
              <a:p>
                <a:pPr indent="457200" algn="just">
                  <a:spcBef>
                    <a:spcPct val="50000"/>
                  </a:spcBef>
                </a:pPr>
                <a:r>
                  <a:rPr lang="en-US" altLang="ko-KR" dirty="0"/>
                  <a:t>The initial geometry is shown in the bottom-left figure. The Sun (orange) is located at the origin, and the spacecraft (S/C) is represented by a black star positioned along the Y-axis. Planet 1 and Planet 2 are shown in red and blue, respectively. The </a:t>
                </a:r>
                <a14:m>
                  <m:oMath xmlns:m="http://schemas.openxmlformats.org/officeDocument/2006/math">
                    <m:sSub>
                      <m:sSubPr>
                        <m:ctrlPr>
                          <a:rPr lang="en-US" altLang="ko-KR" i="1" dirty="0" smtClean="0">
                            <a:latin typeface="Cambria Math" panose="02040503050406030204" pitchFamily="18" charset="0"/>
                          </a:rPr>
                        </m:ctrlPr>
                      </m:sSubPr>
                      <m:e>
                        <m:acc>
                          <m:accPr>
                            <m:chr m:val="⃗"/>
                            <m:ctrlPr>
                              <a:rPr lang="en-US" altLang="ko-KR" i="1" smtClean="0">
                                <a:latin typeface="Cambria Math" panose="02040503050406030204" pitchFamily="18" charset="0"/>
                              </a:rPr>
                            </m:ctrlPr>
                          </m:accPr>
                          <m:e>
                            <m:r>
                              <a:rPr lang="en-US" altLang="ko-KR" b="0" i="1" smtClean="0">
                                <a:latin typeface="Cambria Math" panose="02040503050406030204" pitchFamily="18" charset="0"/>
                              </a:rPr>
                              <m:t>𝑟</m:t>
                            </m:r>
                          </m:e>
                        </m:acc>
                      </m:e>
                      <m:sub>
                        <m:r>
                          <a:rPr lang="en-US" altLang="ko-KR" b="0" i="1" dirty="0" smtClean="0">
                            <a:latin typeface="Cambria Math" panose="02040503050406030204" pitchFamily="18" charset="0"/>
                          </a:rPr>
                          <m:t>1</m:t>
                        </m:r>
                      </m:sub>
                    </m:sSub>
                  </m:oMath>
                </a14:m>
                <a:r>
                  <a:rPr lang="en-US" altLang="ko-KR" dirty="0"/>
                  <a:t> and </a:t>
                </a:r>
                <a14:m>
                  <m:oMath xmlns:m="http://schemas.openxmlformats.org/officeDocument/2006/math">
                    <m:sSub>
                      <m:sSubPr>
                        <m:ctrlPr>
                          <a:rPr lang="en-US" altLang="ko-KR" i="1" dirty="0" smtClean="0">
                            <a:latin typeface="Cambria Math" panose="02040503050406030204" pitchFamily="18" charset="0"/>
                          </a:rPr>
                        </m:ctrlPr>
                      </m:sSubPr>
                      <m:e>
                        <m:acc>
                          <m:accPr>
                            <m:chr m:val="⃗"/>
                            <m:ctrlPr>
                              <a:rPr lang="en-US" altLang="ko-KR" i="1" smtClean="0">
                                <a:latin typeface="Cambria Math" panose="02040503050406030204" pitchFamily="18" charset="0"/>
                              </a:rPr>
                            </m:ctrlPr>
                          </m:accPr>
                          <m:e>
                            <m:r>
                              <a:rPr lang="en-US" altLang="ko-KR" b="0" i="1" smtClean="0">
                                <a:latin typeface="Cambria Math" panose="02040503050406030204" pitchFamily="18" charset="0"/>
                              </a:rPr>
                              <m:t>𝑟</m:t>
                            </m:r>
                          </m:e>
                        </m:acc>
                      </m:e>
                      <m:sub>
                        <m:r>
                          <a:rPr lang="en-US" altLang="ko-KR" b="0" i="1" dirty="0" smtClean="0">
                            <a:latin typeface="Cambria Math" panose="02040503050406030204" pitchFamily="18" charset="0"/>
                          </a:rPr>
                          <m:t>2</m:t>
                        </m:r>
                      </m:sub>
                    </m:sSub>
                  </m:oMath>
                </a14:m>
                <a:r>
                  <a:rPr lang="en-US" altLang="ko-KR" dirty="0"/>
                  <a:t> represent the positions of the planets from the Sun, while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𝑟</m:t>
                        </m:r>
                      </m:e>
                      <m:sub>
                        <m:r>
                          <a:rPr lang="en-US" altLang="ko-KR" b="0" i="1" smtClean="0">
                            <a:latin typeface="Cambria Math" panose="02040503050406030204" pitchFamily="18" charset="0"/>
                          </a:rPr>
                          <m:t>3</m:t>
                        </m:r>
                      </m:sub>
                    </m:sSub>
                  </m:oMath>
                </a14:m>
                <a:r>
                  <a:rPr lang="en-US" altLang="ko-KR" dirty="0"/>
                  <a:t> denotes the distance between Planet 1 and Planet 2. They are given from ephemerides. The unit vectors ρ̂₀, ρ̂₁, and ρ̂₂ correspond to the angle-only measurements taken by the spacecraft, which allow us to compute the angles α₁ and α₂. The angle θ represents the angular separation between Planet 1, the Sun, and Planet 2, computed from the dot product of </a:t>
                </a:r>
                <a14:m>
                  <m:oMath xmlns:m="http://schemas.openxmlformats.org/officeDocument/2006/math">
                    <m:sSub>
                      <m:sSubPr>
                        <m:ctrlPr>
                          <a:rPr lang="en-US" altLang="ko-KR" i="1" dirty="0" smtClean="0">
                            <a:latin typeface="Cambria Math" panose="02040503050406030204" pitchFamily="18" charset="0"/>
                          </a:rPr>
                        </m:ctrlPr>
                      </m:sSubPr>
                      <m:e>
                        <m:acc>
                          <m:accPr>
                            <m:chr m:val="⃗"/>
                            <m:ctrlPr>
                              <a:rPr lang="en-US" altLang="ko-KR" i="1" smtClean="0">
                                <a:latin typeface="Cambria Math" panose="02040503050406030204" pitchFamily="18" charset="0"/>
                              </a:rPr>
                            </m:ctrlPr>
                          </m:accPr>
                          <m:e>
                            <m:r>
                              <a:rPr lang="en-US" altLang="ko-KR" b="0" i="1" smtClean="0">
                                <a:latin typeface="Cambria Math" panose="02040503050406030204" pitchFamily="18" charset="0"/>
                              </a:rPr>
                              <m:t>𝑟</m:t>
                            </m:r>
                          </m:e>
                        </m:acc>
                      </m:e>
                      <m:sub>
                        <m:r>
                          <a:rPr lang="en-US" altLang="ko-KR" b="0" i="1" dirty="0" smtClean="0">
                            <a:latin typeface="Cambria Math" panose="02040503050406030204" pitchFamily="18" charset="0"/>
                          </a:rPr>
                          <m:t>1</m:t>
                        </m:r>
                      </m:sub>
                    </m:sSub>
                  </m:oMath>
                </a14:m>
                <a:r>
                  <a:rPr lang="en-US" altLang="ko-KR" dirty="0"/>
                  <a:t> and </a:t>
                </a:r>
                <a14:m>
                  <m:oMath xmlns:m="http://schemas.openxmlformats.org/officeDocument/2006/math">
                    <m:sSub>
                      <m:sSubPr>
                        <m:ctrlPr>
                          <a:rPr lang="en-US" altLang="ko-KR" i="1" dirty="0" smtClean="0">
                            <a:latin typeface="Cambria Math" panose="02040503050406030204" pitchFamily="18" charset="0"/>
                          </a:rPr>
                        </m:ctrlPr>
                      </m:sSubPr>
                      <m:e>
                        <m:acc>
                          <m:accPr>
                            <m:chr m:val="⃗"/>
                            <m:ctrlPr>
                              <a:rPr lang="en-US" altLang="ko-KR" i="1" smtClean="0">
                                <a:latin typeface="Cambria Math" panose="02040503050406030204" pitchFamily="18" charset="0"/>
                              </a:rPr>
                            </m:ctrlPr>
                          </m:accPr>
                          <m:e>
                            <m:r>
                              <a:rPr lang="en-US" altLang="ko-KR" b="0" i="1" smtClean="0">
                                <a:latin typeface="Cambria Math" panose="02040503050406030204" pitchFamily="18" charset="0"/>
                              </a:rPr>
                              <m:t>𝑟</m:t>
                            </m:r>
                          </m:e>
                        </m:acc>
                      </m:e>
                      <m:sub>
                        <m:r>
                          <a:rPr lang="en-US" altLang="ko-KR" b="0" i="1" dirty="0" smtClean="0">
                            <a:latin typeface="Cambria Math" panose="02040503050406030204" pitchFamily="18" charset="0"/>
                          </a:rPr>
                          <m:t>2</m:t>
                        </m:r>
                      </m:sub>
                    </m:sSub>
                  </m:oMath>
                </a14:m>
                <a:r>
                  <a:rPr lang="en-US" altLang="ko-KR" dirty="0"/>
                  <a:t>. The distances from the spacecraft to Planet 1 and Planet 2 are denoted as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1</m:t>
                        </m:r>
                      </m:sub>
                    </m:sSub>
                  </m:oMath>
                </a14:m>
                <a:r>
                  <a:rPr lang="en-US" altLang="ko-KR" dirty="0"/>
                  <a:t> and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2</m:t>
                        </m:r>
                      </m:sub>
                    </m:sSub>
                  </m:oMath>
                </a14:m>
                <a:r>
                  <a:rPr lang="en-US" altLang="ko-KR" dirty="0"/>
                  <a:t>, respectively.</a:t>
                </a:r>
              </a:p>
              <a:p>
                <a:pPr indent="457200" algn="just">
                  <a:spcBef>
                    <a:spcPct val="50000"/>
                  </a:spcBef>
                </a:pPr>
                <a:r>
                  <a:rPr lang="en-US" altLang="ko-KR" dirty="0"/>
                  <a:t>To compute the distance from the Sun to S/C (</a:t>
                </a:r>
                <a14:m>
                  <m:oMath xmlns:m="http://schemas.openxmlformats.org/officeDocument/2006/math">
                    <m:sSub>
                      <m:sSubPr>
                        <m:ctrlPr>
                          <a:rPr lang="en-US" altLang="ko-KR" b="0" i="1" dirty="0" smtClean="0">
                            <a:latin typeface="Cambria Math" panose="02040503050406030204" pitchFamily="18" charset="0"/>
                          </a:rPr>
                        </m:ctrlPr>
                      </m:sSubPr>
                      <m:e>
                        <m:r>
                          <a:rPr lang="en-US" altLang="ko-KR" b="0" i="1" dirty="0" smtClean="0">
                            <a:latin typeface="Cambria Math" panose="02040503050406030204" pitchFamily="18" charset="0"/>
                          </a:rPr>
                          <m:t>𝑦</m:t>
                        </m:r>
                      </m:e>
                      <m:sub>
                        <m:r>
                          <a:rPr lang="en-US" altLang="ko-KR" b="0" i="1" dirty="0" smtClean="0">
                            <a:latin typeface="Cambria Math" panose="02040503050406030204" pitchFamily="18" charset="0"/>
                          </a:rPr>
                          <m:t>𝑠</m:t>
                        </m:r>
                      </m:sub>
                    </m:sSub>
                  </m:oMath>
                </a14:m>
                <a:r>
                  <a:rPr lang="en-US" altLang="ko-KR" dirty="0"/>
                  <a:t>), a circumcircle is constructed, as shown in the bottom-middle figure. C₁ and C₂ represent the centers of the circumcircles formed by the Sun, the spacecraft, and Planet 1 and Planet 2, respectively. The radii of these circumcircles, R₁ and R₂, are calculated using the Law of Sines. The angles </a:t>
                </a:r>
                <a14:m>
                  <m:oMath xmlns:m="http://schemas.openxmlformats.org/officeDocument/2006/math">
                    <m:r>
                      <a:rPr lang="en-US" altLang="ko-KR" b="0" i="1" smtClean="0">
                        <a:latin typeface="Cambria Math" panose="02040503050406030204" pitchFamily="18" charset="0"/>
                      </a:rPr>
                      <m:t>𝛾</m:t>
                    </m:r>
                  </m:oMath>
                </a14:m>
                <a:r>
                  <a:rPr lang="en-US" altLang="ko-KR" dirty="0"/>
                  <a:t> (Planet–Sun–C₁) and </a:t>
                </a:r>
                <a14:m>
                  <m:oMath xmlns:m="http://schemas.openxmlformats.org/officeDocument/2006/math">
                    <m:r>
                      <a:rPr lang="en-US" altLang="ko-KR" b="0" i="1" smtClean="0">
                        <a:latin typeface="Cambria Math" panose="02040503050406030204" pitchFamily="18" charset="0"/>
                      </a:rPr>
                      <m:t>𝜙</m:t>
                    </m:r>
                  </m:oMath>
                </a14:m>
                <a:r>
                  <a:rPr lang="en-US" altLang="ko-KR" dirty="0"/>
                  <a:t> (C₁–Sun–S/C) can be determined through simple trigonometric relationships. For further analysis, spherical geometry is introduced, as illustrated in the bottom-right figure. The angle between the spacecraft, the Sun, and a planet (S/C–Sun–Planet) is denoted by </a:t>
                </a:r>
                <a14:m>
                  <m:oMath xmlns:m="http://schemas.openxmlformats.org/officeDocument/2006/math">
                    <m:r>
                      <a:rPr lang="en-US" altLang="ko-KR" b="0" i="1" smtClean="0">
                        <a:latin typeface="Cambria Math" panose="02040503050406030204" pitchFamily="18" charset="0"/>
                      </a:rPr>
                      <m:t>𝛿</m:t>
                    </m:r>
                  </m:oMath>
                </a14:m>
                <a:r>
                  <a:rPr lang="en-US" altLang="ko-KR" dirty="0"/>
                  <a:t>, and it is defined as:</a:t>
                </a:r>
                <a14:m>
                  <m:oMath xmlns:m="http://schemas.openxmlformats.org/officeDocument/2006/math">
                    <m:r>
                      <a:rPr lang="en-US" altLang="ko-KR" sz="2400" b="0" i="0" smtClean="0">
                        <a:latin typeface="Cambria Math" panose="02040503050406030204" pitchFamily="18" charset="0"/>
                      </a:rPr>
                      <m:t> </m:t>
                    </m:r>
                    <m:r>
                      <a:rPr lang="en-US" altLang="ko-KR" sz="2400" b="0" i="1" smtClean="0">
                        <a:latin typeface="Cambria Math" panose="02040503050406030204" pitchFamily="18" charset="0"/>
                      </a:rPr>
                      <m:t>𝛿</m:t>
                    </m:r>
                    <m:r>
                      <a:rPr lang="en-US" altLang="ko-KR" sz="2400" b="0" i="1" smtClean="0">
                        <a:latin typeface="Cambria Math" panose="02040503050406030204" pitchFamily="18" charset="0"/>
                      </a:rPr>
                      <m:t>=</m:t>
                    </m:r>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𝑠</m:t>
                        </m:r>
                      </m:e>
                      <m:sub>
                        <m:r>
                          <a:rPr lang="en-US" altLang="ko-KR" sz="2400" b="0" i="1" smtClean="0">
                            <a:latin typeface="Cambria Math" panose="02040503050406030204" pitchFamily="18" charset="0"/>
                          </a:rPr>
                          <m:t>𝜙</m:t>
                        </m:r>
                      </m:sub>
                    </m:sSub>
                    <m:r>
                      <a:rPr lang="en-US" altLang="ko-KR" sz="2400" b="0" i="1" smtClean="0">
                        <a:latin typeface="Cambria Math" panose="02040503050406030204" pitchFamily="18" charset="0"/>
                      </a:rPr>
                      <m:t>𝜙</m:t>
                    </m:r>
                    <m:r>
                      <a:rPr lang="en-US" altLang="ko-KR" sz="2400" b="0" i="1" smtClean="0">
                        <a:latin typeface="Cambria Math" panose="02040503050406030204" pitchFamily="18" charset="0"/>
                      </a:rPr>
                      <m:t>+</m:t>
                    </m:r>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𝑠</m:t>
                        </m:r>
                      </m:e>
                      <m:sub>
                        <m:r>
                          <a:rPr lang="en-US" altLang="ko-KR" sz="2400" b="0" i="1" smtClean="0">
                            <a:latin typeface="Cambria Math" panose="02040503050406030204" pitchFamily="18" charset="0"/>
                          </a:rPr>
                          <m:t>𝛾</m:t>
                        </m:r>
                      </m:sub>
                    </m:sSub>
                    <m:r>
                      <a:rPr lang="en-US" altLang="ko-KR" sz="2400" b="0" i="1" smtClean="0">
                        <a:latin typeface="Cambria Math" panose="02040503050406030204" pitchFamily="18" charset="0"/>
                      </a:rPr>
                      <m:t>𝛾</m:t>
                    </m:r>
                  </m:oMath>
                </a14:m>
                <a:r>
                  <a:rPr lang="en-US" altLang="ko-KR" sz="2400" dirty="0"/>
                  <a:t>, where </a:t>
                </a:r>
                <a14:m>
                  <m:oMath xmlns:m="http://schemas.openxmlformats.org/officeDocument/2006/math">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𝑠</m:t>
                        </m:r>
                      </m:e>
                      <m:sub>
                        <m:r>
                          <a:rPr lang="en-US" altLang="ko-KR" sz="2400" b="0" i="1" smtClean="0">
                            <a:latin typeface="Cambria Math" panose="02040503050406030204" pitchFamily="18" charset="0"/>
                          </a:rPr>
                          <m:t>𝜙</m:t>
                        </m:r>
                      </m:sub>
                    </m:sSub>
                  </m:oMath>
                </a14:m>
                <a:r>
                  <a:rPr lang="en-US" altLang="ko-KR" sz="2400" dirty="0"/>
                  <a:t> and </a:t>
                </a:r>
                <a14:m>
                  <m:oMath xmlns:m="http://schemas.openxmlformats.org/officeDocument/2006/math">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𝑠</m:t>
                        </m:r>
                      </m:e>
                      <m:sub>
                        <m:r>
                          <a:rPr lang="en-US" altLang="ko-KR" sz="2400" b="0" i="1" smtClean="0">
                            <a:latin typeface="Cambria Math" panose="02040503050406030204" pitchFamily="18" charset="0"/>
                          </a:rPr>
                          <m:t>𝛾</m:t>
                        </m:r>
                      </m:sub>
                    </m:sSub>
                  </m:oMath>
                </a14:m>
                <a:r>
                  <a:rPr lang="en-US" altLang="ko-KR" sz="2400" dirty="0"/>
                  <a:t> are the sign of </a:t>
                </a:r>
                <a14:m>
                  <m:oMath xmlns:m="http://schemas.openxmlformats.org/officeDocument/2006/math">
                    <m:r>
                      <a:rPr lang="en-US" altLang="ko-KR" sz="2400" b="0" i="1" smtClean="0">
                        <a:latin typeface="Cambria Math" panose="02040503050406030204" pitchFamily="18" charset="0"/>
                      </a:rPr>
                      <m:t>𝜙</m:t>
                    </m:r>
                  </m:oMath>
                </a14:m>
                <a:r>
                  <a:rPr lang="en-US" altLang="ko-KR" sz="2400" dirty="0"/>
                  <a:t> and </a:t>
                </a:r>
                <a14:m>
                  <m:oMath xmlns:m="http://schemas.openxmlformats.org/officeDocument/2006/math">
                    <m:r>
                      <a:rPr lang="en-US" altLang="ko-KR" sz="2400" b="0" i="1" smtClean="0">
                        <a:latin typeface="Cambria Math" panose="02040503050406030204" pitchFamily="18" charset="0"/>
                      </a:rPr>
                      <m:t>𝛾</m:t>
                    </m:r>
                  </m:oMath>
                </a14:m>
                <a:r>
                  <a:rPr lang="en-US" altLang="ko-KR" sz="2400" dirty="0"/>
                  <a:t>, respectively, capturing the inherent sign ambiguities.</a:t>
                </a:r>
                <a:r>
                  <a:rPr lang="en-US" altLang="ko-KR" dirty="0"/>
                  <a:t> Within this unit sphere framework, the spherical law of cosines can be applied. Because the only unknown in the previous equation is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𝑦</m:t>
                        </m:r>
                      </m:e>
                      <m:sub>
                        <m:r>
                          <a:rPr lang="en-US" altLang="ko-KR" i="1">
                            <a:latin typeface="Cambria Math" panose="02040503050406030204" pitchFamily="18" charset="0"/>
                          </a:rPr>
                          <m:t>𝑠</m:t>
                        </m:r>
                      </m:sub>
                    </m:sSub>
                  </m:oMath>
                </a14:m>
                <a:r>
                  <a:rPr lang="en-US" altLang="ko-KR" dirty="0"/>
                  <a:t>, it can be computed by solving the root-finding problem. Since </a:t>
                </a:r>
                <a14:m>
                  <m:oMath xmlns:m="http://schemas.openxmlformats.org/officeDocument/2006/math">
                    <m:r>
                      <a:rPr lang="en-US" altLang="ko-KR" i="1">
                        <a:latin typeface="Cambria Math" panose="02040503050406030204" pitchFamily="18" charset="0"/>
                      </a:rPr>
                      <m:t>𝛿</m:t>
                    </m:r>
                  </m:oMath>
                </a14:m>
                <a:r>
                  <a:rPr lang="en-US" altLang="ko-KR" dirty="0"/>
                  <a:t> depends on sign-ambiguous angles, up to nine possible solutions may arise.</a:t>
                </a:r>
              </a:p>
            </p:txBody>
          </p:sp>
        </mc:Choice>
        <mc:Fallback xmlns="">
          <p:sp>
            <p:nvSpPr>
              <p:cNvPr id="2066" name="Text Box 18">
                <a:extLst>
                  <a:ext uri="{FF2B5EF4-FFF2-40B4-BE49-F238E27FC236}">
                    <a16:creationId xmlns:a16="http://schemas.microsoft.com/office/drawing/2014/main" id="{B1D26339-86D6-03AD-CCCE-4BBE56DE75B3}"/>
                  </a:ext>
                </a:extLst>
              </p:cNvPr>
              <p:cNvSpPr txBox="1">
                <a:spLocks noRot="1" noChangeAspect="1" noMove="1" noResize="1" noEditPoints="1" noAdjustHandles="1" noChangeArrowheads="1" noChangeShapeType="1" noTextEdit="1"/>
              </p:cNvSpPr>
              <p:nvPr/>
            </p:nvSpPr>
            <p:spPr bwMode="auto">
              <a:xfrm>
                <a:off x="1558925" y="7389910"/>
                <a:ext cx="13441680" cy="16806717"/>
              </a:xfrm>
              <a:prstGeom prst="rect">
                <a:avLst/>
              </a:prstGeom>
              <a:blipFill>
                <a:blip r:embed="rId4"/>
                <a:stretch>
                  <a:fillRect l="-1633" t="-653" r="-1315"/>
                </a:stretch>
              </a:blipFill>
              <a:ln w="9525">
                <a:noFill/>
                <a:miter lim="800000"/>
                <a:headEnd/>
                <a:tailEnd/>
              </a:ln>
              <a:effectLst/>
            </p:spPr>
            <p:txBody>
              <a:bodyPr/>
              <a:lstStyle/>
              <a:p>
                <a:r>
                  <a:rPr lang="ko-KR" altLang="en-US">
                    <a:noFill/>
                  </a:rPr>
                  <a:t> </a:t>
                </a:r>
              </a:p>
            </p:txBody>
          </p:sp>
        </mc:Fallback>
      </mc:AlternateContent>
      <p:sp>
        <p:nvSpPr>
          <p:cNvPr id="2" name="Text Box 11">
            <a:extLst>
              <a:ext uri="{FF2B5EF4-FFF2-40B4-BE49-F238E27FC236}">
                <a16:creationId xmlns:a16="http://schemas.microsoft.com/office/drawing/2014/main" id="{F100FBA3-DD7D-2E06-0049-5067E9E2C8B2}"/>
              </a:ext>
            </a:extLst>
          </p:cNvPr>
          <p:cNvSpPr txBox="1">
            <a:spLocks noChangeArrowheads="1"/>
          </p:cNvSpPr>
          <p:nvPr/>
        </p:nvSpPr>
        <p:spPr bwMode="auto">
          <a:xfrm>
            <a:off x="1524000" y="1935163"/>
            <a:ext cx="16975545" cy="1200329"/>
          </a:xfrm>
          <a:prstGeom prst="rect">
            <a:avLst/>
          </a:prstGeom>
          <a:noFill/>
          <a:ln w="9525">
            <a:noFill/>
            <a:miter lim="800000"/>
            <a:headEnd/>
            <a:tailEnd/>
          </a:ln>
          <a:effectLst/>
        </p:spPr>
        <p:txBody>
          <a:bodyPr wrap="none">
            <a:spAutoFit/>
          </a:bodyPr>
          <a:lstStyle/>
          <a:p>
            <a:pPr algn="l"/>
            <a:r>
              <a:rPr lang="en-US" sz="7200" b="1" dirty="0">
                <a:solidFill>
                  <a:srgbClr val="FFFFFF"/>
                </a:solidFill>
                <a:latin typeface="Arial" charset="0"/>
              </a:rPr>
              <a:t>Department of Aerospace Engineering</a:t>
            </a:r>
          </a:p>
        </p:txBody>
      </p:sp>
      <p:sp>
        <p:nvSpPr>
          <p:cNvPr id="3" name="Text Box 12">
            <a:extLst>
              <a:ext uri="{FF2B5EF4-FFF2-40B4-BE49-F238E27FC236}">
                <a16:creationId xmlns:a16="http://schemas.microsoft.com/office/drawing/2014/main" id="{2A709EF7-5ADC-F654-8A93-BB073AB36A99}"/>
              </a:ext>
            </a:extLst>
          </p:cNvPr>
          <p:cNvSpPr txBox="1">
            <a:spLocks noChangeArrowheads="1"/>
          </p:cNvSpPr>
          <p:nvPr/>
        </p:nvSpPr>
        <p:spPr bwMode="auto">
          <a:xfrm>
            <a:off x="23241000" y="1660525"/>
            <a:ext cx="19202400" cy="1324786"/>
          </a:xfrm>
          <a:prstGeom prst="rect">
            <a:avLst/>
          </a:prstGeom>
          <a:noFill/>
          <a:ln w="9525">
            <a:noFill/>
            <a:miter lim="800000"/>
            <a:headEnd/>
            <a:tailEnd/>
          </a:ln>
          <a:effectLst/>
        </p:spPr>
        <p:txBody>
          <a:bodyPr>
            <a:spAutoFit/>
          </a:bodyPr>
          <a:lstStyle/>
          <a:p>
            <a:pPr marL="228600" lvl="2">
              <a:lnSpc>
                <a:spcPct val="75000"/>
              </a:lnSpc>
              <a:spcBef>
                <a:spcPct val="50000"/>
              </a:spcBef>
            </a:pPr>
            <a:r>
              <a:rPr lang="en-US" sz="4000" dirty="0">
                <a:solidFill>
                  <a:schemeClr val="bg1"/>
                </a:solidFill>
                <a:latin typeface="Arial" charset="0"/>
              </a:rPr>
              <a:t>Iowa Space Grant Consortium Student Research Symposium</a:t>
            </a:r>
          </a:p>
          <a:p>
            <a:pPr marL="228600" lvl="2">
              <a:lnSpc>
                <a:spcPct val="75000"/>
              </a:lnSpc>
              <a:spcBef>
                <a:spcPct val="50000"/>
              </a:spcBef>
            </a:pPr>
            <a:r>
              <a:rPr lang="en-US" sz="4000" dirty="0">
                <a:solidFill>
                  <a:schemeClr val="bg1"/>
                </a:solidFill>
                <a:latin typeface="Arial" charset="0"/>
              </a:rPr>
              <a:t>April 15, 2025</a:t>
            </a:r>
          </a:p>
        </p:txBody>
      </p:sp>
      <p:sp>
        <p:nvSpPr>
          <p:cNvPr id="4" name="Text Box 13">
            <a:extLst>
              <a:ext uri="{FF2B5EF4-FFF2-40B4-BE49-F238E27FC236}">
                <a16:creationId xmlns:a16="http://schemas.microsoft.com/office/drawing/2014/main" id="{363E762C-9F1B-F9DF-9C1D-1183DB4D6EAD}"/>
              </a:ext>
            </a:extLst>
          </p:cNvPr>
          <p:cNvSpPr txBox="1">
            <a:spLocks noChangeArrowheads="1"/>
          </p:cNvSpPr>
          <p:nvPr/>
        </p:nvSpPr>
        <p:spPr bwMode="auto">
          <a:xfrm>
            <a:off x="1600200" y="3810000"/>
            <a:ext cx="42291000" cy="1015663"/>
          </a:xfrm>
          <a:prstGeom prst="rect">
            <a:avLst/>
          </a:prstGeom>
          <a:noFill/>
          <a:ln w="9525">
            <a:noFill/>
            <a:miter lim="800000"/>
            <a:headEnd/>
            <a:tailEnd/>
          </a:ln>
          <a:effectLst/>
        </p:spPr>
        <p:txBody>
          <a:bodyPr wrap="square">
            <a:spAutoFit/>
          </a:bodyPr>
          <a:lstStyle/>
          <a:p>
            <a:pPr algn="l">
              <a:spcBef>
                <a:spcPct val="50000"/>
              </a:spcBef>
            </a:pPr>
            <a:r>
              <a:rPr lang="en-US" sz="6000" dirty="0">
                <a:solidFill>
                  <a:srgbClr val="524727"/>
                </a:solidFill>
                <a:latin typeface="Arial" charset="0"/>
              </a:rPr>
              <a:t>Sungmoon Choi, </a:t>
            </a:r>
            <a:r>
              <a:rPr kumimoji="0" lang="en-US" sz="4000" b="0" i="0" u="none" strike="noStrike" kern="1200" cap="none" spc="0" normalizeH="0" baseline="0" noProof="0" dirty="0">
                <a:ln>
                  <a:noFill/>
                </a:ln>
                <a:solidFill>
                  <a:srgbClr val="524727"/>
                </a:solidFill>
                <a:effectLst/>
                <a:uLnTx/>
                <a:uFillTx/>
                <a:latin typeface="Arial" charset="0"/>
                <a:ea typeface="+mn-ea"/>
                <a:cs typeface="+mn-cs"/>
              </a:rPr>
              <a:t>Ph.D. Candidate</a:t>
            </a:r>
            <a:r>
              <a:rPr lang="en-US" sz="6000" dirty="0">
                <a:solidFill>
                  <a:srgbClr val="524727"/>
                </a:solidFill>
                <a:latin typeface="Arial" charset="0"/>
              </a:rPr>
              <a:t>						  		   		   Faculty Advisor: Ossama </a:t>
            </a:r>
            <a:r>
              <a:rPr lang="en-US" sz="6000" dirty="0" err="1">
                <a:solidFill>
                  <a:srgbClr val="524727"/>
                </a:solidFill>
                <a:latin typeface="Arial" charset="0"/>
              </a:rPr>
              <a:t>Abdelkhalik</a:t>
            </a:r>
            <a:r>
              <a:rPr lang="en-US" sz="6000" dirty="0">
                <a:solidFill>
                  <a:srgbClr val="524727"/>
                </a:solidFill>
                <a:latin typeface="Arial" charset="0"/>
              </a:rPr>
              <a:t>, </a:t>
            </a:r>
            <a:r>
              <a:rPr lang="en-US" sz="4000" dirty="0">
                <a:solidFill>
                  <a:srgbClr val="524727"/>
                </a:solidFill>
                <a:latin typeface="Arial" charset="0"/>
              </a:rPr>
              <a:t>Professor, Vance D. Coffman Faculty Chair</a:t>
            </a:r>
          </a:p>
        </p:txBody>
      </p:sp>
      <p:pic>
        <p:nvPicPr>
          <p:cNvPr id="5" name="Picture 4" descr="A logo of a space program&#10;&#10;Description automatically generated">
            <a:extLst>
              <a:ext uri="{FF2B5EF4-FFF2-40B4-BE49-F238E27FC236}">
                <a16:creationId xmlns:a16="http://schemas.microsoft.com/office/drawing/2014/main" id="{F649D23C-F000-2598-197A-F5A792E4C8D4}"/>
              </a:ext>
            </a:extLst>
          </p:cNvPr>
          <p:cNvPicPr>
            <a:picLocks noChangeAspect="1"/>
          </p:cNvPicPr>
          <p:nvPr/>
        </p:nvPicPr>
        <p:blipFill>
          <a:blip r:embed="rId5"/>
          <a:stretch>
            <a:fillRect/>
          </a:stretch>
        </p:blipFill>
        <p:spPr>
          <a:xfrm>
            <a:off x="25283292" y="294669"/>
            <a:ext cx="2611569" cy="3058131"/>
          </a:xfrm>
          <a:prstGeom prst="rect">
            <a:avLst/>
          </a:prstGeom>
        </p:spPr>
      </p:pic>
      <p:sp>
        <p:nvSpPr>
          <p:cNvPr id="6" name="Text Box 14">
            <a:extLst>
              <a:ext uri="{FF2B5EF4-FFF2-40B4-BE49-F238E27FC236}">
                <a16:creationId xmlns:a16="http://schemas.microsoft.com/office/drawing/2014/main" id="{78AF7B27-8242-1C21-EB72-2CE914E70CCD}"/>
              </a:ext>
            </a:extLst>
          </p:cNvPr>
          <p:cNvSpPr txBox="1">
            <a:spLocks noChangeArrowheads="1"/>
          </p:cNvSpPr>
          <p:nvPr/>
        </p:nvSpPr>
        <p:spPr bwMode="auto">
          <a:xfrm>
            <a:off x="1524000" y="32004000"/>
            <a:ext cx="22098000" cy="461665"/>
          </a:xfrm>
          <a:prstGeom prst="rect">
            <a:avLst/>
          </a:prstGeom>
          <a:noFill/>
          <a:ln w="9525">
            <a:noFill/>
            <a:miter lim="800000"/>
            <a:headEnd/>
            <a:tailEnd/>
          </a:ln>
          <a:effectLst/>
        </p:spPr>
        <p:txBody>
          <a:bodyPr wrap="square">
            <a:spAutoFit/>
          </a:bodyPr>
          <a:lstStyle/>
          <a:p>
            <a:pPr algn="l"/>
            <a:r>
              <a:rPr lang="en-US" sz="2400" b="1" dirty="0">
                <a:solidFill>
                  <a:schemeClr val="bg1"/>
                </a:solidFill>
                <a:latin typeface="Arial" panose="020B0604020202020204" pitchFamily="34" charset="0"/>
              </a:rPr>
              <a:t> This project/material is based upon work supported by NASA Award No. </a:t>
            </a:r>
            <a:r>
              <a:rPr lang="en-US" sz="2400" b="1">
                <a:solidFill>
                  <a:schemeClr val="bg1"/>
                </a:solidFill>
                <a:latin typeface="Arial" panose="020B0604020202020204" pitchFamily="34" charset="0"/>
              </a:rPr>
              <a:t>80NSSC24M0110</a:t>
            </a:r>
            <a:endParaRPr lang="en-US" sz="2400" b="1" dirty="0">
              <a:solidFill>
                <a:schemeClr val="bg1"/>
              </a:solidFill>
            </a:endParaRPr>
          </a:p>
        </p:txBody>
      </p:sp>
      <mc:AlternateContent xmlns:mc="http://schemas.openxmlformats.org/markup-compatibility/2006" xmlns:a14="http://schemas.microsoft.com/office/drawing/2010/main">
        <mc:Choice Requires="a14">
          <p:sp>
            <p:nvSpPr>
              <p:cNvPr id="41" name="Text Box 18">
                <a:extLst>
                  <a:ext uri="{FF2B5EF4-FFF2-40B4-BE49-F238E27FC236}">
                    <a16:creationId xmlns:a16="http://schemas.microsoft.com/office/drawing/2014/main" id="{ED981294-41DB-59BF-0214-0A39A4BB753F}"/>
                  </a:ext>
                </a:extLst>
              </p:cNvPr>
              <p:cNvSpPr txBox="1">
                <a:spLocks noChangeArrowheads="1"/>
              </p:cNvSpPr>
              <p:nvPr/>
            </p:nvSpPr>
            <p:spPr bwMode="auto">
              <a:xfrm>
                <a:off x="29363038" y="7389910"/>
                <a:ext cx="6100305" cy="7676973"/>
              </a:xfrm>
              <a:prstGeom prst="rect">
                <a:avLst/>
              </a:prstGeom>
              <a:noFill/>
              <a:ln w="9525">
                <a:noFill/>
                <a:miter lim="800000"/>
                <a:headEnd/>
                <a:tailEnd/>
              </a:ln>
              <a:effectLst/>
            </p:spPr>
            <p:txBody>
              <a:bodyPr wrap="square">
                <a:spAutoFit/>
              </a:bodyPr>
              <a:lstStyle/>
              <a:p>
                <a:pPr algn="l">
                  <a:spcBef>
                    <a:spcPct val="50000"/>
                  </a:spcBef>
                </a:pPr>
                <a:r>
                  <a:rPr lang="en-US" sz="4000" b="1" i="1" dirty="0"/>
                  <a:t>Sign Ambiguity: </a:t>
                </a:r>
                <a14:m>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𝒔</m:t>
                        </m:r>
                      </m:e>
                      <m:sub>
                        <m:r>
                          <a:rPr lang="en-US" sz="4000" b="1" i="1" smtClean="0">
                            <a:latin typeface="Cambria Math" panose="02040503050406030204" pitchFamily="18" charset="0"/>
                          </a:rPr>
                          <m:t>𝝓</m:t>
                        </m:r>
                      </m:sub>
                    </m:sSub>
                  </m:oMath>
                </a14:m>
                <a:endParaRPr lang="en-US" sz="4000" b="1" i="1" dirty="0"/>
              </a:p>
              <a:p>
                <a:pPr indent="457200" algn="l">
                  <a:spcBef>
                    <a:spcPct val="50000"/>
                  </a:spcBef>
                </a:pPr>
                <a:r>
                  <a:rPr lang="en-US" dirty="0"/>
                  <a:t>The second sign ambiguity, associated with </a:t>
                </a:r>
                <a14:m>
                  <m:oMath xmlns:m="http://schemas.openxmlformats.org/officeDocument/2006/math">
                    <m:r>
                      <a:rPr lang="en-US" b="0" i="1" smtClean="0">
                        <a:latin typeface="Cambria Math" panose="02040503050406030204" pitchFamily="18" charset="0"/>
                      </a:rPr>
                      <m:t>𝜙</m:t>
                    </m:r>
                  </m:oMath>
                </a14:m>
                <a:r>
                  <a:rPr lang="en-US" dirty="0"/>
                  <a:t>. This ambiguity arises from the geometric configuration relative to each planet, as illustrated in the figure on the right. In this setup, the Sun (orange) is positioned at the origin, and Planet 1 (P1), marked in red, lies on the X-axis, 1 AU from the Sun. S/C is located on the blue and green circles, corresponding to a distance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𝑠</m:t>
                        </m:r>
                      </m:sub>
                    </m:sSub>
                  </m:oMath>
                </a14:m>
                <a:r>
                  <a:rPr lang="en-US" dirty="0"/>
                  <a:t> = 1.0816 AU, referred to as </a:t>
                </a:r>
                <a:r>
                  <a:rPr lang="en-US" i="1" dirty="0"/>
                  <a:t>Case a </a:t>
                </a:r>
                <a:r>
                  <a:rPr lang="en-US" dirty="0"/>
                  <a:t>and</a:t>
                </a:r>
                <a:r>
                  <a:rPr lang="en-US" i="1" dirty="0"/>
                  <a:t> Case b</a:t>
                </a:r>
                <a:r>
                  <a:rPr lang="en-US" dirty="0"/>
                  <a:t>. In </a:t>
                </a:r>
                <a:r>
                  <a:rPr lang="en-US" altLang="ko-KR" dirty="0"/>
                  <a:t>this configuration, the measured angles </a:t>
                </a:r>
                <a14:m>
                  <m:oMath xmlns:m="http://schemas.openxmlformats.org/officeDocument/2006/math">
                    <m:sSup>
                      <m:sSupPr>
                        <m:ctrlPr>
                          <a:rPr lang="en-US" altLang="ko-KR" i="1">
                            <a:latin typeface="Cambria Math" panose="02040503050406030204" pitchFamily="18" charset="0"/>
                          </a:rPr>
                        </m:ctrlPr>
                      </m:sSupPr>
                      <m:e>
                        <m:r>
                          <a:rPr lang="en-US" altLang="ko-KR" i="1">
                            <a:latin typeface="Cambria Math" panose="02040503050406030204" pitchFamily="18" charset="0"/>
                          </a:rPr>
                          <m:t>𝛼</m:t>
                        </m:r>
                      </m:e>
                      <m:sup>
                        <m:r>
                          <a:rPr lang="en-US" altLang="ko-KR" i="1">
                            <a:latin typeface="Cambria Math" panose="02040503050406030204" pitchFamily="18" charset="0"/>
                          </a:rPr>
                          <m:t>𝑎</m:t>
                        </m:r>
                      </m:sup>
                    </m:sSup>
                  </m:oMath>
                </a14:m>
                <a:r>
                  <a:rPr lang="en-US" altLang="ko-KR" dirty="0"/>
                  <a:t> and </a:t>
                </a:r>
                <a14:m>
                  <m:oMath xmlns:m="http://schemas.openxmlformats.org/officeDocument/2006/math">
                    <m:sSup>
                      <m:sSupPr>
                        <m:ctrlPr>
                          <a:rPr lang="en-US" altLang="ko-KR" i="1">
                            <a:latin typeface="Cambria Math" panose="02040503050406030204" pitchFamily="18" charset="0"/>
                          </a:rPr>
                        </m:ctrlPr>
                      </m:sSupPr>
                      <m:e>
                        <m:r>
                          <a:rPr lang="en-US" altLang="ko-KR" i="1">
                            <a:latin typeface="Cambria Math" panose="02040503050406030204" pitchFamily="18" charset="0"/>
                          </a:rPr>
                          <m:t>𝛼</m:t>
                        </m:r>
                      </m:e>
                      <m:sup>
                        <m:r>
                          <a:rPr lang="en-US" altLang="ko-KR" i="1">
                            <a:latin typeface="Cambria Math" panose="02040503050406030204" pitchFamily="18" charset="0"/>
                          </a:rPr>
                          <m:t>𝑏</m:t>
                        </m:r>
                      </m:sup>
                    </m:sSup>
                  </m:oMath>
                </a14:m>
                <a:r>
                  <a:rPr lang="en-US" altLang="ko-KR" dirty="0"/>
                  <a:t> are identical, as they subtend the same arc between the Sun and Planet 1 on the circumcircle. However, the angles </a:t>
                </a:r>
                <a14:m>
                  <m:oMath xmlns:m="http://schemas.openxmlformats.org/officeDocument/2006/math">
                    <m:sSup>
                      <m:sSupPr>
                        <m:ctrlPr>
                          <a:rPr lang="en-US" altLang="ko-KR" i="1">
                            <a:latin typeface="Cambria Math" panose="02040503050406030204" pitchFamily="18" charset="0"/>
                          </a:rPr>
                        </m:ctrlPr>
                      </m:sSupPr>
                      <m:e>
                        <m:r>
                          <a:rPr lang="en-US" altLang="ko-KR" i="1">
                            <a:latin typeface="Cambria Math" panose="02040503050406030204" pitchFamily="18" charset="0"/>
                          </a:rPr>
                          <m:t>𝜙</m:t>
                        </m:r>
                      </m:e>
                      <m:sup>
                        <m:r>
                          <a:rPr lang="en-US" altLang="ko-KR" i="1">
                            <a:latin typeface="Cambria Math" panose="02040503050406030204" pitchFamily="18" charset="0"/>
                          </a:rPr>
                          <m:t>𝑎</m:t>
                        </m:r>
                      </m:sup>
                    </m:sSup>
                  </m:oMath>
                </a14:m>
                <a:r>
                  <a:rPr lang="en-US" altLang="ko-KR" dirty="0"/>
                  <a:t> and </a:t>
                </a:r>
                <a14:m>
                  <m:oMath xmlns:m="http://schemas.openxmlformats.org/officeDocument/2006/math">
                    <m:sSup>
                      <m:sSupPr>
                        <m:ctrlPr>
                          <a:rPr lang="en-US" altLang="ko-KR" i="1">
                            <a:latin typeface="Cambria Math" panose="02040503050406030204" pitchFamily="18" charset="0"/>
                          </a:rPr>
                        </m:ctrlPr>
                      </m:sSupPr>
                      <m:e>
                        <m:r>
                          <a:rPr lang="en-US" altLang="ko-KR" i="1">
                            <a:latin typeface="Cambria Math" panose="02040503050406030204" pitchFamily="18" charset="0"/>
                          </a:rPr>
                          <m:t>𝜙</m:t>
                        </m:r>
                      </m:e>
                      <m:sup>
                        <m:r>
                          <a:rPr lang="en-US" altLang="ko-KR" i="1">
                            <a:latin typeface="Cambria Math" panose="02040503050406030204" pitchFamily="18" charset="0"/>
                          </a:rPr>
                          <m:t>𝑏</m:t>
                        </m:r>
                      </m:sup>
                    </m:sSup>
                  </m:oMath>
                </a14:m>
                <a:r>
                  <a:rPr lang="en-US" altLang="ko-KR" dirty="0"/>
                  <a:t>, shown in blue and green respectively, differ only in sign. That is, the difference lies in the sign of </a:t>
                </a:r>
                <a14:m>
                  <m:oMath xmlns:m="http://schemas.openxmlformats.org/officeDocument/2006/math">
                    <m:r>
                      <a:rPr lang="en-US" altLang="ko-KR" i="1">
                        <a:latin typeface="Cambria Math" panose="02040503050406030204" pitchFamily="18" charset="0"/>
                      </a:rPr>
                      <m:t>𝜙</m:t>
                    </m:r>
                  </m:oMath>
                </a14:m>
                <a:r>
                  <a:rPr lang="en-US" altLang="ko-KR" dirty="0"/>
                  <a:t>, denoted by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𝑠</m:t>
                        </m:r>
                      </m:e>
                      <m:sub>
                        <m:sSup>
                          <m:sSupPr>
                            <m:ctrlPr>
                              <a:rPr lang="en-US" altLang="ko-KR" i="1">
                                <a:latin typeface="Cambria Math" panose="02040503050406030204" pitchFamily="18" charset="0"/>
                              </a:rPr>
                            </m:ctrlPr>
                          </m:sSupPr>
                          <m:e>
                            <m:r>
                              <a:rPr lang="en-US" altLang="ko-KR" i="1">
                                <a:latin typeface="Cambria Math" panose="02040503050406030204" pitchFamily="18" charset="0"/>
                              </a:rPr>
                              <m:t>𝜙</m:t>
                            </m:r>
                          </m:e>
                          <m:sup>
                            <m:r>
                              <a:rPr lang="en-US" altLang="ko-KR" i="1">
                                <a:latin typeface="Cambria Math" panose="02040503050406030204" pitchFamily="18" charset="0"/>
                              </a:rPr>
                              <m:t>𝑎</m:t>
                            </m:r>
                          </m:sup>
                        </m:sSup>
                      </m:sub>
                    </m:sSub>
                  </m:oMath>
                </a14:m>
                <a:r>
                  <a:rPr lang="en-US" altLang="ko-KR" dirty="0"/>
                  <a:t> and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𝑠</m:t>
                        </m:r>
                      </m:e>
                      <m:sub>
                        <m:sSup>
                          <m:sSupPr>
                            <m:ctrlPr>
                              <a:rPr lang="en-US" altLang="ko-KR" i="1">
                                <a:latin typeface="Cambria Math" panose="02040503050406030204" pitchFamily="18" charset="0"/>
                              </a:rPr>
                            </m:ctrlPr>
                          </m:sSupPr>
                          <m:e>
                            <m:r>
                              <a:rPr lang="en-US" altLang="ko-KR" i="1">
                                <a:latin typeface="Cambria Math" panose="02040503050406030204" pitchFamily="18" charset="0"/>
                              </a:rPr>
                              <m:t>𝜙</m:t>
                            </m:r>
                          </m:e>
                          <m:sup>
                            <m:r>
                              <a:rPr lang="en-US" altLang="ko-KR" i="1">
                                <a:latin typeface="Cambria Math" panose="02040503050406030204" pitchFamily="18" charset="0"/>
                              </a:rPr>
                              <m:t>𝑏</m:t>
                            </m:r>
                          </m:sup>
                        </m:sSup>
                      </m:sub>
                    </m:sSub>
                  </m:oMath>
                </a14:m>
                <a:r>
                  <a:rPr lang="en-US" altLang="ko-KR" dirty="0"/>
                  <a:t>. In </a:t>
                </a:r>
                <a:r>
                  <a:rPr lang="en-US" altLang="ko-KR" i="1" dirty="0"/>
                  <a:t>Case a</a:t>
                </a:r>
                <a:r>
                  <a:rPr lang="en-US" altLang="ko-KR" dirty="0"/>
                  <a:t>, the total angle is given by </a:t>
                </a:r>
                <a14:m>
                  <m:oMath xmlns:m="http://schemas.openxmlformats.org/officeDocument/2006/math">
                    <m:r>
                      <a:rPr lang="en-US" altLang="ko-KR" i="1">
                        <a:latin typeface="Cambria Math" panose="02040503050406030204" pitchFamily="18" charset="0"/>
                      </a:rPr>
                      <m:t>𝛿</m:t>
                    </m:r>
                    <m:r>
                      <a:rPr lang="en-US" altLang="ko-KR" i="1">
                        <a:latin typeface="Cambria Math" panose="02040503050406030204" pitchFamily="18" charset="0"/>
                      </a:rPr>
                      <m:t>=</m:t>
                    </m:r>
                    <m:r>
                      <a:rPr lang="en-US" altLang="ko-KR" i="1">
                        <a:latin typeface="Cambria Math" panose="02040503050406030204" pitchFamily="18" charset="0"/>
                      </a:rPr>
                      <m:t>𝛾</m:t>
                    </m:r>
                    <m:r>
                      <a:rPr lang="en-US" altLang="ko-KR" i="1">
                        <a:latin typeface="Cambria Math" panose="02040503050406030204" pitchFamily="18" charset="0"/>
                      </a:rPr>
                      <m:t>+</m:t>
                    </m:r>
                    <m:r>
                      <a:rPr lang="en-US" altLang="ko-KR" i="1">
                        <a:latin typeface="Cambria Math" panose="02040503050406030204" pitchFamily="18" charset="0"/>
                      </a:rPr>
                      <m:t>𝜙</m:t>
                    </m:r>
                  </m:oMath>
                </a14:m>
                <a:r>
                  <a:rPr lang="en-US" altLang="ko-KR" dirty="0"/>
                  <a:t>, while in </a:t>
                </a:r>
                <a:r>
                  <a:rPr lang="en-US" altLang="ko-KR" i="1" dirty="0"/>
                  <a:t>Case b</a:t>
                </a:r>
                <a:r>
                  <a:rPr lang="en-US" altLang="ko-KR" dirty="0"/>
                  <a:t>, it becomes </a:t>
                </a:r>
                <a14:m>
                  <m:oMath xmlns:m="http://schemas.openxmlformats.org/officeDocument/2006/math">
                    <m:r>
                      <a:rPr lang="en-US" altLang="ko-KR" i="1">
                        <a:latin typeface="Cambria Math" panose="02040503050406030204" pitchFamily="18" charset="0"/>
                      </a:rPr>
                      <m:t>𝛿</m:t>
                    </m:r>
                    <m:r>
                      <a:rPr lang="en-US" altLang="ko-KR" i="1">
                        <a:latin typeface="Cambria Math" panose="02040503050406030204" pitchFamily="18" charset="0"/>
                      </a:rPr>
                      <m:t>=</m:t>
                    </m:r>
                    <m:r>
                      <a:rPr lang="en-US" altLang="ko-KR" i="1">
                        <a:latin typeface="Cambria Math" panose="02040503050406030204" pitchFamily="18" charset="0"/>
                      </a:rPr>
                      <m:t>𝛾</m:t>
                    </m:r>
                    <m:r>
                      <a:rPr lang="en-US" altLang="ko-KR" i="1">
                        <a:latin typeface="Cambria Math" panose="02040503050406030204" pitchFamily="18" charset="0"/>
                      </a:rPr>
                      <m:t>−</m:t>
                    </m:r>
                    <m:r>
                      <a:rPr lang="en-US" altLang="ko-KR" i="1">
                        <a:latin typeface="Cambria Math" panose="02040503050406030204" pitchFamily="18" charset="0"/>
                      </a:rPr>
                      <m:t>𝜙</m:t>
                    </m:r>
                  </m:oMath>
                </a14:m>
                <a:r>
                  <a:rPr lang="en-US" altLang="ko-KR" dirty="0"/>
                  <a:t>.</a:t>
                </a:r>
              </a:p>
            </p:txBody>
          </p:sp>
        </mc:Choice>
        <mc:Fallback xmlns="">
          <p:sp>
            <p:nvSpPr>
              <p:cNvPr id="41" name="Text Box 18">
                <a:extLst>
                  <a:ext uri="{FF2B5EF4-FFF2-40B4-BE49-F238E27FC236}">
                    <a16:creationId xmlns:a16="http://schemas.microsoft.com/office/drawing/2014/main" id="{ED981294-41DB-59BF-0214-0A39A4BB753F}"/>
                  </a:ext>
                </a:extLst>
              </p:cNvPr>
              <p:cNvSpPr txBox="1">
                <a:spLocks noRot="1" noChangeAspect="1" noMove="1" noResize="1" noEditPoints="1" noAdjustHandles="1" noChangeArrowheads="1" noChangeShapeType="1" noTextEdit="1"/>
              </p:cNvSpPr>
              <p:nvPr/>
            </p:nvSpPr>
            <p:spPr bwMode="auto">
              <a:xfrm>
                <a:off x="29363038" y="7389910"/>
                <a:ext cx="6100305" cy="7676973"/>
              </a:xfrm>
              <a:prstGeom prst="rect">
                <a:avLst/>
              </a:prstGeom>
              <a:blipFill>
                <a:blip r:embed="rId6"/>
                <a:stretch>
                  <a:fillRect l="-3600" t="-1429" r="-2700" b="-794"/>
                </a:stretch>
              </a:blipFill>
              <a:ln w="9525">
                <a:noFill/>
                <a:miter lim="800000"/>
                <a:headEnd/>
                <a:tailEnd/>
              </a:ln>
              <a:effectLst/>
            </p:spPr>
            <p:txBody>
              <a:bodyPr/>
              <a:lstStyle/>
              <a:p>
                <a:r>
                  <a:rPr lang="ko-KR" altLang="en-US">
                    <a:noFill/>
                  </a:rPr>
                  <a:t> </a:t>
                </a:r>
              </a:p>
            </p:txBody>
          </p:sp>
        </mc:Fallback>
      </mc:AlternateContent>
      <p:pic>
        <p:nvPicPr>
          <p:cNvPr id="2053" name="Picture 2052" descr="A diagram of a graph&#10;&#10;AI-generated content may be incorrect.">
            <a:extLst>
              <a:ext uri="{FF2B5EF4-FFF2-40B4-BE49-F238E27FC236}">
                <a16:creationId xmlns:a16="http://schemas.microsoft.com/office/drawing/2014/main" id="{93CACBB1-1F70-3DDA-1FD2-AC3974B4E2D3}"/>
              </a:ext>
            </a:extLst>
          </p:cNvPr>
          <p:cNvPicPr>
            <a:picLocks noChangeAspect="1"/>
          </p:cNvPicPr>
          <p:nvPr/>
        </p:nvPicPr>
        <p:blipFill>
          <a:blip r:embed="rId7">
            <a:extLst>
              <a:ext uri="{28A0092B-C50C-407E-A947-70E740481C1C}">
                <a14:useLocalDpi xmlns:a14="http://schemas.microsoft.com/office/drawing/2010/main" val="0"/>
              </a:ext>
            </a:extLst>
          </a:blip>
          <a:srcRect l="8783" t="18202" r="10446" b="2641"/>
          <a:stretch/>
        </p:blipFill>
        <p:spPr>
          <a:xfrm>
            <a:off x="11860240" y="25035325"/>
            <a:ext cx="10885460" cy="6400800"/>
          </a:xfrm>
          <a:prstGeom prst="rect">
            <a:avLst/>
          </a:prstGeom>
        </p:spPr>
      </p:pic>
      <mc:AlternateContent xmlns:mc="http://schemas.openxmlformats.org/markup-compatibility/2006" xmlns:a14="http://schemas.microsoft.com/office/drawing/2010/main">
        <mc:Choice Requires="a14">
          <p:sp>
            <p:nvSpPr>
              <p:cNvPr id="2058" name="TextBox 2057">
                <a:extLst>
                  <a:ext uri="{FF2B5EF4-FFF2-40B4-BE49-F238E27FC236}">
                    <a16:creationId xmlns:a16="http://schemas.microsoft.com/office/drawing/2014/main" id="{7D2D3A54-E5CA-56A4-344D-EDD8E701C551}"/>
                  </a:ext>
                </a:extLst>
              </p:cNvPr>
              <p:cNvSpPr txBox="1"/>
              <p:nvPr/>
            </p:nvSpPr>
            <p:spPr>
              <a:xfrm>
                <a:off x="16767811" y="12269757"/>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𝜙</m:t>
                      </m:r>
                    </m:oMath>
                  </m:oMathPara>
                </a14:m>
                <a:endParaRPr lang="ko-KR" altLang="en-US" dirty="0"/>
              </a:p>
            </p:txBody>
          </p:sp>
        </mc:Choice>
        <mc:Fallback xmlns="">
          <p:sp>
            <p:nvSpPr>
              <p:cNvPr id="2058" name="TextBox 2057">
                <a:extLst>
                  <a:ext uri="{FF2B5EF4-FFF2-40B4-BE49-F238E27FC236}">
                    <a16:creationId xmlns:a16="http://schemas.microsoft.com/office/drawing/2014/main" id="{7D2D3A54-E5CA-56A4-344D-EDD8E701C551}"/>
                  </a:ext>
                </a:extLst>
              </p:cNvPr>
              <p:cNvSpPr txBox="1">
                <a:spLocks noRot="1" noChangeAspect="1" noMove="1" noResize="1" noEditPoints="1" noAdjustHandles="1" noChangeArrowheads="1" noChangeShapeType="1" noTextEdit="1"/>
              </p:cNvSpPr>
              <p:nvPr/>
            </p:nvSpPr>
            <p:spPr>
              <a:xfrm>
                <a:off x="16767811" y="12269757"/>
                <a:ext cx="1143000" cy="461665"/>
              </a:xfrm>
              <a:prstGeom prst="rect">
                <a:avLst/>
              </a:prstGeom>
              <a:blipFill>
                <a:blip r:embed="rId8"/>
                <a:stretch>
                  <a:fillRect b="-18667"/>
                </a:stretch>
              </a:blipFill>
            </p:spPr>
            <p:txBody>
              <a:bodyPr/>
              <a:lstStyle/>
              <a:p>
                <a:r>
                  <a:rPr lang="ko-KR" altLang="en-US">
                    <a:noFill/>
                  </a:rPr>
                  <a:t> </a:t>
                </a:r>
              </a:p>
            </p:txBody>
          </p:sp>
        </mc:Fallback>
      </mc:AlternateContent>
      <p:pic>
        <p:nvPicPr>
          <p:cNvPr id="10" name="Picture 9" descr="A circle with a triangle and a circle with a triangle in the center&#10;&#10;AI-generated content may be incorrect.">
            <a:extLst>
              <a:ext uri="{FF2B5EF4-FFF2-40B4-BE49-F238E27FC236}">
                <a16:creationId xmlns:a16="http://schemas.microsoft.com/office/drawing/2014/main" id="{370DA6F7-534E-B0D4-1C82-5EF7B3945E73}"/>
              </a:ext>
            </a:extLst>
          </p:cNvPr>
          <p:cNvPicPr>
            <a:picLocks noChangeAspect="1"/>
          </p:cNvPicPr>
          <p:nvPr/>
        </p:nvPicPr>
        <p:blipFill>
          <a:blip r:embed="rId9">
            <a:extLst>
              <a:ext uri="{28A0092B-C50C-407E-A947-70E740481C1C}">
                <a14:useLocalDpi xmlns:a14="http://schemas.microsoft.com/office/drawing/2010/main" val="0"/>
              </a:ext>
            </a:extLst>
          </a:blip>
          <a:srcRect l="13496" t="14406" r="10646" b="17887"/>
          <a:stretch/>
        </p:blipFill>
        <p:spPr>
          <a:xfrm>
            <a:off x="22551468" y="25031237"/>
            <a:ext cx="6400800" cy="6403448"/>
          </a:xfrm>
          <a:prstGeom prst="rect">
            <a:avLst/>
          </a:prstGeom>
        </p:spPr>
      </p:pic>
      <p:pic>
        <p:nvPicPr>
          <p:cNvPr id="22" name="Picture 21" descr="A graph of a graph of a person&#10;&#10;AI-generated content may be incorrect.">
            <a:extLst>
              <a:ext uri="{FF2B5EF4-FFF2-40B4-BE49-F238E27FC236}">
                <a16:creationId xmlns:a16="http://schemas.microsoft.com/office/drawing/2014/main" id="{2F299D9A-AD64-27E0-9EDB-73A2D58AC7E2}"/>
              </a:ext>
            </a:extLst>
          </p:cNvPr>
          <p:cNvPicPr>
            <a:picLocks noChangeAspect="1"/>
          </p:cNvPicPr>
          <p:nvPr/>
        </p:nvPicPr>
        <p:blipFill>
          <a:blip r:embed="rId10" cstate="print">
            <a:extLst>
              <a:ext uri="{28A0092B-C50C-407E-A947-70E740481C1C}">
                <a14:useLocalDpi xmlns:a14="http://schemas.microsoft.com/office/drawing/2010/main" val="0"/>
              </a:ext>
            </a:extLst>
          </a:blip>
          <a:srcRect l="7248" t="18527" r="8528" b="2213"/>
          <a:stretch/>
        </p:blipFill>
        <p:spPr>
          <a:xfrm>
            <a:off x="295289" y="25033885"/>
            <a:ext cx="11336352" cy="6400800"/>
          </a:xfrm>
          <a:prstGeom prst="rect">
            <a:avLst/>
          </a:prstGeom>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94860FE-7DE4-B99F-8867-2387EBE35D8E}"/>
                  </a:ext>
                </a:extLst>
              </p:cNvPr>
              <p:cNvSpPr txBox="1"/>
              <p:nvPr/>
            </p:nvSpPr>
            <p:spPr>
              <a:xfrm>
                <a:off x="2226897" y="28094752"/>
                <a:ext cx="1143000" cy="55399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3000" b="0" i="1" smtClean="0">
                              <a:latin typeface="Cambria Math" panose="02040503050406030204" pitchFamily="18" charset="0"/>
                            </a:rPr>
                          </m:ctrlPr>
                        </m:sSubPr>
                        <m:e>
                          <m:r>
                            <a:rPr lang="en-US" altLang="ko-KR" sz="3000" b="0" i="1" smtClean="0">
                              <a:latin typeface="Cambria Math" panose="02040503050406030204" pitchFamily="18" charset="0"/>
                            </a:rPr>
                            <m:t>𝑦</m:t>
                          </m:r>
                        </m:e>
                        <m:sub>
                          <m:r>
                            <a:rPr lang="en-US" altLang="ko-KR" sz="3000" b="0" i="1" smtClean="0">
                              <a:latin typeface="Cambria Math" panose="02040503050406030204" pitchFamily="18" charset="0"/>
                            </a:rPr>
                            <m:t>1</m:t>
                          </m:r>
                        </m:sub>
                      </m:sSub>
                    </m:oMath>
                  </m:oMathPara>
                </a14:m>
                <a:endParaRPr lang="ko-KR" altLang="en-US" sz="3000" dirty="0"/>
              </a:p>
            </p:txBody>
          </p:sp>
        </mc:Choice>
        <mc:Fallback xmlns="">
          <p:sp>
            <p:nvSpPr>
              <p:cNvPr id="23" name="TextBox 22">
                <a:extLst>
                  <a:ext uri="{FF2B5EF4-FFF2-40B4-BE49-F238E27FC236}">
                    <a16:creationId xmlns:a16="http://schemas.microsoft.com/office/drawing/2014/main" id="{F94860FE-7DE4-B99F-8867-2387EBE35D8E}"/>
                  </a:ext>
                </a:extLst>
              </p:cNvPr>
              <p:cNvSpPr txBox="1">
                <a:spLocks noRot="1" noChangeAspect="1" noMove="1" noResize="1" noEditPoints="1" noAdjustHandles="1" noChangeArrowheads="1" noChangeShapeType="1" noTextEdit="1"/>
              </p:cNvSpPr>
              <p:nvPr/>
            </p:nvSpPr>
            <p:spPr>
              <a:xfrm>
                <a:off x="2226897" y="28094752"/>
                <a:ext cx="1143000" cy="553998"/>
              </a:xfrm>
              <a:prstGeom prst="rect">
                <a:avLst/>
              </a:prstGeom>
              <a:blipFill>
                <a:blip r:embed="rId11"/>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49D54F7-C5F5-D3DC-529D-C919E6B45A77}"/>
                  </a:ext>
                </a:extLst>
              </p:cNvPr>
              <p:cNvSpPr txBox="1"/>
              <p:nvPr/>
            </p:nvSpPr>
            <p:spPr>
              <a:xfrm>
                <a:off x="6100608" y="28186912"/>
                <a:ext cx="1257300" cy="55399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3000" b="0" i="1" smtClean="0">
                              <a:latin typeface="Cambria Math" panose="02040503050406030204" pitchFamily="18" charset="0"/>
                            </a:rPr>
                          </m:ctrlPr>
                        </m:sSubPr>
                        <m:e>
                          <m:r>
                            <a:rPr lang="en-US" altLang="ko-KR" sz="3000" b="0" i="1" smtClean="0">
                              <a:latin typeface="Cambria Math" panose="02040503050406030204" pitchFamily="18" charset="0"/>
                            </a:rPr>
                            <m:t>𝑦</m:t>
                          </m:r>
                        </m:e>
                        <m:sub>
                          <m:r>
                            <a:rPr lang="en-US" altLang="ko-KR" sz="3000" b="0" i="1" smtClean="0">
                              <a:latin typeface="Cambria Math" panose="02040503050406030204" pitchFamily="18" charset="0"/>
                            </a:rPr>
                            <m:t>2</m:t>
                          </m:r>
                        </m:sub>
                      </m:sSub>
                    </m:oMath>
                  </m:oMathPara>
                </a14:m>
                <a:endParaRPr lang="ko-KR" altLang="en-US" sz="3000" dirty="0"/>
              </a:p>
            </p:txBody>
          </p:sp>
        </mc:Choice>
        <mc:Fallback xmlns="">
          <p:sp>
            <p:nvSpPr>
              <p:cNvPr id="24" name="TextBox 23">
                <a:extLst>
                  <a:ext uri="{FF2B5EF4-FFF2-40B4-BE49-F238E27FC236}">
                    <a16:creationId xmlns:a16="http://schemas.microsoft.com/office/drawing/2014/main" id="{749D54F7-C5F5-D3DC-529D-C919E6B45A77}"/>
                  </a:ext>
                </a:extLst>
              </p:cNvPr>
              <p:cNvSpPr txBox="1">
                <a:spLocks noRot="1" noChangeAspect="1" noMove="1" noResize="1" noEditPoints="1" noAdjustHandles="1" noChangeArrowheads="1" noChangeShapeType="1" noTextEdit="1"/>
              </p:cNvSpPr>
              <p:nvPr/>
            </p:nvSpPr>
            <p:spPr>
              <a:xfrm>
                <a:off x="6100608" y="28186912"/>
                <a:ext cx="1257300" cy="553998"/>
              </a:xfrm>
              <a:prstGeom prst="rect">
                <a:avLst/>
              </a:prstGeom>
              <a:blipFill>
                <a:blip r:embed="rId12"/>
                <a:stretch>
                  <a:fillRect/>
                </a:stretch>
              </a:blipFill>
            </p:spPr>
            <p:txBody>
              <a:bodyPr/>
              <a:lstStyle/>
              <a:p>
                <a:r>
                  <a:rPr lang="ko-KR" altLang="en-US">
                    <a:noFill/>
                  </a:rPr>
                  <a:t> </a:t>
                </a:r>
              </a:p>
            </p:txBody>
          </p:sp>
        </mc:Fallback>
      </mc:AlternateContent>
      <p:cxnSp>
        <p:nvCxnSpPr>
          <p:cNvPr id="25" name="Straight Connector 24">
            <a:extLst>
              <a:ext uri="{FF2B5EF4-FFF2-40B4-BE49-F238E27FC236}">
                <a16:creationId xmlns:a16="http://schemas.microsoft.com/office/drawing/2014/main" id="{55E3FDC9-0EC8-8AAF-E0AA-CBB269FF32FD}"/>
              </a:ext>
            </a:extLst>
          </p:cNvPr>
          <p:cNvCxnSpPr>
            <a:cxnSpLocks/>
          </p:cNvCxnSpPr>
          <p:nvPr/>
        </p:nvCxnSpPr>
        <p:spPr bwMode="auto">
          <a:xfrm flipV="1">
            <a:off x="2441854" y="25493137"/>
            <a:ext cx="7701989" cy="1293888"/>
          </a:xfrm>
          <a:prstGeom prst="line">
            <a:avLst/>
          </a:prstGeom>
          <a:solidFill>
            <a:schemeClr val="accent1"/>
          </a:solidFill>
          <a:ln w="25400" cap="flat" cmpd="sng" algn="ctr">
            <a:solidFill>
              <a:schemeClr val="tx1"/>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8AA8030-9C27-E703-07BD-330530B98F8A}"/>
                  </a:ext>
                </a:extLst>
              </p:cNvPr>
              <p:cNvSpPr txBox="1"/>
              <p:nvPr/>
            </p:nvSpPr>
            <p:spPr>
              <a:xfrm>
                <a:off x="3912504" y="25426879"/>
                <a:ext cx="1257300" cy="55399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3000" b="0" i="1" smtClean="0">
                              <a:latin typeface="Cambria Math" panose="02040503050406030204" pitchFamily="18" charset="0"/>
                            </a:rPr>
                          </m:ctrlPr>
                        </m:sSubPr>
                        <m:e>
                          <m:r>
                            <a:rPr lang="en-US" altLang="ko-KR" sz="3000" b="0" i="1" smtClean="0">
                              <a:latin typeface="Cambria Math" panose="02040503050406030204" pitchFamily="18" charset="0"/>
                            </a:rPr>
                            <m:t>𝑟</m:t>
                          </m:r>
                        </m:e>
                        <m:sub>
                          <m:r>
                            <a:rPr lang="en-US" altLang="ko-KR" sz="3000" b="0" i="1" smtClean="0">
                              <a:latin typeface="Cambria Math" panose="02040503050406030204" pitchFamily="18" charset="0"/>
                            </a:rPr>
                            <m:t>3</m:t>
                          </m:r>
                        </m:sub>
                      </m:sSub>
                    </m:oMath>
                  </m:oMathPara>
                </a14:m>
                <a:endParaRPr lang="ko-KR" altLang="en-US" sz="3000" dirty="0"/>
              </a:p>
            </p:txBody>
          </p:sp>
        </mc:Choice>
        <mc:Fallback xmlns="">
          <p:sp>
            <p:nvSpPr>
              <p:cNvPr id="26" name="TextBox 25">
                <a:extLst>
                  <a:ext uri="{FF2B5EF4-FFF2-40B4-BE49-F238E27FC236}">
                    <a16:creationId xmlns:a16="http://schemas.microsoft.com/office/drawing/2014/main" id="{48AA8030-9C27-E703-07BD-330530B98F8A}"/>
                  </a:ext>
                </a:extLst>
              </p:cNvPr>
              <p:cNvSpPr txBox="1">
                <a:spLocks noRot="1" noChangeAspect="1" noMove="1" noResize="1" noEditPoints="1" noAdjustHandles="1" noChangeArrowheads="1" noChangeShapeType="1" noTextEdit="1"/>
              </p:cNvSpPr>
              <p:nvPr/>
            </p:nvSpPr>
            <p:spPr>
              <a:xfrm>
                <a:off x="3912504" y="25426879"/>
                <a:ext cx="1257300" cy="553998"/>
              </a:xfrm>
              <a:prstGeom prst="rect">
                <a:avLst/>
              </a:prstGeom>
              <a:blipFill>
                <a:blip r:embed="rId1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EC1D405-D2CC-500A-19DF-082873B16008}"/>
                  </a:ext>
                </a:extLst>
              </p:cNvPr>
              <p:cNvSpPr txBox="1"/>
              <p:nvPr/>
            </p:nvSpPr>
            <p:spPr>
              <a:xfrm>
                <a:off x="17228187" y="12100961"/>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𝛾</m:t>
                      </m:r>
                    </m:oMath>
                  </m:oMathPara>
                </a14:m>
                <a:endParaRPr lang="en-US" altLang="ko-KR" b="0" dirty="0"/>
              </a:p>
            </p:txBody>
          </p:sp>
        </mc:Choice>
        <mc:Fallback xmlns="">
          <p:sp>
            <p:nvSpPr>
              <p:cNvPr id="18" name="TextBox 17">
                <a:extLst>
                  <a:ext uri="{FF2B5EF4-FFF2-40B4-BE49-F238E27FC236}">
                    <a16:creationId xmlns:a16="http://schemas.microsoft.com/office/drawing/2014/main" id="{5EC1D405-D2CC-500A-19DF-082873B16008}"/>
                  </a:ext>
                </a:extLst>
              </p:cNvPr>
              <p:cNvSpPr txBox="1">
                <a:spLocks noRot="1" noChangeAspect="1" noMove="1" noResize="1" noEditPoints="1" noAdjustHandles="1" noChangeArrowheads="1" noChangeShapeType="1" noTextEdit="1"/>
              </p:cNvSpPr>
              <p:nvPr/>
            </p:nvSpPr>
            <p:spPr>
              <a:xfrm>
                <a:off x="17228187" y="12100961"/>
                <a:ext cx="1143000" cy="461665"/>
              </a:xfrm>
              <a:prstGeom prst="rect">
                <a:avLst/>
              </a:prstGeom>
              <a:blipFill>
                <a:blip r:embed="rId14"/>
                <a:stretch>
                  <a:fillRect b="-921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DCA66A7-C7F5-F642-B6E6-21E38D7F218F}"/>
                  </a:ext>
                </a:extLst>
              </p:cNvPr>
              <p:cNvSpPr txBox="1"/>
              <p:nvPr/>
            </p:nvSpPr>
            <p:spPr>
              <a:xfrm>
                <a:off x="21470492" y="12365363"/>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𝜙</m:t>
                      </m:r>
                    </m:oMath>
                  </m:oMathPara>
                </a14:m>
                <a:endParaRPr lang="ko-KR" altLang="en-US" dirty="0"/>
              </a:p>
            </p:txBody>
          </p:sp>
        </mc:Choice>
        <mc:Fallback xmlns="">
          <p:sp>
            <p:nvSpPr>
              <p:cNvPr id="19" name="TextBox 18">
                <a:extLst>
                  <a:ext uri="{FF2B5EF4-FFF2-40B4-BE49-F238E27FC236}">
                    <a16:creationId xmlns:a16="http://schemas.microsoft.com/office/drawing/2014/main" id="{FDCA66A7-C7F5-F642-B6E6-21E38D7F218F}"/>
                  </a:ext>
                </a:extLst>
              </p:cNvPr>
              <p:cNvSpPr txBox="1">
                <a:spLocks noRot="1" noChangeAspect="1" noMove="1" noResize="1" noEditPoints="1" noAdjustHandles="1" noChangeArrowheads="1" noChangeShapeType="1" noTextEdit="1"/>
              </p:cNvSpPr>
              <p:nvPr/>
            </p:nvSpPr>
            <p:spPr>
              <a:xfrm>
                <a:off x="21470492" y="12365363"/>
                <a:ext cx="1143000" cy="461665"/>
              </a:xfrm>
              <a:prstGeom prst="rect">
                <a:avLst/>
              </a:prstGeom>
              <a:blipFill>
                <a:blip r:embed="rId15"/>
                <a:stretch>
                  <a:fillRect b="-1842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AF278EA-878B-A644-89BE-57297A97B407}"/>
                  </a:ext>
                </a:extLst>
              </p:cNvPr>
              <p:cNvSpPr txBox="1"/>
              <p:nvPr/>
            </p:nvSpPr>
            <p:spPr>
              <a:xfrm>
                <a:off x="21930868" y="12196567"/>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𝛾</m:t>
                      </m:r>
                    </m:oMath>
                  </m:oMathPara>
                </a14:m>
                <a:endParaRPr lang="en-US" altLang="ko-KR" b="0" dirty="0"/>
              </a:p>
            </p:txBody>
          </p:sp>
        </mc:Choice>
        <mc:Fallback xmlns="">
          <p:sp>
            <p:nvSpPr>
              <p:cNvPr id="20" name="TextBox 19">
                <a:extLst>
                  <a:ext uri="{FF2B5EF4-FFF2-40B4-BE49-F238E27FC236}">
                    <a16:creationId xmlns:a16="http://schemas.microsoft.com/office/drawing/2014/main" id="{AAF278EA-878B-A644-89BE-57297A97B407}"/>
                  </a:ext>
                </a:extLst>
              </p:cNvPr>
              <p:cNvSpPr txBox="1">
                <a:spLocks noRot="1" noChangeAspect="1" noMove="1" noResize="1" noEditPoints="1" noAdjustHandles="1" noChangeArrowheads="1" noChangeShapeType="1" noTextEdit="1"/>
              </p:cNvSpPr>
              <p:nvPr/>
            </p:nvSpPr>
            <p:spPr>
              <a:xfrm>
                <a:off x="21930868" y="12196567"/>
                <a:ext cx="1143000" cy="461665"/>
              </a:xfrm>
              <a:prstGeom prst="rect">
                <a:avLst/>
              </a:prstGeom>
              <a:blipFill>
                <a:blip r:embed="rId16"/>
                <a:stretch>
                  <a:fillRect b="-1066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0EEF309-FBE9-C0BB-9EC7-10A8F1D50224}"/>
                  </a:ext>
                </a:extLst>
              </p:cNvPr>
              <p:cNvSpPr txBox="1"/>
              <p:nvPr/>
            </p:nvSpPr>
            <p:spPr>
              <a:xfrm>
                <a:off x="26287473" y="12631263"/>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𝜙</m:t>
                      </m:r>
                    </m:oMath>
                  </m:oMathPara>
                </a14:m>
                <a:endParaRPr lang="ko-KR" altLang="en-US" dirty="0"/>
              </a:p>
            </p:txBody>
          </p:sp>
        </mc:Choice>
        <mc:Fallback xmlns="">
          <p:sp>
            <p:nvSpPr>
              <p:cNvPr id="21" name="TextBox 20">
                <a:extLst>
                  <a:ext uri="{FF2B5EF4-FFF2-40B4-BE49-F238E27FC236}">
                    <a16:creationId xmlns:a16="http://schemas.microsoft.com/office/drawing/2014/main" id="{00EEF309-FBE9-C0BB-9EC7-10A8F1D50224}"/>
                  </a:ext>
                </a:extLst>
              </p:cNvPr>
              <p:cNvSpPr txBox="1">
                <a:spLocks noRot="1" noChangeAspect="1" noMove="1" noResize="1" noEditPoints="1" noAdjustHandles="1" noChangeArrowheads="1" noChangeShapeType="1" noTextEdit="1"/>
              </p:cNvSpPr>
              <p:nvPr/>
            </p:nvSpPr>
            <p:spPr>
              <a:xfrm>
                <a:off x="26287473" y="12631263"/>
                <a:ext cx="1143000" cy="461665"/>
              </a:xfrm>
              <a:prstGeom prst="rect">
                <a:avLst/>
              </a:prstGeom>
              <a:blipFill>
                <a:blip r:embed="rId17"/>
                <a:stretch>
                  <a:fillRect b="-1842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938EE09-26A3-50B3-4841-CB067715B4A4}"/>
                  </a:ext>
                </a:extLst>
              </p:cNvPr>
              <p:cNvSpPr txBox="1"/>
              <p:nvPr/>
            </p:nvSpPr>
            <p:spPr>
              <a:xfrm>
                <a:off x="26345765" y="12097360"/>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𝛾</m:t>
                      </m:r>
                    </m:oMath>
                  </m:oMathPara>
                </a14:m>
                <a:endParaRPr lang="en-US" altLang="ko-KR" b="0" dirty="0"/>
              </a:p>
            </p:txBody>
          </p:sp>
        </mc:Choice>
        <mc:Fallback xmlns="">
          <p:sp>
            <p:nvSpPr>
              <p:cNvPr id="27" name="TextBox 26">
                <a:extLst>
                  <a:ext uri="{FF2B5EF4-FFF2-40B4-BE49-F238E27FC236}">
                    <a16:creationId xmlns:a16="http://schemas.microsoft.com/office/drawing/2014/main" id="{D938EE09-26A3-50B3-4841-CB067715B4A4}"/>
                  </a:ext>
                </a:extLst>
              </p:cNvPr>
              <p:cNvSpPr txBox="1">
                <a:spLocks noRot="1" noChangeAspect="1" noMove="1" noResize="1" noEditPoints="1" noAdjustHandles="1" noChangeArrowheads="1" noChangeShapeType="1" noTextEdit="1"/>
              </p:cNvSpPr>
              <p:nvPr/>
            </p:nvSpPr>
            <p:spPr>
              <a:xfrm>
                <a:off x="26345765" y="12097360"/>
                <a:ext cx="1143000" cy="461665"/>
              </a:xfrm>
              <a:prstGeom prst="rect">
                <a:avLst/>
              </a:prstGeom>
              <a:blipFill>
                <a:blip r:embed="rId18"/>
                <a:stretch>
                  <a:fillRect b="-921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9FC3D0B-75B4-F7B6-A8CE-754E4E539DD6}"/>
                  </a:ext>
                </a:extLst>
              </p:cNvPr>
              <p:cNvSpPr txBox="1"/>
              <p:nvPr/>
            </p:nvSpPr>
            <p:spPr>
              <a:xfrm>
                <a:off x="17046258" y="16310755"/>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𝜙</m:t>
                      </m:r>
                    </m:oMath>
                  </m:oMathPara>
                </a14:m>
                <a:endParaRPr lang="ko-KR" altLang="en-US" dirty="0"/>
              </a:p>
            </p:txBody>
          </p:sp>
        </mc:Choice>
        <mc:Fallback xmlns="">
          <p:sp>
            <p:nvSpPr>
              <p:cNvPr id="28" name="TextBox 27">
                <a:extLst>
                  <a:ext uri="{FF2B5EF4-FFF2-40B4-BE49-F238E27FC236}">
                    <a16:creationId xmlns:a16="http://schemas.microsoft.com/office/drawing/2014/main" id="{69FC3D0B-75B4-F7B6-A8CE-754E4E539DD6}"/>
                  </a:ext>
                </a:extLst>
              </p:cNvPr>
              <p:cNvSpPr txBox="1">
                <a:spLocks noRot="1" noChangeAspect="1" noMove="1" noResize="1" noEditPoints="1" noAdjustHandles="1" noChangeArrowheads="1" noChangeShapeType="1" noTextEdit="1"/>
              </p:cNvSpPr>
              <p:nvPr/>
            </p:nvSpPr>
            <p:spPr>
              <a:xfrm>
                <a:off x="17046258" y="16310755"/>
                <a:ext cx="1143000" cy="461665"/>
              </a:xfrm>
              <a:prstGeom prst="rect">
                <a:avLst/>
              </a:prstGeom>
              <a:blipFill>
                <a:blip r:embed="rId19"/>
                <a:stretch>
                  <a:fillRect b="-1866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847F73E-3005-65F0-3C93-43E8145C000D}"/>
                  </a:ext>
                </a:extLst>
              </p:cNvPr>
              <p:cNvSpPr txBox="1"/>
              <p:nvPr/>
            </p:nvSpPr>
            <p:spPr>
              <a:xfrm>
                <a:off x="21963639" y="16263256"/>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𝜙</m:t>
                      </m:r>
                    </m:oMath>
                  </m:oMathPara>
                </a14:m>
                <a:endParaRPr lang="ko-KR" altLang="en-US" dirty="0"/>
              </a:p>
            </p:txBody>
          </p:sp>
        </mc:Choice>
        <mc:Fallback xmlns="">
          <p:sp>
            <p:nvSpPr>
              <p:cNvPr id="29" name="TextBox 28">
                <a:extLst>
                  <a:ext uri="{FF2B5EF4-FFF2-40B4-BE49-F238E27FC236}">
                    <a16:creationId xmlns:a16="http://schemas.microsoft.com/office/drawing/2014/main" id="{B847F73E-3005-65F0-3C93-43E8145C000D}"/>
                  </a:ext>
                </a:extLst>
              </p:cNvPr>
              <p:cNvSpPr txBox="1">
                <a:spLocks noRot="1" noChangeAspect="1" noMove="1" noResize="1" noEditPoints="1" noAdjustHandles="1" noChangeArrowheads="1" noChangeShapeType="1" noTextEdit="1"/>
              </p:cNvSpPr>
              <p:nvPr/>
            </p:nvSpPr>
            <p:spPr>
              <a:xfrm>
                <a:off x="21963639" y="16263256"/>
                <a:ext cx="1143000" cy="461665"/>
              </a:xfrm>
              <a:prstGeom prst="rect">
                <a:avLst/>
              </a:prstGeom>
              <a:blipFill>
                <a:blip r:embed="rId20"/>
                <a:stretch>
                  <a:fillRect b="-1710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3C0F34A-7F6A-2C5B-5776-953AEFC034F1}"/>
                  </a:ext>
                </a:extLst>
              </p:cNvPr>
              <p:cNvSpPr txBox="1"/>
              <p:nvPr/>
            </p:nvSpPr>
            <p:spPr>
              <a:xfrm>
                <a:off x="21602700" y="15926527"/>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𝛾</m:t>
                      </m:r>
                    </m:oMath>
                  </m:oMathPara>
                </a14:m>
                <a:endParaRPr lang="en-US" altLang="ko-KR" b="0" dirty="0"/>
              </a:p>
            </p:txBody>
          </p:sp>
        </mc:Choice>
        <mc:Fallback xmlns="">
          <p:sp>
            <p:nvSpPr>
              <p:cNvPr id="30" name="TextBox 29">
                <a:extLst>
                  <a:ext uri="{FF2B5EF4-FFF2-40B4-BE49-F238E27FC236}">
                    <a16:creationId xmlns:a16="http://schemas.microsoft.com/office/drawing/2014/main" id="{A3C0F34A-7F6A-2C5B-5776-953AEFC034F1}"/>
                  </a:ext>
                </a:extLst>
              </p:cNvPr>
              <p:cNvSpPr txBox="1">
                <a:spLocks noRot="1" noChangeAspect="1" noMove="1" noResize="1" noEditPoints="1" noAdjustHandles="1" noChangeArrowheads="1" noChangeShapeType="1" noTextEdit="1"/>
              </p:cNvSpPr>
              <p:nvPr/>
            </p:nvSpPr>
            <p:spPr>
              <a:xfrm>
                <a:off x="21602700" y="15926527"/>
                <a:ext cx="1143000" cy="461665"/>
              </a:xfrm>
              <a:prstGeom prst="rect">
                <a:avLst/>
              </a:prstGeom>
              <a:blipFill>
                <a:blip r:embed="rId21"/>
                <a:stretch>
                  <a:fillRect b="-1066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B536732-AE6F-7D10-614D-51EFCCDE0B83}"/>
                  </a:ext>
                </a:extLst>
              </p:cNvPr>
              <p:cNvSpPr txBox="1"/>
              <p:nvPr/>
            </p:nvSpPr>
            <p:spPr>
              <a:xfrm>
                <a:off x="26735330" y="16455553"/>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𝜙</m:t>
                      </m:r>
                    </m:oMath>
                  </m:oMathPara>
                </a14:m>
                <a:endParaRPr lang="ko-KR" altLang="en-US" dirty="0"/>
              </a:p>
            </p:txBody>
          </p:sp>
        </mc:Choice>
        <mc:Fallback xmlns="">
          <p:sp>
            <p:nvSpPr>
              <p:cNvPr id="31" name="TextBox 30">
                <a:extLst>
                  <a:ext uri="{FF2B5EF4-FFF2-40B4-BE49-F238E27FC236}">
                    <a16:creationId xmlns:a16="http://schemas.microsoft.com/office/drawing/2014/main" id="{5B536732-AE6F-7D10-614D-51EFCCDE0B83}"/>
                  </a:ext>
                </a:extLst>
              </p:cNvPr>
              <p:cNvSpPr txBox="1">
                <a:spLocks noRot="1" noChangeAspect="1" noMove="1" noResize="1" noEditPoints="1" noAdjustHandles="1" noChangeArrowheads="1" noChangeShapeType="1" noTextEdit="1"/>
              </p:cNvSpPr>
              <p:nvPr/>
            </p:nvSpPr>
            <p:spPr>
              <a:xfrm>
                <a:off x="26735330" y="16455553"/>
                <a:ext cx="1143000" cy="461665"/>
              </a:xfrm>
              <a:prstGeom prst="rect">
                <a:avLst/>
              </a:prstGeom>
              <a:blipFill>
                <a:blip r:embed="rId22"/>
                <a:stretch>
                  <a:fillRect b="-1842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11D1662-97E9-05E9-8C76-33421701FC46}"/>
                  </a:ext>
                </a:extLst>
              </p:cNvPr>
              <p:cNvSpPr txBox="1"/>
              <p:nvPr/>
            </p:nvSpPr>
            <p:spPr>
              <a:xfrm>
                <a:off x="26278639" y="16005180"/>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𝛾</m:t>
                      </m:r>
                    </m:oMath>
                  </m:oMathPara>
                </a14:m>
                <a:endParaRPr lang="en-US" altLang="ko-KR" b="0" dirty="0"/>
              </a:p>
            </p:txBody>
          </p:sp>
        </mc:Choice>
        <mc:Fallback xmlns="">
          <p:sp>
            <p:nvSpPr>
              <p:cNvPr id="32" name="TextBox 31">
                <a:extLst>
                  <a:ext uri="{FF2B5EF4-FFF2-40B4-BE49-F238E27FC236}">
                    <a16:creationId xmlns:a16="http://schemas.microsoft.com/office/drawing/2014/main" id="{B11D1662-97E9-05E9-8C76-33421701FC46}"/>
                  </a:ext>
                </a:extLst>
              </p:cNvPr>
              <p:cNvSpPr txBox="1">
                <a:spLocks noRot="1" noChangeAspect="1" noMove="1" noResize="1" noEditPoints="1" noAdjustHandles="1" noChangeArrowheads="1" noChangeShapeType="1" noTextEdit="1"/>
              </p:cNvSpPr>
              <p:nvPr/>
            </p:nvSpPr>
            <p:spPr>
              <a:xfrm>
                <a:off x="26278639" y="16005180"/>
                <a:ext cx="1143000" cy="461665"/>
              </a:xfrm>
              <a:prstGeom prst="rect">
                <a:avLst/>
              </a:prstGeom>
              <a:blipFill>
                <a:blip r:embed="rId23"/>
                <a:stretch>
                  <a:fillRect b="-10667"/>
                </a:stretch>
              </a:blipFill>
            </p:spPr>
            <p:txBody>
              <a:bodyPr/>
              <a:lstStyle/>
              <a:p>
                <a:r>
                  <a:rPr lang="ko-KR" altLang="en-US">
                    <a:noFill/>
                  </a:rPr>
                  <a:t> </a:t>
                </a:r>
              </a:p>
            </p:txBody>
          </p:sp>
        </mc:Fallback>
      </mc:AlternateContent>
      <p:pic>
        <p:nvPicPr>
          <p:cNvPr id="33" name="Picture 32" descr="A diagram of a sun&#10;&#10;AI-generated content may be incorrect.">
            <a:extLst>
              <a:ext uri="{FF2B5EF4-FFF2-40B4-BE49-F238E27FC236}">
                <a16:creationId xmlns:a16="http://schemas.microsoft.com/office/drawing/2014/main" id="{EAFE57CD-BFFE-911F-F73C-3820C133E308}"/>
              </a:ext>
            </a:extLst>
          </p:cNvPr>
          <p:cNvPicPr>
            <a:picLocks noChangeAspect="1"/>
          </p:cNvPicPr>
          <p:nvPr/>
        </p:nvPicPr>
        <p:blipFill>
          <a:blip r:embed="rId24" cstate="print">
            <a:extLst>
              <a:ext uri="{28A0092B-C50C-407E-A947-70E740481C1C}">
                <a14:useLocalDpi xmlns:a14="http://schemas.microsoft.com/office/drawing/2010/main" val="0"/>
              </a:ext>
            </a:extLst>
          </a:blip>
          <a:srcRect l="6221" t="1898" r="8979" b="2956"/>
          <a:stretch/>
        </p:blipFill>
        <p:spPr>
          <a:xfrm>
            <a:off x="35464863" y="8340593"/>
            <a:ext cx="7920941" cy="6665546"/>
          </a:xfrm>
          <a:prstGeom prst="rect">
            <a:avLst/>
          </a:prstGeom>
        </p:spPr>
      </p:pic>
      <mc:AlternateContent xmlns:mc="http://schemas.openxmlformats.org/markup-compatibility/2006" xmlns:a14="http://schemas.microsoft.com/office/drawing/2010/main">
        <mc:Choice Requires="a14">
          <p:sp>
            <p:nvSpPr>
              <p:cNvPr id="34" name="Text Box 18">
                <a:extLst>
                  <a:ext uri="{FF2B5EF4-FFF2-40B4-BE49-F238E27FC236}">
                    <a16:creationId xmlns:a16="http://schemas.microsoft.com/office/drawing/2014/main" id="{92552E79-1C46-FF5A-09AF-1236AFE19809}"/>
                  </a:ext>
                </a:extLst>
              </p:cNvPr>
              <p:cNvSpPr txBox="1">
                <a:spLocks noChangeArrowheads="1"/>
              </p:cNvSpPr>
              <p:nvPr/>
            </p:nvSpPr>
            <p:spPr bwMode="auto">
              <a:xfrm>
                <a:off x="29261234" y="15025189"/>
                <a:ext cx="14183789" cy="3633880"/>
              </a:xfrm>
              <a:prstGeom prst="rect">
                <a:avLst/>
              </a:prstGeom>
              <a:noFill/>
              <a:ln w="9525">
                <a:noFill/>
                <a:miter lim="800000"/>
                <a:headEnd/>
                <a:tailEnd/>
              </a:ln>
              <a:effectLst/>
            </p:spPr>
            <p:txBody>
              <a:bodyPr wrap="square">
                <a:spAutoFit/>
              </a:bodyPr>
              <a:lstStyle/>
              <a:p>
                <a:pPr indent="457200" algn="l">
                  <a:spcBef>
                    <a:spcPct val="50000"/>
                  </a:spcBef>
                </a:pPr>
                <a:r>
                  <a:rPr lang="en-US" dirty="0"/>
                  <a:t>To resolve the sign ambiguity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𝜙</m:t>
                        </m:r>
                      </m:sub>
                    </m:sSub>
                  </m:oMath>
                </a14:m>
                <a:r>
                  <a:rPr lang="en-US" dirty="0"/>
                  <a:t>, examining a single geometry is not sufficient. Instead, we utilize measurements from both planets and refer back to the initial configuration. The angle between Planet 1–spacecraft–Planet 2, denoted α₃, can be directly computed from the measurements. Once </a:t>
                </a:r>
                <a14:m>
                  <m:oMath xmlns:m="http://schemas.openxmlformats.org/officeDocument/2006/math">
                    <m:r>
                      <a:rPr lang="en-US" b="0" i="1" smtClean="0">
                        <a:latin typeface="Cambria Math" panose="02040503050406030204" pitchFamily="18" charset="0"/>
                      </a:rPr>
                      <m:t>𝛿</m:t>
                    </m:r>
                  </m:oMath>
                </a14:m>
                <a:r>
                  <a:rPr lang="en-US" dirty="0"/>
                  <a:t> is known, the distances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oMath>
                </a14:m>
                <a:r>
                  <a:rPr lang="en-US" dirty="0"/>
                  <a:t> (from the spacecraft to each planet) can be determined using the Law of Sines. </a:t>
                </a:r>
                <a:r>
                  <a:rPr lang="en-US" altLang="ko-KR" dirty="0"/>
                  <a:t>We define a determinant function </a:t>
                </a:r>
                <a:r>
                  <a:rPr lang="en-US" altLang="ko-KR" i="1" dirty="0"/>
                  <a:t>D</a:t>
                </a:r>
                <a:r>
                  <a:rPr lang="en-US" altLang="ko-KR" dirty="0"/>
                  <a:t> as the absolute error from the Law of Cosine using the triangle with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1</m:t>
                        </m:r>
                      </m:sub>
                    </m:sSub>
                    <m:r>
                      <a:rPr lang="en-US" altLang="ko-KR" b="0" i="1" smtClean="0">
                        <a:latin typeface="Cambria Math" panose="02040503050406030204" pitchFamily="18" charset="0"/>
                      </a:rPr>
                      <m:t>,</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2</m:t>
                        </m:r>
                      </m:sub>
                    </m:sSub>
                    <m:r>
                      <a:rPr lang="en-US" altLang="ko-KR" b="0" i="1" smtClean="0">
                        <a:latin typeface="Cambria Math" panose="02040503050406030204" pitchFamily="18" charset="0"/>
                      </a:rPr>
                      <m:t>,</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oMath>
                </a14:m>
                <a:r>
                  <a:rPr lang="en-US" dirty="0"/>
                  <a:t>. For each planetary geometry, up to two possible values of </a:t>
                </a:r>
                <a14:m>
                  <m:oMath xmlns:m="http://schemas.openxmlformats.org/officeDocument/2006/math">
                    <m:r>
                      <a:rPr lang="en-US" b="0" i="1" smtClean="0">
                        <a:latin typeface="Cambria Math" panose="02040503050406030204" pitchFamily="18" charset="0"/>
                      </a:rPr>
                      <m:t>𝛿</m:t>
                    </m:r>
                  </m:oMath>
                </a14:m>
                <a:r>
                  <a:rPr lang="en-US" dirty="0"/>
                  <a:t> may exist, leading to four total combinations of sign choices. Among these, we select the combination that yields the smallest value of </a:t>
                </a:r>
                <a:r>
                  <a:rPr lang="en-US" i="1" dirty="0"/>
                  <a:t>D</a:t>
                </a:r>
                <a:r>
                  <a:rPr lang="en-US" dirty="0"/>
                  <a:t>. Through this iterative process, the correct signs of </a:t>
                </a:r>
                <a14:m>
                  <m:oMath xmlns:m="http://schemas.openxmlformats.org/officeDocument/2006/math">
                    <m:r>
                      <a:rPr lang="en-US" b="0" i="1" smtClean="0">
                        <a:latin typeface="Cambria Math" panose="02040503050406030204" pitchFamily="18" charset="0"/>
                      </a:rPr>
                      <m:t>𝜙</m:t>
                    </m:r>
                  </m:oMath>
                </a14:m>
                <a:r>
                  <a:rPr lang="en-US" dirty="0"/>
                  <a:t> can be determined at each step.</a:t>
                </a:r>
              </a:p>
              <a:p>
                <a:pPr indent="457200" algn="l">
                  <a:spcBef>
                    <a:spcPct val="50000"/>
                  </a:spcBef>
                </a:pPr>
                <a:endParaRPr lang="en-US" dirty="0"/>
              </a:p>
            </p:txBody>
          </p:sp>
        </mc:Choice>
        <mc:Fallback xmlns="">
          <p:sp>
            <p:nvSpPr>
              <p:cNvPr id="34" name="Text Box 18">
                <a:extLst>
                  <a:ext uri="{FF2B5EF4-FFF2-40B4-BE49-F238E27FC236}">
                    <a16:creationId xmlns:a16="http://schemas.microsoft.com/office/drawing/2014/main" id="{92552E79-1C46-FF5A-09AF-1236AFE19809}"/>
                  </a:ext>
                </a:extLst>
              </p:cNvPr>
              <p:cNvSpPr txBox="1">
                <a:spLocks noRot="1" noChangeAspect="1" noMove="1" noResize="1" noEditPoints="1" noAdjustHandles="1" noChangeArrowheads="1" noChangeShapeType="1" noTextEdit="1"/>
              </p:cNvSpPr>
              <p:nvPr/>
            </p:nvSpPr>
            <p:spPr bwMode="auto">
              <a:xfrm>
                <a:off x="29261234" y="15025189"/>
                <a:ext cx="14183789" cy="3633880"/>
              </a:xfrm>
              <a:prstGeom prst="rect">
                <a:avLst/>
              </a:prstGeom>
              <a:blipFill>
                <a:blip r:embed="rId25"/>
                <a:stretch>
                  <a:fillRect l="-645" t="-1342" r="-645"/>
                </a:stretch>
              </a:blipFill>
              <a:ln w="9525">
                <a:noFill/>
                <a:miter lim="800000"/>
                <a:headEnd/>
                <a:tailEn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graphicFrame>
            <p:nvGraphicFramePr>
              <p:cNvPr id="35" name="Table 34">
                <a:extLst>
                  <a:ext uri="{FF2B5EF4-FFF2-40B4-BE49-F238E27FC236}">
                    <a16:creationId xmlns:a16="http://schemas.microsoft.com/office/drawing/2014/main" id="{1E2F21BB-5FC1-F9A8-2D3A-AC5B0DA2A8C2}"/>
                  </a:ext>
                </a:extLst>
              </p:cNvPr>
              <p:cNvGraphicFramePr>
                <a:graphicFrameLocks noGrp="1"/>
              </p:cNvGraphicFramePr>
              <p:nvPr>
                <p:extLst>
                  <p:ext uri="{D42A27DB-BD31-4B8C-83A1-F6EECF244321}">
                    <p14:modId xmlns:p14="http://schemas.microsoft.com/office/powerpoint/2010/main" val="3806844411"/>
                  </p:ext>
                </p:extLst>
              </p:nvPr>
            </p:nvGraphicFramePr>
            <p:xfrm>
              <a:off x="22783800" y="18135600"/>
              <a:ext cx="6118984" cy="3679317"/>
            </p:xfrm>
            <a:graphic>
              <a:graphicData uri="http://schemas.openxmlformats.org/drawingml/2006/table">
                <a:tbl>
                  <a:tblPr firstRow="1" bandRow="1">
                    <a:tableStyleId>{5C22544A-7EE6-4342-B048-85BDC9FD1C3A}</a:tableStyleId>
                  </a:tblPr>
                  <a:tblGrid>
                    <a:gridCol w="1529746">
                      <a:extLst>
                        <a:ext uri="{9D8B030D-6E8A-4147-A177-3AD203B41FA5}">
                          <a16:colId xmlns:a16="http://schemas.microsoft.com/office/drawing/2014/main" val="3408067011"/>
                        </a:ext>
                      </a:extLst>
                    </a:gridCol>
                    <a:gridCol w="1529746">
                      <a:extLst>
                        <a:ext uri="{9D8B030D-6E8A-4147-A177-3AD203B41FA5}">
                          <a16:colId xmlns:a16="http://schemas.microsoft.com/office/drawing/2014/main" val="2848599497"/>
                        </a:ext>
                      </a:extLst>
                    </a:gridCol>
                    <a:gridCol w="1529746">
                      <a:extLst>
                        <a:ext uri="{9D8B030D-6E8A-4147-A177-3AD203B41FA5}">
                          <a16:colId xmlns:a16="http://schemas.microsoft.com/office/drawing/2014/main" val="666132706"/>
                        </a:ext>
                      </a:extLst>
                    </a:gridCol>
                    <a:gridCol w="1529746">
                      <a:extLst>
                        <a:ext uri="{9D8B030D-6E8A-4147-A177-3AD203B41FA5}">
                          <a16:colId xmlns:a16="http://schemas.microsoft.com/office/drawing/2014/main" val="2074557388"/>
                        </a:ext>
                      </a:extLst>
                    </a:gridCol>
                  </a:tblGrid>
                  <a:tr h="0">
                    <a:tc>
                      <a:txBody>
                        <a:bodyPr/>
                        <a:lstStyle/>
                        <a:p>
                          <a:pPr algn="ctr" latinLnBrk="1"/>
                          <a:r>
                            <a:rPr lang="en-US" altLang="ko-KR" sz="1800" dirty="0"/>
                            <a:t>Parameters</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1</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2</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extLst>
                      <a:ext uri="{0D108BD9-81ED-4DB2-BD59-A6C34878D82A}">
                        <a16:rowId xmlns:a16="http://schemas.microsoft.com/office/drawing/2014/main" val="3048101084"/>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14:m>
                            <m:oMath xmlns:m="http://schemas.openxmlformats.org/officeDocument/2006/math">
                              <m:sSub>
                                <m:sSubPr>
                                  <m:ctrlPr>
                                    <a:rPr lang="en-US" altLang="ko-KR" sz="1800" b="0" i="1" smtClean="0">
                                      <a:latin typeface="Cambria Math" panose="02040503050406030204" pitchFamily="18" charset="0"/>
                                    </a:rPr>
                                  </m:ctrlPr>
                                </m:sSubPr>
                                <m:e>
                                  <m:r>
                                    <a:rPr lang="en-US" altLang="ko-KR" sz="1800" b="0" i="1" smtClean="0">
                                      <a:latin typeface="Cambria Math" panose="02040503050406030204" pitchFamily="18" charset="0"/>
                                    </a:rPr>
                                    <m:t>𝑃</m:t>
                                  </m:r>
                                </m:e>
                                <m:sub>
                                  <m:r>
                                    <a:rPr lang="en-US" altLang="ko-KR" sz="1800" b="0" i="1" smtClean="0">
                                      <a:latin typeface="Cambria Math" panose="02040503050406030204" pitchFamily="18" charset="0"/>
                                    </a:rPr>
                                    <m:t>𝑥</m:t>
                                  </m:r>
                                </m:sub>
                              </m:sSub>
                            </m:oMath>
                          </a14:m>
                          <a:r>
                            <a:rPr lang="ko-KR" altLang="en-US" sz="1800" dirty="0"/>
                            <a:t> </a:t>
                          </a:r>
                          <a:r>
                            <a:rPr lang="en-US" altLang="ko-KR" sz="1800" dirty="0"/>
                            <a:t>(AU)</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-1.3484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4.5648</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 (S/C)</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506114"/>
                      </a:ext>
                    </a:extLst>
                  </a:tr>
                  <a:tr h="0">
                    <a:tc>
                      <a:txBody>
                        <a:bodyPr/>
                        <a:lstStyle/>
                        <a:p>
                          <a:pPr algn="ctr" latinLnBrk="1"/>
                          <a14:m>
                            <m:oMath xmlns:m="http://schemas.openxmlformats.org/officeDocument/2006/math">
                              <m:sSub>
                                <m:sSubPr>
                                  <m:ctrlPr>
                                    <a:rPr lang="en-US" altLang="ko-KR" sz="1800" b="0" i="1" smtClean="0">
                                      <a:latin typeface="Cambria Math" panose="02040503050406030204" pitchFamily="18" charset="0"/>
                                    </a:rPr>
                                  </m:ctrlPr>
                                </m:sSubPr>
                                <m:e>
                                  <m:r>
                                    <a:rPr lang="en-US" altLang="ko-KR" sz="1800" b="0" i="1" smtClean="0">
                                      <a:latin typeface="Cambria Math" panose="02040503050406030204" pitchFamily="18" charset="0"/>
                                    </a:rPr>
                                    <m:t>𝑃</m:t>
                                  </m:r>
                                </m:e>
                                <m:sub>
                                  <m:r>
                                    <a:rPr lang="en-US" altLang="ko-KR" sz="1800" b="0" i="1" smtClean="0">
                                      <a:latin typeface="Cambria Math" panose="02040503050406030204" pitchFamily="18" charset="0"/>
                                    </a:rPr>
                                    <m:t>𝑦</m:t>
                                  </m:r>
                                </m:sub>
                              </m:sSub>
                            </m:oMath>
                          </a14:m>
                          <a:r>
                            <a:rPr lang="ko-KR" altLang="en-US" sz="1800" dirty="0"/>
                            <a:t> </a:t>
                          </a:r>
                          <a:r>
                            <a:rPr lang="en-US" altLang="ko-KR" sz="1800" dirty="0"/>
                            <a:t>(AU)</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0.9816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1.9726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-1.3423 (S/C)</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526537"/>
                      </a:ext>
                    </a:extLst>
                  </a:tr>
                  <a:tr h="0">
                    <a:tc>
                      <a:txBody>
                        <a:bodyPr/>
                        <a:lstStyle/>
                        <a:p>
                          <a:pPr algn="ctr" latinLnBrk="1"/>
                          <a14:m>
                            <m:oMath xmlns:m="http://schemas.openxmlformats.org/officeDocument/2006/math">
                              <m:sSub>
                                <m:sSubPr>
                                  <m:ctrlPr>
                                    <a:rPr lang="en-US" altLang="ko-KR" sz="1800" b="0" i="1" smtClean="0">
                                      <a:latin typeface="Cambria Math" panose="02040503050406030204" pitchFamily="18" charset="0"/>
                                    </a:rPr>
                                  </m:ctrlPr>
                                </m:sSubPr>
                                <m:e>
                                  <m:r>
                                    <a:rPr lang="en-US" altLang="ko-KR" sz="1800" b="0" i="1" smtClean="0">
                                      <a:latin typeface="Cambria Math" panose="02040503050406030204" pitchFamily="18" charset="0"/>
                                    </a:rPr>
                                    <m:t>𝑃</m:t>
                                  </m:r>
                                </m:e>
                                <m:sub>
                                  <m:r>
                                    <a:rPr lang="en-US" altLang="ko-KR" sz="1800" b="0" i="1" smtClean="0">
                                      <a:latin typeface="Cambria Math" panose="02040503050406030204" pitchFamily="18" charset="0"/>
                                    </a:rPr>
                                    <m:t>𝑧</m:t>
                                  </m:r>
                                </m:sub>
                              </m:sSub>
                            </m:oMath>
                          </a14:m>
                          <a:r>
                            <a:rPr lang="ko-KR" altLang="en-US" sz="1800" dirty="0"/>
                            <a:t> </a:t>
                          </a:r>
                          <a:r>
                            <a:rPr lang="en-US" altLang="ko-KR" sz="1800" dirty="0"/>
                            <a:t>(AU)</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0.0536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-0.1103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 (S/C)</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4292524"/>
                      </a:ext>
                    </a:extLst>
                  </a:tr>
                  <a:tr h="0">
                    <a:tc>
                      <a:txBody>
                        <a:bodyPr/>
                        <a:lstStyle/>
                        <a:p>
                          <a:pPr algn="ctr" latinLnBrk="1"/>
                          <a:r>
                            <a:rPr lang="en-US" altLang="ko-KR" sz="1800" dirty="0"/>
                            <a:t>r (AU)</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1.6687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4.974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5.9979</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4401372"/>
                      </a:ext>
                    </a:extLst>
                  </a:tr>
                  <a:tr h="0">
                    <a:tc>
                      <a:txBody>
                        <a:bodyPr/>
                        <a:lstStyle/>
                        <a:p>
                          <a:pPr algn="ctr" latinLnBrk="1"/>
                          <a14:m>
                            <m:oMath xmlns:m="http://schemas.openxmlformats.org/officeDocument/2006/math">
                              <m:r>
                                <a:rPr lang="en-US" altLang="ko-KR" sz="1800" b="0" i="1" smtClean="0">
                                  <a:latin typeface="Cambria Math" panose="02040503050406030204" pitchFamily="18" charset="0"/>
                                </a:rPr>
                                <m:t>𝛼</m:t>
                              </m:r>
                              <m:r>
                                <a:rPr lang="en-US" altLang="ko-KR" sz="1800" b="0" i="1" smtClean="0">
                                  <a:latin typeface="Cambria Math" panose="02040503050406030204" pitchFamily="18" charset="0"/>
                                </a:rPr>
                                <m:t> (°)</m:t>
                              </m:r>
                            </m:oMath>
                          </a14:m>
                          <a:r>
                            <a:rPr lang="ko-KR" altLang="en-US" sz="1800"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30.143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54.021</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84.162</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846426"/>
                      </a:ext>
                    </a:extLst>
                  </a:tr>
                  <a:tr h="0">
                    <a:tc>
                      <a:txBody>
                        <a:bodyPr/>
                        <a:lstStyle/>
                        <a:p>
                          <a:pPr algn="ctr" latinLnBrk="1"/>
                          <a14:m>
                            <m:oMath xmlns:m="http://schemas.openxmlformats.org/officeDocument/2006/math">
                              <m:r>
                                <a:rPr lang="en-US" altLang="ko-KR" sz="1800" b="0" i="1" smtClean="0">
                                  <a:latin typeface="Cambria Math" panose="02040503050406030204" pitchFamily="18" charset="0"/>
                                </a:rPr>
                                <m:t>𝑅</m:t>
                              </m:r>
                            </m:oMath>
                          </a14:m>
                          <a:r>
                            <a:rPr lang="ko-KR" altLang="en-US" sz="1800" dirty="0"/>
                            <a:t> </a:t>
                          </a:r>
                          <a:r>
                            <a:rPr lang="en-US" altLang="ko-KR" sz="1800" dirty="0"/>
                            <a:t>(AU)</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1.6615</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3.0733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N/A</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2241181"/>
                      </a:ext>
                    </a:extLst>
                  </a:tr>
                  <a:tr h="0">
                    <a:tc>
                      <a:txBody>
                        <a:bodyPr/>
                        <a:lstStyle/>
                        <a:p>
                          <a:pPr algn="ctr" latinLnBrk="1"/>
                          <a14:m>
                            <m:oMathPara xmlns:m="http://schemas.openxmlformats.org/officeDocument/2006/math">
                              <m:oMathParaPr>
                                <m:jc m:val="centerGroup"/>
                              </m:oMathParaPr>
                              <m:oMath xmlns:m="http://schemas.openxmlformats.org/officeDocument/2006/math">
                                <m:r>
                                  <a:rPr lang="en-US" altLang="ko-KR" sz="1800" b="0" i="1" smtClean="0">
                                    <a:latin typeface="Cambria Math" panose="02040503050406030204" pitchFamily="18" charset="0"/>
                                  </a:rPr>
                                  <m:t>𝜙</m:t>
                                </m:r>
                                <m:r>
                                  <a:rPr lang="en-US" altLang="ko-KR" sz="1800" b="0" i="1" smtClean="0">
                                    <a:latin typeface="Cambria Math" panose="02040503050406030204" pitchFamily="18" charset="0"/>
                                  </a:rPr>
                                  <m:t> </m:t>
                                </m:r>
                                <m:d>
                                  <m:dPr>
                                    <m:ctrlPr>
                                      <a:rPr lang="en-US" altLang="ko-KR" sz="1800" b="0" i="1" smtClean="0">
                                        <a:latin typeface="Cambria Math" panose="02040503050406030204" pitchFamily="18" charset="0"/>
                                      </a:rPr>
                                    </m:ctrlPr>
                                  </m:dPr>
                                  <m:e>
                                    <m:r>
                                      <a:rPr lang="en-US" altLang="ko-KR" sz="1800" b="0" i="1" smtClean="0">
                                        <a:latin typeface="Cambria Math" panose="02040503050406030204" pitchFamily="18" charset="0"/>
                                      </a:rPr>
                                      <m:t>°</m:t>
                                    </m:r>
                                  </m:e>
                                </m:d>
                              </m:oMath>
                            </m:oMathPara>
                          </a14:m>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60.175</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77.386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N/A</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259998"/>
                      </a:ext>
                    </a:extLst>
                  </a:tr>
                  <a:tr h="0">
                    <a:tc>
                      <a:txBody>
                        <a:bodyPr/>
                        <a:lstStyle/>
                        <a:p>
                          <a:pPr algn="ctr" latinLnBrk="1"/>
                          <a14:m>
                            <m:oMathPara xmlns:m="http://schemas.openxmlformats.org/officeDocument/2006/math">
                              <m:oMathParaPr>
                                <m:jc m:val="centerGroup"/>
                              </m:oMathParaPr>
                              <m:oMath xmlns:m="http://schemas.openxmlformats.org/officeDocument/2006/math">
                                <m:r>
                                  <a:rPr lang="en-US" altLang="ko-KR" sz="1800" b="0" i="1" smtClean="0">
                                    <a:latin typeface="Cambria Math" panose="02040503050406030204" pitchFamily="18" charset="0"/>
                                  </a:rPr>
                                  <m:t>𝛾</m:t>
                                </m:r>
                                <m:r>
                                  <a:rPr lang="en-US" altLang="ko-KR" sz="1800" b="0" i="1" smtClean="0">
                                    <a:latin typeface="Cambria Math" panose="02040503050406030204" pitchFamily="18" charset="0"/>
                                  </a:rPr>
                                  <m:t> </m:t>
                                </m:r>
                                <m:d>
                                  <m:dPr>
                                    <m:ctrlPr>
                                      <a:rPr lang="en-US" altLang="ko-KR" sz="1800" b="0" i="1" smtClean="0">
                                        <a:latin typeface="Cambria Math" panose="02040503050406030204" pitchFamily="18" charset="0"/>
                                      </a:rPr>
                                    </m:ctrlPr>
                                  </m:dPr>
                                  <m:e>
                                    <m:r>
                                      <a:rPr lang="en-US" altLang="ko-KR" sz="1800" b="0" i="1" smtClean="0">
                                        <a:latin typeface="Cambria Math" panose="02040503050406030204" pitchFamily="18" charset="0"/>
                                      </a:rPr>
                                      <m:t>°</m:t>
                                    </m:r>
                                  </m:e>
                                </m:d>
                              </m:oMath>
                            </m:oMathPara>
                          </a14:m>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59.857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35.979</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N/A</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848500"/>
                      </a:ext>
                    </a:extLst>
                  </a:tr>
                  <a:tr h="0">
                    <a:tc>
                      <a:txBody>
                        <a:bodyPr/>
                        <a:lstStyle/>
                        <a:p>
                          <a:pPr algn="ctr" latinLnBrk="1"/>
                          <a14:m>
                            <m:oMath xmlns:m="http://schemas.openxmlformats.org/officeDocument/2006/math">
                              <m:r>
                                <a:rPr lang="en-US" altLang="ko-KR" sz="1800" b="0" i="1" smtClean="0">
                                  <a:latin typeface="Cambria Math" panose="02040503050406030204" pitchFamily="18" charset="0"/>
                                </a:rPr>
                                <m:t>𝑦</m:t>
                              </m:r>
                            </m:oMath>
                          </a14:m>
                          <a:r>
                            <a:rPr lang="ko-KR" altLang="en-US" sz="1800" dirty="0"/>
                            <a:t> </a:t>
                          </a:r>
                          <a:r>
                            <a:rPr lang="en-US" altLang="ko-KR" sz="1800" dirty="0"/>
                            <a:t>(AU)</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2.6873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5.6425</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1.4323 (</a:t>
                          </a:r>
                          <a14:m>
                            <m:oMath xmlns:m="http://schemas.openxmlformats.org/officeDocument/2006/math">
                              <m:sSub>
                                <m:sSubPr>
                                  <m:ctrlPr>
                                    <a:rPr lang="en-US" altLang="ko-KR" sz="1800" b="0" i="1" dirty="0" smtClean="0">
                                      <a:latin typeface="Cambria Math" panose="02040503050406030204" pitchFamily="18" charset="0"/>
                                    </a:rPr>
                                  </m:ctrlPr>
                                </m:sSubPr>
                                <m:e>
                                  <m:r>
                                    <a:rPr lang="en-US" altLang="ko-KR" sz="1800" b="0" i="1" dirty="0" smtClean="0">
                                      <a:latin typeface="Cambria Math" panose="02040503050406030204" pitchFamily="18" charset="0"/>
                                    </a:rPr>
                                    <m:t>𝑦</m:t>
                                  </m:r>
                                </m:e>
                                <m:sub>
                                  <m:r>
                                    <a:rPr lang="en-US" altLang="ko-KR" sz="1800" b="0" i="1" dirty="0" smtClean="0">
                                      <a:latin typeface="Cambria Math" panose="02040503050406030204" pitchFamily="18" charset="0"/>
                                    </a:rPr>
                                    <m:t>𝑠</m:t>
                                  </m:r>
                                </m:sub>
                              </m:sSub>
                            </m:oMath>
                          </a14:m>
                          <a:r>
                            <a:rPr lang="en-US" altLang="ko-KR" sz="1800" dirty="0"/>
                            <a:t>)</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4378928"/>
                      </a:ext>
                    </a:extLst>
                  </a:tr>
                </a:tbl>
              </a:graphicData>
            </a:graphic>
          </p:graphicFrame>
        </mc:Choice>
        <mc:Fallback xmlns="">
          <p:graphicFrame>
            <p:nvGraphicFramePr>
              <p:cNvPr id="35" name="Table 34">
                <a:extLst>
                  <a:ext uri="{FF2B5EF4-FFF2-40B4-BE49-F238E27FC236}">
                    <a16:creationId xmlns:a16="http://schemas.microsoft.com/office/drawing/2014/main" id="{1E2F21BB-5FC1-F9A8-2D3A-AC5B0DA2A8C2}"/>
                  </a:ext>
                </a:extLst>
              </p:cNvPr>
              <p:cNvGraphicFramePr>
                <a:graphicFrameLocks noGrp="1"/>
              </p:cNvGraphicFramePr>
              <p:nvPr>
                <p:extLst>
                  <p:ext uri="{D42A27DB-BD31-4B8C-83A1-F6EECF244321}">
                    <p14:modId xmlns:p14="http://schemas.microsoft.com/office/powerpoint/2010/main" val="3806844411"/>
                  </p:ext>
                </p:extLst>
              </p:nvPr>
            </p:nvGraphicFramePr>
            <p:xfrm>
              <a:off x="22783800" y="18135600"/>
              <a:ext cx="6118984" cy="3679317"/>
            </p:xfrm>
            <a:graphic>
              <a:graphicData uri="http://schemas.openxmlformats.org/drawingml/2006/table">
                <a:tbl>
                  <a:tblPr firstRow="1" bandRow="1">
                    <a:tableStyleId>{5C22544A-7EE6-4342-B048-85BDC9FD1C3A}</a:tableStyleId>
                  </a:tblPr>
                  <a:tblGrid>
                    <a:gridCol w="1529746">
                      <a:extLst>
                        <a:ext uri="{9D8B030D-6E8A-4147-A177-3AD203B41FA5}">
                          <a16:colId xmlns:a16="http://schemas.microsoft.com/office/drawing/2014/main" val="3408067011"/>
                        </a:ext>
                      </a:extLst>
                    </a:gridCol>
                    <a:gridCol w="1529746">
                      <a:extLst>
                        <a:ext uri="{9D8B030D-6E8A-4147-A177-3AD203B41FA5}">
                          <a16:colId xmlns:a16="http://schemas.microsoft.com/office/drawing/2014/main" val="2848599497"/>
                        </a:ext>
                      </a:extLst>
                    </a:gridCol>
                    <a:gridCol w="1529746">
                      <a:extLst>
                        <a:ext uri="{9D8B030D-6E8A-4147-A177-3AD203B41FA5}">
                          <a16:colId xmlns:a16="http://schemas.microsoft.com/office/drawing/2014/main" val="666132706"/>
                        </a:ext>
                      </a:extLst>
                    </a:gridCol>
                    <a:gridCol w="1529746">
                      <a:extLst>
                        <a:ext uri="{9D8B030D-6E8A-4147-A177-3AD203B41FA5}">
                          <a16:colId xmlns:a16="http://schemas.microsoft.com/office/drawing/2014/main" val="2074557388"/>
                        </a:ext>
                      </a:extLst>
                    </a:gridCol>
                  </a:tblGrid>
                  <a:tr h="365760">
                    <a:tc>
                      <a:txBody>
                        <a:bodyPr/>
                        <a:lstStyle/>
                        <a:p>
                          <a:pPr algn="ctr" latinLnBrk="1"/>
                          <a:r>
                            <a:rPr lang="en-US" altLang="ko-KR" sz="1800" dirty="0"/>
                            <a:t>Parameters</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1</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2</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extLst>
                      <a:ext uri="{0D108BD9-81ED-4DB2-BD59-A6C34878D82A}">
                        <a16:rowId xmlns:a16="http://schemas.microsoft.com/office/drawing/2014/main" val="3048101084"/>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6"/>
                          <a:stretch>
                            <a:fillRect l="-398" t="-108333" r="-301195" b="-833333"/>
                          </a:stretch>
                        </a:blipFill>
                      </a:tcPr>
                    </a:tc>
                    <a:tc>
                      <a:txBody>
                        <a:bodyPr/>
                        <a:lstStyle/>
                        <a:p>
                          <a:pPr algn="ctr" latinLnBrk="1"/>
                          <a:r>
                            <a:rPr lang="en-US" altLang="ko-KR" sz="1800" dirty="0"/>
                            <a:t>-1.3484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4.5648</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 (S/C)</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506114"/>
                      </a:ext>
                    </a:extLst>
                  </a:tr>
                  <a:tr h="387477">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6"/>
                          <a:stretch>
                            <a:fillRect l="-398" t="-195313" r="-301195" b="-681250"/>
                          </a:stretch>
                        </a:blipFill>
                      </a:tcPr>
                    </a:tc>
                    <a:tc>
                      <a:txBody>
                        <a:bodyPr/>
                        <a:lstStyle/>
                        <a:p>
                          <a:pPr algn="ctr" latinLnBrk="1"/>
                          <a:r>
                            <a:rPr lang="en-US" altLang="ko-KR" sz="1800" dirty="0"/>
                            <a:t>0.9816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1.9726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-1.3423 (S/C)</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526537"/>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6"/>
                          <a:stretch>
                            <a:fillRect l="-398" t="-315000" r="-301195" b="-626667"/>
                          </a:stretch>
                        </a:blipFill>
                      </a:tcPr>
                    </a:tc>
                    <a:tc>
                      <a:txBody>
                        <a:bodyPr/>
                        <a:lstStyle/>
                        <a:p>
                          <a:pPr algn="ctr" latinLnBrk="1"/>
                          <a:r>
                            <a:rPr lang="en-US" altLang="ko-KR" sz="1800" dirty="0"/>
                            <a:t>0.0536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-0.1103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 (S/C)</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4292524"/>
                      </a:ext>
                    </a:extLst>
                  </a:tr>
                  <a:tr h="365760">
                    <a:tc>
                      <a:txBody>
                        <a:bodyPr/>
                        <a:lstStyle/>
                        <a:p>
                          <a:pPr algn="ctr" latinLnBrk="1"/>
                          <a:r>
                            <a:rPr lang="en-US" altLang="ko-KR" sz="1800" dirty="0"/>
                            <a:t>r (AU)</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1.6687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4.974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5.9979</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4401372"/>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6"/>
                          <a:stretch>
                            <a:fillRect l="-398" t="-515000" r="-301195" b="-426667"/>
                          </a:stretch>
                        </a:blipFill>
                      </a:tcPr>
                    </a:tc>
                    <a:tc>
                      <a:txBody>
                        <a:bodyPr/>
                        <a:lstStyle/>
                        <a:p>
                          <a:pPr algn="ctr" latinLnBrk="1"/>
                          <a:r>
                            <a:rPr lang="en-US" altLang="ko-KR" sz="1800" dirty="0"/>
                            <a:t>30.143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54.021</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84.162</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846426"/>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6"/>
                          <a:stretch>
                            <a:fillRect l="-398" t="-615000" r="-301195" b="-326667"/>
                          </a:stretch>
                        </a:blipFill>
                      </a:tcPr>
                    </a:tc>
                    <a:tc>
                      <a:txBody>
                        <a:bodyPr/>
                        <a:lstStyle/>
                        <a:p>
                          <a:pPr algn="ctr" latinLnBrk="1"/>
                          <a:r>
                            <a:rPr lang="en-US" altLang="ko-KR" sz="1800" dirty="0"/>
                            <a:t>1.6615</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3.0733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N/A</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2241181"/>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6"/>
                          <a:stretch>
                            <a:fillRect l="-398" t="-715000" r="-301195" b="-226667"/>
                          </a:stretch>
                        </a:blipFill>
                      </a:tcPr>
                    </a:tc>
                    <a:tc>
                      <a:txBody>
                        <a:bodyPr/>
                        <a:lstStyle/>
                        <a:p>
                          <a:pPr algn="ctr" latinLnBrk="1"/>
                          <a:r>
                            <a:rPr lang="en-US" altLang="ko-KR" sz="1800" dirty="0"/>
                            <a:t>60.175</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77.386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N/A</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259998"/>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6"/>
                          <a:stretch>
                            <a:fillRect l="-398" t="-815000" r="-301195" b="-126667"/>
                          </a:stretch>
                        </a:blipFill>
                      </a:tcPr>
                    </a:tc>
                    <a:tc>
                      <a:txBody>
                        <a:bodyPr/>
                        <a:lstStyle/>
                        <a:p>
                          <a:pPr algn="ctr" latinLnBrk="1"/>
                          <a:r>
                            <a:rPr lang="en-US" altLang="ko-KR" sz="1800" dirty="0"/>
                            <a:t>59.857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35.979</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N/A</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848500"/>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6"/>
                          <a:stretch>
                            <a:fillRect l="-398" t="-915000" r="-301195" b="-26667"/>
                          </a:stretch>
                        </a:blipFill>
                      </a:tcPr>
                    </a:tc>
                    <a:tc>
                      <a:txBody>
                        <a:bodyPr/>
                        <a:lstStyle/>
                        <a:p>
                          <a:pPr algn="ctr" latinLnBrk="1"/>
                          <a:r>
                            <a:rPr lang="en-US" altLang="ko-KR" sz="1800" dirty="0"/>
                            <a:t>2.6873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5.6425</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6"/>
                          <a:stretch>
                            <a:fillRect l="-300797" t="-915000" r="-797" b="-26667"/>
                          </a:stretch>
                        </a:blipFill>
                      </a:tcPr>
                    </a:tc>
                    <a:extLst>
                      <a:ext uri="{0D108BD9-81ED-4DB2-BD59-A6C34878D82A}">
                        <a16:rowId xmlns:a16="http://schemas.microsoft.com/office/drawing/2014/main" val="198437892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6" name="Table 35">
                <a:extLst>
                  <a:ext uri="{FF2B5EF4-FFF2-40B4-BE49-F238E27FC236}">
                    <a16:creationId xmlns:a16="http://schemas.microsoft.com/office/drawing/2014/main" id="{5831351C-7D01-A1FB-C18C-5905C896FB16}"/>
                  </a:ext>
                </a:extLst>
              </p:cNvPr>
              <p:cNvGraphicFramePr>
                <a:graphicFrameLocks noGrp="1"/>
              </p:cNvGraphicFramePr>
              <p:nvPr>
                <p:extLst>
                  <p:ext uri="{D42A27DB-BD31-4B8C-83A1-F6EECF244321}">
                    <p14:modId xmlns:p14="http://schemas.microsoft.com/office/powerpoint/2010/main" val="570741544"/>
                  </p:ext>
                </p:extLst>
              </p:nvPr>
            </p:nvGraphicFramePr>
            <p:xfrm>
              <a:off x="22783802" y="22065708"/>
              <a:ext cx="6118985" cy="2249805"/>
            </p:xfrm>
            <a:graphic>
              <a:graphicData uri="http://schemas.openxmlformats.org/drawingml/2006/table">
                <a:tbl>
                  <a:tblPr firstRow="1" bandRow="1">
                    <a:tableStyleId>{5C22544A-7EE6-4342-B048-85BDC9FD1C3A}</a:tableStyleId>
                  </a:tblPr>
                  <a:tblGrid>
                    <a:gridCol w="1223797">
                      <a:extLst>
                        <a:ext uri="{9D8B030D-6E8A-4147-A177-3AD203B41FA5}">
                          <a16:colId xmlns:a16="http://schemas.microsoft.com/office/drawing/2014/main" val="3408067011"/>
                        </a:ext>
                      </a:extLst>
                    </a:gridCol>
                    <a:gridCol w="1223797">
                      <a:extLst>
                        <a:ext uri="{9D8B030D-6E8A-4147-A177-3AD203B41FA5}">
                          <a16:colId xmlns:a16="http://schemas.microsoft.com/office/drawing/2014/main" val="2848599497"/>
                        </a:ext>
                      </a:extLst>
                    </a:gridCol>
                    <a:gridCol w="1223797">
                      <a:extLst>
                        <a:ext uri="{9D8B030D-6E8A-4147-A177-3AD203B41FA5}">
                          <a16:colId xmlns:a16="http://schemas.microsoft.com/office/drawing/2014/main" val="666132706"/>
                        </a:ext>
                      </a:extLst>
                    </a:gridCol>
                    <a:gridCol w="1223797">
                      <a:extLst>
                        <a:ext uri="{9D8B030D-6E8A-4147-A177-3AD203B41FA5}">
                          <a16:colId xmlns:a16="http://schemas.microsoft.com/office/drawing/2014/main" val="2074557388"/>
                        </a:ext>
                      </a:extLst>
                    </a:gridCol>
                    <a:gridCol w="1223797">
                      <a:extLst>
                        <a:ext uri="{9D8B030D-6E8A-4147-A177-3AD203B41FA5}">
                          <a16:colId xmlns:a16="http://schemas.microsoft.com/office/drawing/2014/main" val="972478851"/>
                        </a:ext>
                      </a:extLst>
                    </a:gridCol>
                  </a:tblGrid>
                  <a:tr h="0">
                    <a:tc>
                      <a:txBody>
                        <a:bodyPr/>
                        <a:lstStyle/>
                        <a:p>
                          <a:pPr algn="ctr" latinLnBrk="1"/>
                          <a14:m>
                            <m:oMathPara xmlns:m="http://schemas.openxmlformats.org/officeDocument/2006/math">
                              <m:oMathParaPr>
                                <m:jc m:val="centerGroup"/>
                              </m:oMathParaPr>
                              <m:oMath xmlns:m="http://schemas.openxmlformats.org/officeDocument/2006/math">
                                <m:sSubSup>
                                  <m:sSubSupPr>
                                    <m:ctrlPr>
                                      <a:rPr lang="en-US" altLang="ko-KR" sz="1800" b="1" i="1" smtClean="0">
                                        <a:latin typeface="Cambria Math" panose="02040503050406030204" pitchFamily="18" charset="0"/>
                                      </a:rPr>
                                    </m:ctrlPr>
                                  </m:sSubSupPr>
                                  <m:e>
                                    <m:r>
                                      <a:rPr lang="en-US" altLang="ko-KR" sz="1800" b="1" i="1" smtClean="0">
                                        <a:latin typeface="Cambria Math" panose="02040503050406030204" pitchFamily="18" charset="0"/>
                                      </a:rPr>
                                      <m:t>𝒔</m:t>
                                    </m:r>
                                  </m:e>
                                  <m:sub>
                                    <m:r>
                                      <a:rPr lang="en-US" altLang="ko-KR" sz="1800" b="1" i="1" smtClean="0">
                                        <a:latin typeface="Cambria Math" panose="02040503050406030204" pitchFamily="18" charset="0"/>
                                      </a:rPr>
                                      <m:t>𝝓</m:t>
                                    </m:r>
                                  </m:sub>
                                  <m:sup>
                                    <m:r>
                                      <a:rPr lang="en-US" altLang="ko-KR" sz="1800" b="1" i="1" smtClean="0">
                                        <a:latin typeface="Cambria Math" panose="02040503050406030204" pitchFamily="18" charset="0"/>
                                      </a:rPr>
                                      <m:t>𝟏</m:t>
                                    </m:r>
                                  </m:sup>
                                </m:sSubSup>
                                <m:sSubSup>
                                  <m:sSubSupPr>
                                    <m:ctrlPr>
                                      <a:rPr lang="en-US" altLang="ko-KR" sz="1800" b="1" i="1" smtClean="0">
                                        <a:latin typeface="Cambria Math" panose="02040503050406030204" pitchFamily="18" charset="0"/>
                                      </a:rPr>
                                    </m:ctrlPr>
                                  </m:sSubSupPr>
                                  <m:e>
                                    <m:r>
                                      <a:rPr lang="en-US" altLang="ko-KR" sz="1800" b="1" i="1" smtClean="0">
                                        <a:latin typeface="Cambria Math" panose="02040503050406030204" pitchFamily="18" charset="0"/>
                                      </a:rPr>
                                      <m:t>𝒔</m:t>
                                    </m:r>
                                  </m:e>
                                  <m:sub>
                                    <m:r>
                                      <a:rPr lang="en-US" altLang="ko-KR" sz="1800" b="1" i="1" smtClean="0">
                                        <a:latin typeface="Cambria Math" panose="02040503050406030204" pitchFamily="18" charset="0"/>
                                      </a:rPr>
                                      <m:t>𝝓</m:t>
                                    </m:r>
                                  </m:sub>
                                  <m:sup>
                                    <m:r>
                                      <a:rPr lang="en-US" altLang="ko-KR" sz="1800" b="1" i="1" smtClean="0">
                                        <a:latin typeface="Cambria Math" panose="02040503050406030204" pitchFamily="18" charset="0"/>
                                      </a:rPr>
                                      <m:t>𝟐</m:t>
                                    </m:r>
                                  </m:sup>
                                </m:sSubSup>
                                <m:sSubSup>
                                  <m:sSubSupPr>
                                    <m:ctrlPr>
                                      <a:rPr lang="en-US" altLang="ko-KR" sz="1800" b="1" i="1" smtClean="0">
                                        <a:latin typeface="Cambria Math" panose="02040503050406030204" pitchFamily="18" charset="0"/>
                                      </a:rPr>
                                    </m:ctrlPr>
                                  </m:sSubSupPr>
                                  <m:e>
                                    <m:r>
                                      <a:rPr lang="en-US" altLang="ko-KR" sz="1800" b="1" i="1" smtClean="0">
                                        <a:latin typeface="Cambria Math" panose="02040503050406030204" pitchFamily="18" charset="0"/>
                                      </a:rPr>
                                      <m:t>𝒔</m:t>
                                    </m:r>
                                  </m:e>
                                  <m:sub>
                                    <m:r>
                                      <a:rPr lang="en-US" altLang="ko-KR" sz="1800" b="1" i="1" smtClean="0">
                                        <a:latin typeface="Cambria Math" panose="02040503050406030204" pitchFamily="18" charset="0"/>
                                      </a:rPr>
                                      <m:t>𝜸</m:t>
                                    </m:r>
                                  </m:sub>
                                  <m:sup>
                                    <m:r>
                                      <a:rPr lang="en-US" altLang="ko-KR" sz="1800" b="1" i="1" smtClean="0">
                                        <a:latin typeface="Cambria Math" panose="02040503050406030204" pitchFamily="18" charset="0"/>
                                      </a:rPr>
                                      <m:t>𝟏</m:t>
                                    </m:r>
                                  </m:sup>
                                </m:sSubSup>
                                <m:sSubSup>
                                  <m:sSubSupPr>
                                    <m:ctrlPr>
                                      <a:rPr lang="en-US" altLang="ko-KR" sz="1800" b="1" i="1" smtClean="0">
                                        <a:latin typeface="Cambria Math" panose="02040503050406030204" pitchFamily="18" charset="0"/>
                                      </a:rPr>
                                    </m:ctrlPr>
                                  </m:sSubSupPr>
                                  <m:e>
                                    <m:r>
                                      <a:rPr lang="en-US" altLang="ko-KR" sz="1800" b="1" i="1" smtClean="0">
                                        <a:latin typeface="Cambria Math" panose="02040503050406030204" pitchFamily="18" charset="0"/>
                                      </a:rPr>
                                      <m:t>𝒔</m:t>
                                    </m:r>
                                  </m:e>
                                  <m:sub>
                                    <m:r>
                                      <a:rPr lang="en-US" altLang="ko-KR" sz="1800" b="1" i="1" smtClean="0">
                                        <a:latin typeface="Cambria Math" panose="02040503050406030204" pitchFamily="18" charset="0"/>
                                      </a:rPr>
                                      <m:t>𝜸</m:t>
                                    </m:r>
                                  </m:sub>
                                  <m:sup>
                                    <m:r>
                                      <a:rPr lang="en-US" altLang="ko-KR" sz="1800" b="1" i="1" smtClean="0">
                                        <a:latin typeface="Cambria Math" panose="02040503050406030204" pitchFamily="18" charset="0"/>
                                      </a:rPr>
                                      <m:t>𝟐</m:t>
                                    </m:r>
                                  </m:sup>
                                </m:sSubSup>
                              </m:oMath>
                            </m:oMathPara>
                          </a14:m>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 -, +, +</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 -, +, +</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 +, +, +</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b="1" dirty="0"/>
                            <a:t>+, +, +, +</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extLst>
                      <a:ext uri="{0D108BD9-81ED-4DB2-BD59-A6C34878D82A}">
                        <a16:rowId xmlns:a16="http://schemas.microsoft.com/office/drawing/2014/main" val="3048101084"/>
                      </a:ext>
                    </a:extLst>
                  </a:tr>
                  <a:tr h="0">
                    <a:tc>
                      <a:txBody>
                        <a:bodyPr/>
                        <a:lstStyle/>
                        <a:p>
                          <a:pPr algn="ctr" latinLnBrk="1"/>
                          <a14:m>
                            <m:oMathPara xmlns:m="http://schemas.openxmlformats.org/officeDocument/2006/math">
                              <m:oMathParaPr>
                                <m:jc m:val="centerGroup"/>
                              </m:oMathParaPr>
                              <m:oMath xmlns:m="http://schemas.openxmlformats.org/officeDocument/2006/math">
                                <m:sSub>
                                  <m:sSubPr>
                                    <m:ctrlPr>
                                      <a:rPr lang="en-US" altLang="ko-KR" sz="1800" b="0" i="1" smtClean="0">
                                        <a:latin typeface="Cambria Math" panose="02040503050406030204" pitchFamily="18" charset="0"/>
                                      </a:rPr>
                                    </m:ctrlPr>
                                  </m:sSubPr>
                                  <m:e>
                                    <m:r>
                                      <a:rPr lang="en-US" altLang="ko-KR" sz="1800" b="0" i="1" smtClean="0">
                                        <a:latin typeface="Cambria Math" panose="02040503050406030204" pitchFamily="18" charset="0"/>
                                      </a:rPr>
                                      <m:t>𝛿</m:t>
                                    </m:r>
                                  </m:e>
                                  <m:sub>
                                    <m:r>
                                      <a:rPr lang="en-US" altLang="ko-KR" sz="1800" b="0" i="1" smtClean="0">
                                        <a:latin typeface="Cambria Math" panose="02040503050406030204" pitchFamily="18" charset="0"/>
                                      </a:rPr>
                                      <m:t>1</m:t>
                                    </m:r>
                                  </m:sub>
                                </m:sSub>
                                <m:r>
                                  <a:rPr lang="en-US" altLang="ko-KR" sz="1800" b="0" i="1" smtClean="0">
                                    <a:latin typeface="Cambria Math" panose="02040503050406030204" pitchFamily="18" charset="0"/>
                                  </a:rPr>
                                  <m:t> </m:t>
                                </m:r>
                                <m:d>
                                  <m:dPr>
                                    <m:ctrlPr>
                                      <a:rPr lang="en-US" altLang="ko-KR" sz="1800" b="0" i="1" smtClean="0">
                                        <a:latin typeface="Cambria Math" panose="02040503050406030204" pitchFamily="18" charset="0"/>
                                      </a:rPr>
                                    </m:ctrlPr>
                                  </m:dPr>
                                  <m:e>
                                    <m:r>
                                      <a:rPr lang="en-US" altLang="ko-KR" sz="1800" b="0" i="1" smtClean="0">
                                        <a:latin typeface="Cambria Math" panose="02040503050406030204" pitchFamily="18" charset="0"/>
                                      </a:rPr>
                                      <m:t>°</m:t>
                                    </m:r>
                                  </m:e>
                                </m:d>
                              </m:oMath>
                            </m:oMathPara>
                          </a14:m>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-6.3187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126.03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-6.3187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b="1" dirty="0"/>
                            <a:t>126.03</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506114"/>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ko-KR" sz="1800" b="0" i="1" smtClean="0">
                                        <a:latin typeface="Cambria Math" panose="02040503050406030204" pitchFamily="18" charset="0"/>
                                      </a:rPr>
                                    </m:ctrlPr>
                                  </m:sSubPr>
                                  <m:e>
                                    <m:r>
                                      <a:rPr lang="en-US" altLang="ko-KR" sz="1800" b="0" i="1" smtClean="0">
                                        <a:latin typeface="Cambria Math" panose="02040503050406030204" pitchFamily="18" charset="0"/>
                                      </a:rPr>
                                      <m:t>𝛿</m:t>
                                    </m:r>
                                  </m:e>
                                  <m:sub>
                                    <m:r>
                                      <a:rPr lang="en-US" altLang="ko-KR" sz="1800" b="0" i="1" smtClean="0">
                                        <a:latin typeface="Cambria Math" panose="02040503050406030204" pitchFamily="18" charset="0"/>
                                      </a:rPr>
                                      <m:t>2</m:t>
                                    </m:r>
                                  </m:sub>
                                </m:sSub>
                                <m:r>
                                  <a:rPr lang="en-US" altLang="ko-KR" sz="1800" b="0" i="1" smtClean="0">
                                    <a:latin typeface="Cambria Math" panose="02040503050406030204" pitchFamily="18" charset="0"/>
                                  </a:rPr>
                                  <m:t> </m:t>
                                </m:r>
                                <m:d>
                                  <m:dPr>
                                    <m:ctrlPr>
                                      <a:rPr lang="en-US" altLang="ko-KR" sz="1800" b="0" i="1" smtClean="0">
                                        <a:latin typeface="Cambria Math" panose="02040503050406030204" pitchFamily="18" charset="0"/>
                                      </a:rPr>
                                    </m:ctrlPr>
                                  </m:dPr>
                                  <m:e>
                                    <m:r>
                                      <a:rPr lang="en-US" altLang="ko-KR" sz="1800" b="0" i="1" smtClean="0">
                                        <a:latin typeface="Cambria Math" panose="02040503050406030204" pitchFamily="18" charset="0"/>
                                      </a:rPr>
                                      <m:t>°</m:t>
                                    </m:r>
                                  </m:e>
                                </m:d>
                              </m:oMath>
                            </m:oMathPara>
                          </a14:m>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-41.407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113.36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-41.407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b="1" dirty="0"/>
                            <a:t>113.36</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4401372"/>
                      </a:ext>
                    </a:extLst>
                  </a:tr>
                  <a:tr h="0">
                    <a:tc>
                      <a:txBody>
                        <a:bodyPr/>
                        <a:lstStyle/>
                        <a:p>
                          <a:pPr algn="ctr" latinLnBrk="1"/>
                          <a14:m>
                            <m:oMath xmlns:m="http://schemas.openxmlformats.org/officeDocument/2006/math">
                              <m:sSub>
                                <m:sSubPr>
                                  <m:ctrlPr>
                                    <a:rPr lang="en-US" altLang="ko-KR" sz="1800" b="0" i="1" smtClean="0">
                                      <a:latin typeface="Cambria Math" panose="02040503050406030204" pitchFamily="18" charset="0"/>
                                    </a:rPr>
                                  </m:ctrlPr>
                                </m:sSubPr>
                                <m:e>
                                  <m:r>
                                    <a:rPr lang="en-US" altLang="ko-KR" sz="1800" b="0" i="1" smtClean="0">
                                      <a:latin typeface="Cambria Math" panose="02040503050406030204" pitchFamily="18" charset="0"/>
                                    </a:rPr>
                                    <m:t>𝑦</m:t>
                                  </m:r>
                                </m:e>
                                <m:sub>
                                  <m:r>
                                    <a:rPr lang="en-US" altLang="ko-KR" sz="1800" b="0" i="1" smtClean="0">
                                      <a:latin typeface="Cambria Math" panose="02040503050406030204" pitchFamily="18" charset="0"/>
                                    </a:rPr>
                                    <m:t>1</m:t>
                                  </m:r>
                                </m:sub>
                              </m:sSub>
                            </m:oMath>
                          </a14:m>
                          <a:r>
                            <a:rPr lang="ko-KR" altLang="en-US" sz="1800" dirty="0"/>
                            <a:t> </a:t>
                          </a:r>
                          <a:r>
                            <a:rPr lang="en-US" altLang="ko-KR" sz="1800" dirty="0"/>
                            <a:t>(AU)</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-0.3657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dirty="0"/>
                            <a:t>2.6873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-0.3657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b="1" dirty="0"/>
                            <a:t>2.6873</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84642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14:m>
                            <m:oMath xmlns:m="http://schemas.openxmlformats.org/officeDocument/2006/math">
                              <m:sSub>
                                <m:sSubPr>
                                  <m:ctrlPr>
                                    <a:rPr lang="en-US" altLang="ko-KR" sz="1800" b="0" i="1" smtClean="0">
                                      <a:latin typeface="Cambria Math" panose="02040503050406030204" pitchFamily="18" charset="0"/>
                                    </a:rPr>
                                  </m:ctrlPr>
                                </m:sSubPr>
                                <m:e>
                                  <m:r>
                                    <a:rPr lang="en-US" altLang="ko-KR" sz="1800" b="0" i="1" smtClean="0">
                                      <a:latin typeface="Cambria Math" panose="02040503050406030204" pitchFamily="18" charset="0"/>
                                    </a:rPr>
                                    <m:t>𝑦</m:t>
                                  </m:r>
                                </m:e>
                                <m:sub>
                                  <m:r>
                                    <a:rPr lang="en-US" altLang="ko-KR" sz="1800" b="0" i="1" smtClean="0">
                                      <a:latin typeface="Cambria Math" panose="02040503050406030204" pitchFamily="18" charset="0"/>
                                    </a:rPr>
                                    <m:t>2</m:t>
                                  </m:r>
                                </m:sub>
                              </m:sSub>
                            </m:oMath>
                          </a14:m>
                          <a:r>
                            <a:rPr lang="ko-KR" altLang="en-US" sz="1800" dirty="0"/>
                            <a:t> </a:t>
                          </a:r>
                          <a:r>
                            <a:rPr lang="en-US" altLang="ko-KR" sz="1800" dirty="0"/>
                            <a:t>(AU)</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-4.0654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dirty="0"/>
                            <a:t>-4.0654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5.6425</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b="1" dirty="0"/>
                            <a:t>5.6425</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2241181"/>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ko-KR" sz="1800" b="0" i="1" smtClean="0">
                                    <a:latin typeface="Cambria Math" panose="02040503050406030204" pitchFamily="18" charset="0"/>
                                  </a:rPr>
                                  <m:t>𝐷</m:t>
                                </m:r>
                              </m:oMath>
                            </m:oMathPara>
                          </a14:m>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 -19.616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-10.004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-3.5832</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b="1" dirty="0"/>
                            <a:t>-3.55e-14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259998"/>
                      </a:ext>
                    </a:extLst>
                  </a:tr>
                </a:tbl>
              </a:graphicData>
            </a:graphic>
          </p:graphicFrame>
        </mc:Choice>
        <mc:Fallback xmlns="">
          <p:graphicFrame>
            <p:nvGraphicFramePr>
              <p:cNvPr id="36" name="Table 35">
                <a:extLst>
                  <a:ext uri="{FF2B5EF4-FFF2-40B4-BE49-F238E27FC236}">
                    <a16:creationId xmlns:a16="http://schemas.microsoft.com/office/drawing/2014/main" id="{5831351C-7D01-A1FB-C18C-5905C896FB16}"/>
                  </a:ext>
                </a:extLst>
              </p:cNvPr>
              <p:cNvGraphicFramePr>
                <a:graphicFrameLocks noGrp="1"/>
              </p:cNvGraphicFramePr>
              <p:nvPr>
                <p:extLst>
                  <p:ext uri="{D42A27DB-BD31-4B8C-83A1-F6EECF244321}">
                    <p14:modId xmlns:p14="http://schemas.microsoft.com/office/powerpoint/2010/main" val="570741544"/>
                  </p:ext>
                </p:extLst>
              </p:nvPr>
            </p:nvGraphicFramePr>
            <p:xfrm>
              <a:off x="22783802" y="22065708"/>
              <a:ext cx="6118985" cy="2249805"/>
            </p:xfrm>
            <a:graphic>
              <a:graphicData uri="http://schemas.openxmlformats.org/drawingml/2006/table">
                <a:tbl>
                  <a:tblPr firstRow="1" bandRow="1">
                    <a:tableStyleId>{5C22544A-7EE6-4342-B048-85BDC9FD1C3A}</a:tableStyleId>
                  </a:tblPr>
                  <a:tblGrid>
                    <a:gridCol w="1223797">
                      <a:extLst>
                        <a:ext uri="{9D8B030D-6E8A-4147-A177-3AD203B41FA5}">
                          <a16:colId xmlns:a16="http://schemas.microsoft.com/office/drawing/2014/main" val="3408067011"/>
                        </a:ext>
                      </a:extLst>
                    </a:gridCol>
                    <a:gridCol w="1223797">
                      <a:extLst>
                        <a:ext uri="{9D8B030D-6E8A-4147-A177-3AD203B41FA5}">
                          <a16:colId xmlns:a16="http://schemas.microsoft.com/office/drawing/2014/main" val="2848599497"/>
                        </a:ext>
                      </a:extLst>
                    </a:gridCol>
                    <a:gridCol w="1223797">
                      <a:extLst>
                        <a:ext uri="{9D8B030D-6E8A-4147-A177-3AD203B41FA5}">
                          <a16:colId xmlns:a16="http://schemas.microsoft.com/office/drawing/2014/main" val="666132706"/>
                        </a:ext>
                      </a:extLst>
                    </a:gridCol>
                    <a:gridCol w="1223797">
                      <a:extLst>
                        <a:ext uri="{9D8B030D-6E8A-4147-A177-3AD203B41FA5}">
                          <a16:colId xmlns:a16="http://schemas.microsoft.com/office/drawing/2014/main" val="2074557388"/>
                        </a:ext>
                      </a:extLst>
                    </a:gridCol>
                    <a:gridCol w="1223797">
                      <a:extLst>
                        <a:ext uri="{9D8B030D-6E8A-4147-A177-3AD203B41FA5}">
                          <a16:colId xmlns:a16="http://schemas.microsoft.com/office/drawing/2014/main" val="972478851"/>
                        </a:ext>
                      </a:extLst>
                    </a:gridCol>
                  </a:tblGrid>
                  <a:tr h="421005">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7"/>
                          <a:stretch>
                            <a:fillRect l="-498" t="-1449" r="-400995" b="-459420"/>
                          </a:stretch>
                        </a:blipFill>
                      </a:tcPr>
                    </a:tc>
                    <a:tc>
                      <a:txBody>
                        <a:bodyPr/>
                        <a:lstStyle/>
                        <a:p>
                          <a:pPr algn="ctr" latinLnBrk="1"/>
                          <a:r>
                            <a:rPr lang="en-US" altLang="ko-KR" sz="1800" dirty="0"/>
                            <a:t>-, -, +, +</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 -, +, +</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 +, +, +</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b="1" dirty="0"/>
                            <a:t>+, +, +, +</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extLst>
                      <a:ext uri="{0D108BD9-81ED-4DB2-BD59-A6C34878D82A}">
                        <a16:rowId xmlns:a16="http://schemas.microsoft.com/office/drawing/2014/main" val="3048101084"/>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7"/>
                          <a:stretch>
                            <a:fillRect l="-498" t="-116667" r="-400995" b="-428333"/>
                          </a:stretch>
                        </a:blipFill>
                      </a:tcPr>
                    </a:tc>
                    <a:tc>
                      <a:txBody>
                        <a:bodyPr/>
                        <a:lstStyle/>
                        <a:p>
                          <a:pPr algn="ctr" latinLnBrk="1"/>
                          <a:r>
                            <a:rPr lang="en-US" altLang="ko-KR" sz="1800" dirty="0"/>
                            <a:t>-6.3187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126.03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-6.3187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b="1" dirty="0"/>
                            <a:t>126.03</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506114"/>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7"/>
                          <a:stretch>
                            <a:fillRect l="-498" t="-213115" r="-400995" b="-321311"/>
                          </a:stretch>
                        </a:blipFill>
                      </a:tcPr>
                    </a:tc>
                    <a:tc>
                      <a:txBody>
                        <a:bodyPr/>
                        <a:lstStyle/>
                        <a:p>
                          <a:pPr algn="ctr" latinLnBrk="1"/>
                          <a:r>
                            <a:rPr lang="en-US" altLang="ko-KR" sz="1800" dirty="0"/>
                            <a:t>-41.407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113.36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-41.407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b="1" dirty="0"/>
                            <a:t>113.36</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4401372"/>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7"/>
                          <a:stretch>
                            <a:fillRect l="-498" t="-318333" r="-400995" b="-226667"/>
                          </a:stretch>
                        </a:blipFill>
                      </a:tcPr>
                    </a:tc>
                    <a:tc>
                      <a:txBody>
                        <a:bodyPr/>
                        <a:lstStyle/>
                        <a:p>
                          <a:pPr algn="ctr" latinLnBrk="1"/>
                          <a:r>
                            <a:rPr lang="en-US" altLang="ko-KR" sz="1800" dirty="0"/>
                            <a:t>-0.3657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dirty="0"/>
                            <a:t>2.6873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-0.3657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b="1" dirty="0"/>
                            <a:t>2.6873</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846426"/>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7"/>
                          <a:stretch>
                            <a:fillRect l="-498" t="-418333" r="-400995" b="-126667"/>
                          </a:stretch>
                        </a:blipFill>
                      </a:tcPr>
                    </a:tc>
                    <a:tc>
                      <a:txBody>
                        <a:bodyPr/>
                        <a:lstStyle/>
                        <a:p>
                          <a:pPr algn="ctr" latinLnBrk="1"/>
                          <a:r>
                            <a:rPr lang="en-US" altLang="ko-KR" sz="1800" dirty="0"/>
                            <a:t>-4.0654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dirty="0"/>
                            <a:t>-4.0654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5.6425</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b="1" dirty="0"/>
                            <a:t>5.6425</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2241181"/>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7"/>
                          <a:stretch>
                            <a:fillRect l="-498" t="-518333" r="-400995" b="-26667"/>
                          </a:stretch>
                        </a:blipFill>
                      </a:tcPr>
                    </a:tc>
                    <a:tc>
                      <a:txBody>
                        <a:bodyPr/>
                        <a:lstStyle/>
                        <a:p>
                          <a:pPr algn="ctr" latinLnBrk="1"/>
                          <a:r>
                            <a:rPr lang="en-US" altLang="ko-KR" sz="1800" dirty="0"/>
                            <a:t> -19.616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-10.004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-3.5832</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b="1" dirty="0"/>
                            <a:t>-3.55e-14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259998"/>
                      </a:ext>
                    </a:extLst>
                  </a:tr>
                </a:tbl>
              </a:graphicData>
            </a:graphic>
          </p:graphicFrame>
        </mc:Fallback>
      </mc:AlternateContent>
      <mc:AlternateContent xmlns:mc="http://schemas.openxmlformats.org/markup-compatibility/2006" xmlns:a14="http://schemas.microsoft.com/office/drawing/2010/main">
        <mc:Choice Requires="a14">
          <p:sp>
            <p:nvSpPr>
              <p:cNvPr id="37" name="Text Box 18">
                <a:extLst>
                  <a:ext uri="{FF2B5EF4-FFF2-40B4-BE49-F238E27FC236}">
                    <a16:creationId xmlns:a16="http://schemas.microsoft.com/office/drawing/2014/main" id="{96BBCE00-8645-7646-C1C5-F265A31A2CC3}"/>
                  </a:ext>
                </a:extLst>
              </p:cNvPr>
              <p:cNvSpPr txBox="1">
                <a:spLocks noChangeArrowheads="1"/>
              </p:cNvSpPr>
              <p:nvPr/>
            </p:nvSpPr>
            <p:spPr bwMode="auto">
              <a:xfrm>
                <a:off x="15453360" y="18372098"/>
                <a:ext cx="7280959" cy="6011902"/>
              </a:xfrm>
              <a:prstGeom prst="rect">
                <a:avLst/>
              </a:prstGeom>
              <a:noFill/>
              <a:ln w="9525">
                <a:noFill/>
                <a:miter lim="800000"/>
                <a:headEnd/>
                <a:tailEnd/>
              </a:ln>
              <a:effectLst/>
            </p:spPr>
            <p:txBody>
              <a:bodyPr wrap="square">
                <a:spAutoFit/>
              </a:bodyPr>
              <a:lstStyle/>
              <a:p>
                <a:pPr algn="l">
                  <a:spcBef>
                    <a:spcPct val="50000"/>
                  </a:spcBef>
                </a:pPr>
                <a:r>
                  <a:rPr lang="en-US" altLang="ko-KR" sz="4000" b="1" i="1" dirty="0"/>
                  <a:t>Test Case</a:t>
                </a:r>
              </a:p>
              <a:p>
                <a:pPr indent="457200" algn="l">
                  <a:spcBef>
                    <a:spcPct val="50000"/>
                  </a:spcBef>
                </a:pPr>
                <a:r>
                  <a:rPr lang="en-US" altLang="ko-KR" dirty="0"/>
                  <a:t>A test case is presented in the upper table. The indices 1, 2, and 3 refer to the subscripts of each parameter.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𝑃</m:t>
                        </m:r>
                      </m:e>
                      <m:sub>
                        <m:r>
                          <a:rPr lang="en-US" altLang="ko-KR" b="0" i="1" smtClean="0">
                            <a:latin typeface="Cambria Math" panose="02040503050406030204" pitchFamily="18" charset="0"/>
                          </a:rPr>
                          <m:t>𝑥</m:t>
                        </m:r>
                      </m:sub>
                    </m:sSub>
                    <m:r>
                      <a:rPr lang="en-US" altLang="ko-KR" b="0" i="1" smtClean="0">
                        <a:latin typeface="Cambria Math" panose="02040503050406030204" pitchFamily="18" charset="0"/>
                      </a:rPr>
                      <m:t>, </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𝑃</m:t>
                        </m:r>
                      </m:e>
                      <m:sub>
                        <m:r>
                          <a:rPr lang="en-US" altLang="ko-KR" b="0" i="1" smtClean="0">
                            <a:latin typeface="Cambria Math" panose="02040503050406030204" pitchFamily="18" charset="0"/>
                          </a:rPr>
                          <m:t>𝑦</m:t>
                        </m:r>
                      </m:sub>
                    </m:sSub>
                  </m:oMath>
                </a14:m>
                <a:r>
                  <a:rPr lang="en-US" altLang="ko-KR" dirty="0"/>
                  <a:t> and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𝑃</m:t>
                        </m:r>
                      </m:e>
                      <m:sub>
                        <m:r>
                          <a:rPr lang="en-US" altLang="ko-KR" b="0" i="1" smtClean="0">
                            <a:latin typeface="Cambria Math" panose="02040503050406030204" pitchFamily="18" charset="0"/>
                          </a:rPr>
                          <m:t>𝑧</m:t>
                        </m:r>
                      </m:sub>
                    </m:sSub>
                  </m:oMath>
                </a14:m>
                <a:r>
                  <a:rPr lang="en-US" altLang="ko-KR" dirty="0"/>
                  <a:t> represent the x-, y-, and z-components of the position vector, respectively. In this case, Mars and Jupiter are selected as the two reference planets. The variable</a:t>
                </a:r>
                <a14:m>
                  <m:oMath xmlns:m="http://schemas.openxmlformats.org/officeDocument/2006/math">
                    <m:r>
                      <a:rPr lang="en-US" altLang="ko-KR" b="0" i="0" smtClean="0">
                        <a:latin typeface="Cambria Math" panose="02040503050406030204" pitchFamily="18" charset="0"/>
                      </a:rPr>
                      <m:t> </m:t>
                    </m:r>
                    <m:r>
                      <a:rPr lang="en-US" altLang="ko-KR" b="0" i="1" smtClean="0">
                        <a:latin typeface="Cambria Math" panose="02040503050406030204" pitchFamily="18" charset="0"/>
                      </a:rPr>
                      <m:t>𝑟</m:t>
                    </m:r>
                  </m:oMath>
                </a14:m>
                <a:r>
                  <a:rPr lang="en-US" altLang="ko-KR" dirty="0"/>
                  <a:t> denotes distance, while </a:t>
                </a:r>
                <a14:m>
                  <m:oMath xmlns:m="http://schemas.openxmlformats.org/officeDocument/2006/math">
                    <m:r>
                      <a:rPr lang="en-US" altLang="ko-KR" b="0" i="1" smtClean="0">
                        <a:latin typeface="Cambria Math" panose="02040503050406030204" pitchFamily="18" charset="0"/>
                      </a:rPr>
                      <m:t>𝑅</m:t>
                    </m:r>
                  </m:oMath>
                </a14:m>
                <a:r>
                  <a:rPr lang="en-US" altLang="ko-KR" dirty="0"/>
                  <a:t> refers to the radii of the circumcircles. Ultimately, the computed value of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𝑠</m:t>
                        </m:r>
                      </m:sub>
                    </m:sSub>
                  </m:oMath>
                </a14:m>
                <a:r>
                  <a:rPr lang="en-US" altLang="ko-KR" dirty="0"/>
                  <a:t> is 1.4323 AU, which exactly matches the true distance.</a:t>
                </a:r>
              </a:p>
              <a:p>
                <a:pPr indent="457200" algn="l">
                  <a:spcBef>
                    <a:spcPct val="50000"/>
                  </a:spcBef>
                </a:pPr>
                <a:r>
                  <a:rPr lang="en-US" altLang="ko-KR" dirty="0"/>
                  <a:t>The lower table presents the relevant parameters under different combinations of signs for </a:t>
                </a:r>
                <a14:m>
                  <m:oMath xmlns:m="http://schemas.openxmlformats.org/officeDocument/2006/math">
                    <m:sSubSup>
                      <m:sSubSupPr>
                        <m:ctrlPr>
                          <a:rPr lang="en-US" altLang="ko-KR" b="0" i="1" smtClean="0">
                            <a:latin typeface="Cambria Math" panose="02040503050406030204" pitchFamily="18" charset="0"/>
                          </a:rPr>
                        </m:ctrlPr>
                      </m:sSubSupPr>
                      <m:e>
                        <m:r>
                          <a:rPr lang="en-US" altLang="ko-KR" b="0" i="1" smtClean="0">
                            <a:latin typeface="Cambria Math" panose="02040503050406030204" pitchFamily="18" charset="0"/>
                          </a:rPr>
                          <m:t>𝑠</m:t>
                        </m:r>
                      </m:e>
                      <m:sub>
                        <m:r>
                          <a:rPr lang="en-US" altLang="ko-KR" b="0" i="1" smtClean="0">
                            <a:latin typeface="Cambria Math" panose="02040503050406030204" pitchFamily="18" charset="0"/>
                          </a:rPr>
                          <m:t>𝜙</m:t>
                        </m:r>
                      </m:sub>
                      <m:sup>
                        <m:r>
                          <a:rPr lang="en-US" altLang="ko-KR" b="0" i="1" smtClean="0">
                            <a:latin typeface="Cambria Math" panose="02040503050406030204" pitchFamily="18" charset="0"/>
                          </a:rPr>
                          <m:t>1</m:t>
                        </m:r>
                      </m:sup>
                    </m:sSubSup>
                    <m:r>
                      <a:rPr lang="en-US" altLang="ko-KR" b="0" i="1" smtClean="0">
                        <a:latin typeface="Cambria Math" panose="02040503050406030204" pitchFamily="18" charset="0"/>
                      </a:rPr>
                      <m:t>, </m:t>
                    </m:r>
                    <m:sSubSup>
                      <m:sSubSupPr>
                        <m:ctrlPr>
                          <a:rPr lang="en-US" altLang="ko-KR" b="0" i="1" smtClean="0">
                            <a:latin typeface="Cambria Math" panose="02040503050406030204" pitchFamily="18" charset="0"/>
                          </a:rPr>
                        </m:ctrlPr>
                      </m:sSubSupPr>
                      <m:e>
                        <m:r>
                          <a:rPr lang="en-US" altLang="ko-KR" b="0" i="1" smtClean="0">
                            <a:latin typeface="Cambria Math" panose="02040503050406030204" pitchFamily="18" charset="0"/>
                          </a:rPr>
                          <m:t>𝑠</m:t>
                        </m:r>
                      </m:e>
                      <m:sub>
                        <m:r>
                          <a:rPr lang="en-US" altLang="ko-KR" b="0" i="1" smtClean="0">
                            <a:latin typeface="Cambria Math" panose="02040503050406030204" pitchFamily="18" charset="0"/>
                          </a:rPr>
                          <m:t>𝜙</m:t>
                        </m:r>
                      </m:sub>
                      <m:sup>
                        <m:r>
                          <a:rPr lang="en-US" altLang="ko-KR" b="0" i="1" smtClean="0">
                            <a:latin typeface="Cambria Math" panose="02040503050406030204" pitchFamily="18" charset="0"/>
                          </a:rPr>
                          <m:t>2</m:t>
                        </m:r>
                      </m:sup>
                    </m:sSubSup>
                    <m:r>
                      <a:rPr lang="en-US" altLang="ko-KR" b="0" i="1" smtClean="0">
                        <a:latin typeface="Cambria Math" panose="02040503050406030204" pitchFamily="18" charset="0"/>
                      </a:rPr>
                      <m:t>, </m:t>
                    </m:r>
                    <m:sSubSup>
                      <m:sSubSupPr>
                        <m:ctrlPr>
                          <a:rPr lang="en-US" altLang="ko-KR" b="0" i="1" smtClean="0">
                            <a:latin typeface="Cambria Math" panose="02040503050406030204" pitchFamily="18" charset="0"/>
                          </a:rPr>
                        </m:ctrlPr>
                      </m:sSubSupPr>
                      <m:e>
                        <m:r>
                          <a:rPr lang="en-US" altLang="ko-KR" b="0" i="1" smtClean="0">
                            <a:latin typeface="Cambria Math" panose="02040503050406030204" pitchFamily="18" charset="0"/>
                          </a:rPr>
                          <m:t>𝑠</m:t>
                        </m:r>
                      </m:e>
                      <m:sub>
                        <m:r>
                          <a:rPr lang="en-US" altLang="ko-KR" b="0" i="1" smtClean="0">
                            <a:latin typeface="Cambria Math" panose="02040503050406030204" pitchFamily="18" charset="0"/>
                          </a:rPr>
                          <m:t>𝛾</m:t>
                        </m:r>
                      </m:sub>
                      <m:sup>
                        <m:r>
                          <a:rPr lang="en-US" altLang="ko-KR" b="0" i="1" smtClean="0">
                            <a:latin typeface="Cambria Math" panose="02040503050406030204" pitchFamily="18" charset="0"/>
                          </a:rPr>
                          <m:t>1</m:t>
                        </m:r>
                      </m:sup>
                    </m:sSubSup>
                  </m:oMath>
                </a14:m>
                <a:r>
                  <a:rPr lang="en-US" altLang="ko-KR" dirty="0"/>
                  <a:t> and </a:t>
                </a:r>
                <a14:m>
                  <m:oMath xmlns:m="http://schemas.openxmlformats.org/officeDocument/2006/math">
                    <m:sSubSup>
                      <m:sSubSupPr>
                        <m:ctrlPr>
                          <a:rPr lang="en-US" altLang="ko-KR" b="0" i="1" smtClean="0">
                            <a:latin typeface="Cambria Math" panose="02040503050406030204" pitchFamily="18" charset="0"/>
                          </a:rPr>
                        </m:ctrlPr>
                      </m:sSubSupPr>
                      <m:e>
                        <m:r>
                          <a:rPr lang="en-US" altLang="ko-KR" b="0" i="1" smtClean="0">
                            <a:latin typeface="Cambria Math" panose="02040503050406030204" pitchFamily="18" charset="0"/>
                          </a:rPr>
                          <m:t>𝑠</m:t>
                        </m:r>
                      </m:e>
                      <m:sub>
                        <m:r>
                          <a:rPr lang="en-US" altLang="ko-KR" b="0" i="1" smtClean="0">
                            <a:latin typeface="Cambria Math" panose="02040503050406030204" pitchFamily="18" charset="0"/>
                          </a:rPr>
                          <m:t>𝛾</m:t>
                        </m:r>
                      </m:sub>
                      <m:sup>
                        <m:r>
                          <a:rPr lang="en-US" altLang="ko-KR" b="0" i="1" smtClean="0">
                            <a:latin typeface="Cambria Math" panose="02040503050406030204" pitchFamily="18" charset="0"/>
                          </a:rPr>
                          <m:t>2</m:t>
                        </m:r>
                      </m:sup>
                    </m:sSubSup>
                  </m:oMath>
                </a14:m>
                <a:r>
                  <a:rPr lang="en-US" altLang="ko-KR" dirty="0"/>
                  <a:t>, shown from left to right. Among all combinations, the one yields the smallest determinant value </a:t>
                </a:r>
                <a:r>
                  <a:rPr lang="en-US" altLang="ko-KR" i="1" dirty="0"/>
                  <a:t>D</a:t>
                </a:r>
                <a:r>
                  <a:rPr lang="en-US" altLang="ko-KR" dirty="0"/>
                  <a:t>, and is therefore identified as the correct solution</a:t>
                </a:r>
              </a:p>
            </p:txBody>
          </p:sp>
        </mc:Choice>
        <mc:Fallback xmlns="">
          <p:sp>
            <p:nvSpPr>
              <p:cNvPr id="37" name="Text Box 18">
                <a:extLst>
                  <a:ext uri="{FF2B5EF4-FFF2-40B4-BE49-F238E27FC236}">
                    <a16:creationId xmlns:a16="http://schemas.microsoft.com/office/drawing/2014/main" id="{96BBCE00-8645-7646-C1C5-F265A31A2CC3}"/>
                  </a:ext>
                </a:extLst>
              </p:cNvPr>
              <p:cNvSpPr txBox="1">
                <a:spLocks noRot="1" noChangeAspect="1" noMove="1" noResize="1" noEditPoints="1" noAdjustHandles="1" noChangeArrowheads="1" noChangeShapeType="1" noTextEdit="1"/>
              </p:cNvSpPr>
              <p:nvPr/>
            </p:nvSpPr>
            <p:spPr bwMode="auto">
              <a:xfrm>
                <a:off x="15453360" y="18372098"/>
                <a:ext cx="7280959" cy="6011902"/>
              </a:xfrm>
              <a:prstGeom prst="rect">
                <a:avLst/>
              </a:prstGeom>
              <a:blipFill>
                <a:blip r:embed="rId28"/>
                <a:stretch>
                  <a:fillRect l="-2931" t="-1826" r="-2010" b="-1420"/>
                </a:stretch>
              </a:blipFill>
              <a:ln w="9525">
                <a:noFill/>
                <a:miter lim="800000"/>
                <a:headEnd/>
                <a:tailEn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8" name="Text Box 18">
                <a:extLst>
                  <a:ext uri="{FF2B5EF4-FFF2-40B4-BE49-F238E27FC236}">
                    <a16:creationId xmlns:a16="http://schemas.microsoft.com/office/drawing/2014/main" id="{685650C3-41FF-B915-2EBF-273AD448EE94}"/>
                  </a:ext>
                </a:extLst>
              </p:cNvPr>
              <p:cNvSpPr txBox="1">
                <a:spLocks noChangeArrowheads="1"/>
              </p:cNvSpPr>
              <p:nvPr/>
            </p:nvSpPr>
            <p:spPr bwMode="auto">
              <a:xfrm>
                <a:off x="29262582" y="18659069"/>
                <a:ext cx="7413344" cy="10158743"/>
              </a:xfrm>
              <a:prstGeom prst="rect">
                <a:avLst/>
              </a:prstGeom>
              <a:noFill/>
              <a:ln w="9525">
                <a:noFill/>
                <a:miter lim="800000"/>
                <a:headEnd/>
                <a:tailEnd/>
              </a:ln>
              <a:effectLst/>
            </p:spPr>
            <p:txBody>
              <a:bodyPr wrap="square">
                <a:spAutoFit/>
              </a:bodyPr>
              <a:lstStyle/>
              <a:p>
                <a:pPr algn="just">
                  <a:spcBef>
                    <a:spcPct val="50000"/>
                  </a:spcBef>
                </a:pPr>
                <a:r>
                  <a:rPr lang="en-US" altLang="ko-KR" sz="4000" b="1" i="1" dirty="0"/>
                  <a:t>Conclusion</a:t>
                </a:r>
              </a:p>
              <a:p>
                <a:pPr indent="457200" algn="just">
                  <a:spcBef>
                    <a:spcPct val="50000"/>
                  </a:spcBef>
                </a:pPr>
                <a:r>
                  <a:rPr lang="en-US" altLang="ko-KR" dirty="0"/>
                  <a:t>The entire process is summarized in the right flow chart. Starting with inputs (ephemerides, measurements, and an initial guess </a:t>
                </a:r>
                <a14:m>
                  <m:oMath xmlns:m="http://schemas.openxmlformats.org/officeDocument/2006/math">
                    <m:sSub>
                      <m:sSubPr>
                        <m:ctrlPr>
                          <a:rPr lang="en-US" altLang="ko-KR" i="1" dirty="0" smtClean="0">
                            <a:latin typeface="Cambria Math" panose="02040503050406030204" pitchFamily="18" charset="0"/>
                          </a:rPr>
                        </m:ctrlPr>
                      </m:sSubPr>
                      <m:e>
                        <m:acc>
                          <m:accPr>
                            <m:chr m:val="̂"/>
                            <m:ctrlPr>
                              <a:rPr lang="en-US" altLang="ko-KR" i="1" smtClean="0">
                                <a:latin typeface="Cambria Math" panose="02040503050406030204" pitchFamily="18" charset="0"/>
                              </a:rPr>
                            </m:ctrlPr>
                          </m:accPr>
                          <m:e>
                            <m:r>
                              <a:rPr lang="en-US" altLang="ko-KR" b="0" i="1" smtClean="0">
                                <a:latin typeface="Cambria Math" panose="02040503050406030204" pitchFamily="18" charset="0"/>
                              </a:rPr>
                              <m:t>𝑦</m:t>
                            </m:r>
                          </m:e>
                        </m:acc>
                      </m:e>
                      <m:sub>
                        <m:r>
                          <a:rPr lang="en-US" altLang="ko-KR" b="0" i="1" dirty="0" smtClean="0">
                            <a:latin typeface="Cambria Math" panose="02040503050406030204" pitchFamily="18" charset="0"/>
                          </a:rPr>
                          <m:t>𝑠</m:t>
                        </m:r>
                      </m:sub>
                    </m:sSub>
                  </m:oMath>
                </a14:m>
                <a:r>
                  <a:rPr lang="en-US" altLang="ko-KR" dirty="0"/>
                  <a:t>), we compute the intermediate parameters. When the measurement angle </a:t>
                </a:r>
                <a14:m>
                  <m:oMath xmlns:m="http://schemas.openxmlformats.org/officeDocument/2006/math">
                    <m:r>
                      <a:rPr lang="en-US" altLang="ko-KR" b="0" i="1" smtClean="0">
                        <a:latin typeface="Cambria Math" panose="02040503050406030204" pitchFamily="18" charset="0"/>
                      </a:rPr>
                      <m:t>𝛼</m:t>
                    </m:r>
                  </m:oMath>
                </a14:m>
                <a:r>
                  <a:rPr lang="en-US" altLang="ko-KR" dirty="0"/>
                  <a:t> is greater than 90°, we set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𝑠</m:t>
                        </m:r>
                      </m:e>
                      <m:sub>
                        <m:r>
                          <a:rPr lang="en-US" altLang="ko-KR" i="1">
                            <a:latin typeface="Cambria Math" panose="02040503050406030204" pitchFamily="18" charset="0"/>
                          </a:rPr>
                          <m:t>𝛾</m:t>
                        </m:r>
                      </m:sub>
                    </m:sSub>
                    <m:r>
                      <a:rPr lang="en-US" altLang="ko-KR" i="1">
                        <a:latin typeface="Cambria Math" panose="02040503050406030204" pitchFamily="18" charset="0"/>
                      </a:rPr>
                      <m:t>=−1</m:t>
                    </m:r>
                  </m:oMath>
                </a14:m>
                <a:r>
                  <a:rPr lang="en-US" altLang="ko-KR" dirty="0"/>
                  <a:t> and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𝑠</m:t>
                        </m:r>
                      </m:e>
                      <m:sub>
                        <m:r>
                          <a:rPr lang="en-US" altLang="ko-KR" i="1">
                            <a:latin typeface="Cambria Math" panose="02040503050406030204" pitchFamily="18" charset="0"/>
                          </a:rPr>
                          <m:t>𝜙</m:t>
                        </m:r>
                      </m:sub>
                    </m:sSub>
                    <m:r>
                      <a:rPr lang="en-US" altLang="ko-KR" i="1">
                        <a:latin typeface="Cambria Math" panose="02040503050406030204" pitchFamily="18" charset="0"/>
                      </a:rPr>
                      <m:t>=+1</m:t>
                    </m:r>
                  </m:oMath>
                </a14:m>
                <a:r>
                  <a:rPr lang="en-US" altLang="ko-KR" dirty="0"/>
                  <a:t>; otherwise,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𝑠</m:t>
                        </m:r>
                      </m:e>
                      <m:sub>
                        <m:r>
                          <a:rPr lang="en-US" altLang="ko-KR" i="1">
                            <a:latin typeface="Cambria Math" panose="02040503050406030204" pitchFamily="18" charset="0"/>
                          </a:rPr>
                          <m:t>𝛾</m:t>
                        </m:r>
                      </m:sub>
                    </m:sSub>
                    <m:r>
                      <a:rPr lang="en-US" altLang="ko-KR" i="1">
                        <a:latin typeface="Cambria Math" panose="02040503050406030204" pitchFamily="18" charset="0"/>
                      </a:rPr>
                      <m:t>=1</m:t>
                    </m:r>
                  </m:oMath>
                </a14:m>
                <a:r>
                  <a:rPr lang="en-US" altLang="ko-KR" dirty="0"/>
                  <a:t>. If sign ambiguities still remain, we evaluate the determinant (</a:t>
                </a:r>
                <a:r>
                  <a:rPr lang="en-US" altLang="ko-KR" i="1" dirty="0"/>
                  <a:t>D</a:t>
                </a:r>
                <a:r>
                  <a:rPr lang="en-US" altLang="ko-KR" dirty="0"/>
                  <a:t>) and select the sign combination that results in the smallest </a:t>
                </a:r>
                <a:r>
                  <a:rPr lang="en-US" altLang="ko-KR" i="1" dirty="0"/>
                  <a:t>D</a:t>
                </a:r>
                <a:r>
                  <a:rPr lang="en-US" altLang="ko-KR" dirty="0"/>
                  <a:t>. Finally, we solve the root-finding problem iteratively, updating </a:t>
                </a:r>
                <a14:m>
                  <m:oMath xmlns:m="http://schemas.openxmlformats.org/officeDocument/2006/math">
                    <m:sSub>
                      <m:sSubPr>
                        <m:ctrlPr>
                          <a:rPr lang="en-US" altLang="ko-KR" i="1" dirty="0" smtClean="0">
                            <a:latin typeface="Cambria Math" panose="02040503050406030204" pitchFamily="18" charset="0"/>
                          </a:rPr>
                        </m:ctrlPr>
                      </m:sSubPr>
                      <m:e>
                        <m:acc>
                          <m:accPr>
                            <m:chr m:val="̂"/>
                            <m:ctrlPr>
                              <a:rPr lang="en-US" altLang="ko-KR" i="1" smtClean="0">
                                <a:latin typeface="Cambria Math" panose="02040503050406030204" pitchFamily="18" charset="0"/>
                              </a:rPr>
                            </m:ctrlPr>
                          </m:accPr>
                          <m:e>
                            <m:r>
                              <a:rPr lang="en-US" altLang="ko-KR" b="0" i="1" smtClean="0">
                                <a:latin typeface="Cambria Math" panose="02040503050406030204" pitchFamily="18" charset="0"/>
                              </a:rPr>
                              <m:t>𝑦</m:t>
                            </m:r>
                          </m:e>
                        </m:acc>
                      </m:e>
                      <m:sub>
                        <m:r>
                          <a:rPr lang="en-US" altLang="ko-KR" b="0" i="1" dirty="0" smtClean="0">
                            <a:latin typeface="Cambria Math" panose="02040503050406030204" pitchFamily="18" charset="0"/>
                          </a:rPr>
                          <m:t>𝑠</m:t>
                        </m:r>
                      </m:sub>
                    </m:sSub>
                  </m:oMath>
                </a14:m>
                <a:r>
                  <a:rPr lang="en-US" altLang="ko-KR" dirty="0"/>
                  <a:t> until convergence is achieved.</a:t>
                </a:r>
              </a:p>
              <a:p>
                <a:pPr indent="457200" algn="just">
                  <a:spcBef>
                    <a:spcPct val="50000"/>
                  </a:spcBef>
                </a:pPr>
                <a:r>
                  <a:rPr lang="en-US" altLang="ko-KR" dirty="0"/>
                  <a:t>In our test case, the proposed method demonstrates robustness with respect to the initial guess of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𝑠</m:t>
                        </m:r>
                      </m:sub>
                    </m:sSub>
                  </m:oMath>
                </a14:m>
                <a:r>
                  <a:rPr lang="en-US" altLang="ko-KR" dirty="0"/>
                  <a:t>. Typically, a reliable initial guess can be derived from prior information, such as a reference trajectory. However, even when a poor initial guess was used, with an error of about 10% in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𝑠</m:t>
                        </m:r>
                      </m:sub>
                    </m:sSub>
                  </m:oMath>
                </a14:m>
                <a:r>
                  <a:rPr lang="en-US" altLang="ko-KR" dirty="0"/>
                  <a:t>, the method was still able to successfully converge to the correct solution without any issues.</a:t>
                </a:r>
              </a:p>
              <a:p>
                <a:pPr indent="457200" algn="just">
                  <a:spcBef>
                    <a:spcPct val="50000"/>
                  </a:spcBef>
                </a:pPr>
                <a:r>
                  <a:rPr lang="en-US" altLang="ko-KR" dirty="0"/>
                  <a:t>As the next step, we aim to evaluate the performance of the proposed method under measurement uncertainties. In practice, sensors introduce errors when measuring the unit vectors of planets or the Sun. To assess the impact of these uncertainties, we plan to conduct a Monte Carlo simulation and analyze the resulting accuracy of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𝑠</m:t>
                        </m:r>
                      </m:sub>
                    </m:sSub>
                  </m:oMath>
                </a14:m>
                <a:r>
                  <a:rPr lang="en-US" altLang="ko-KR" dirty="0"/>
                  <a:t>. This resulted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𝑠</m:t>
                        </m:r>
                      </m:sub>
                    </m:sSub>
                  </m:oMath>
                </a14:m>
                <a:r>
                  <a:rPr lang="en-US" altLang="ko-KR" dirty="0"/>
                  <a:t> error can later be mitigated through filtering techniques within the same project framework.</a:t>
                </a:r>
              </a:p>
            </p:txBody>
          </p:sp>
        </mc:Choice>
        <mc:Fallback xmlns="">
          <p:sp>
            <p:nvSpPr>
              <p:cNvPr id="38" name="Text Box 18">
                <a:extLst>
                  <a:ext uri="{FF2B5EF4-FFF2-40B4-BE49-F238E27FC236}">
                    <a16:creationId xmlns:a16="http://schemas.microsoft.com/office/drawing/2014/main" id="{685650C3-41FF-B915-2EBF-273AD448EE94}"/>
                  </a:ext>
                </a:extLst>
              </p:cNvPr>
              <p:cNvSpPr txBox="1">
                <a:spLocks noRot="1" noChangeAspect="1" noMove="1" noResize="1" noEditPoints="1" noAdjustHandles="1" noChangeArrowheads="1" noChangeShapeType="1" noTextEdit="1"/>
              </p:cNvSpPr>
              <p:nvPr/>
            </p:nvSpPr>
            <p:spPr bwMode="auto">
              <a:xfrm>
                <a:off x="29262582" y="18659069"/>
                <a:ext cx="7413344" cy="10158743"/>
              </a:xfrm>
              <a:prstGeom prst="rect">
                <a:avLst/>
              </a:prstGeom>
              <a:blipFill>
                <a:blip r:embed="rId29"/>
                <a:stretch>
                  <a:fillRect l="-2878" t="-1080" r="-2467" b="-480"/>
                </a:stretch>
              </a:blipFill>
              <a:ln w="9525">
                <a:noFill/>
                <a:miter lim="800000"/>
                <a:headEnd/>
                <a:tailEn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 name="Parallelogram 6">
                <a:extLst>
                  <a:ext uri="{FF2B5EF4-FFF2-40B4-BE49-F238E27FC236}">
                    <a16:creationId xmlns:a16="http://schemas.microsoft.com/office/drawing/2014/main" id="{B151092A-D4B6-7B75-0AFF-E8C4E0FBFC1D}"/>
                  </a:ext>
                </a:extLst>
              </p:cNvPr>
              <p:cNvSpPr/>
              <p:nvPr/>
            </p:nvSpPr>
            <p:spPr bwMode="auto">
              <a:xfrm>
                <a:off x="37426697" y="18364200"/>
                <a:ext cx="5364356" cy="552681"/>
              </a:xfrm>
              <a:prstGeom prst="parallelogram">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kumimoji="0" lang="en-US" altLang="ko-KR" sz="2400" b="0" i="0" u="none" strike="noStrike" cap="none" normalizeH="0" baseline="0" dirty="0">
                    <a:ln>
                      <a:noFill/>
                    </a:ln>
                    <a:solidFill>
                      <a:schemeClr val="tx1"/>
                    </a:solidFill>
                    <a:effectLst/>
                    <a:latin typeface="Times" charset="0"/>
                  </a:rPr>
                  <a:t>Inputs: </a:t>
                </a:r>
                <a14:m>
                  <m:oMath xmlns:m="http://schemas.openxmlformats.org/officeDocument/2006/math">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𝑅</m:t>
                        </m:r>
                      </m:e>
                      <m:sub>
                        <m:r>
                          <a:rPr kumimoji="0" lang="en-US" altLang="ko-KR" sz="2400" b="0" i="1" u="none" strike="noStrike" cap="none" normalizeH="0" baseline="0" smtClean="0">
                            <a:ln>
                              <a:noFill/>
                            </a:ln>
                            <a:solidFill>
                              <a:schemeClr val="tx1"/>
                            </a:solidFill>
                            <a:effectLst/>
                            <a:latin typeface="Cambria Math" panose="02040503050406030204" pitchFamily="18" charset="0"/>
                          </a:rPr>
                          <m:t>1</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 </m:t>
                    </m:r>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𝑅</m:t>
                        </m:r>
                      </m:e>
                      <m:sub>
                        <m:r>
                          <a:rPr kumimoji="0" lang="en-US" altLang="ko-KR" sz="2400" b="0" i="1" u="none" strike="noStrike" cap="none" normalizeH="0" baseline="0" smtClean="0">
                            <a:ln>
                              <a:noFill/>
                            </a:ln>
                            <a:solidFill>
                              <a:schemeClr val="tx1"/>
                            </a:solidFill>
                            <a:effectLst/>
                            <a:latin typeface="Cambria Math" panose="02040503050406030204" pitchFamily="18" charset="0"/>
                          </a:rPr>
                          <m:t>2</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  </m:t>
                    </m:r>
                    <m:sSub>
                      <m:sSubPr>
                        <m:ctrlPr>
                          <a:rPr lang="en-US" altLang="ko-KR" i="1" dirty="0">
                            <a:latin typeface="Cambria Math" panose="02040503050406030204" pitchFamily="18" charset="0"/>
                          </a:rPr>
                        </m:ctrlPr>
                      </m:sSubPr>
                      <m:e>
                        <m:acc>
                          <m:accPr>
                            <m:chr m:val="̂"/>
                            <m:ctrlPr>
                              <a:rPr lang="en-US" altLang="ko-KR" i="1">
                                <a:latin typeface="Cambria Math" panose="02040503050406030204" pitchFamily="18" charset="0"/>
                              </a:rPr>
                            </m:ctrlPr>
                          </m:accPr>
                          <m:e>
                            <m:r>
                              <a:rPr lang="en-US" altLang="ko-KR" i="1">
                                <a:latin typeface="Cambria Math" panose="02040503050406030204" pitchFamily="18" charset="0"/>
                              </a:rPr>
                              <m:t>𝜌</m:t>
                            </m:r>
                          </m:e>
                        </m:acc>
                      </m:e>
                      <m:sub>
                        <m:r>
                          <a:rPr lang="en-US" altLang="ko-KR" dirty="0">
                            <a:latin typeface="Cambria Math" panose="02040503050406030204" pitchFamily="18" charset="0"/>
                          </a:rPr>
                          <m:t>0</m:t>
                        </m:r>
                      </m:sub>
                    </m:sSub>
                    <m:r>
                      <a:rPr lang="en-US" altLang="ko-KR" b="0" i="0" dirty="0" smtClean="0">
                        <a:latin typeface="Cambria Math" panose="02040503050406030204" pitchFamily="18" charset="0"/>
                      </a:rPr>
                      <m:t>,</m:t>
                    </m:r>
                    <m:sSub>
                      <m:sSubPr>
                        <m:ctrlPr>
                          <a:rPr lang="en-US" altLang="ko-KR" i="1" dirty="0">
                            <a:latin typeface="Cambria Math" panose="02040503050406030204" pitchFamily="18" charset="0"/>
                          </a:rPr>
                        </m:ctrlPr>
                      </m:sSubPr>
                      <m:e>
                        <m:acc>
                          <m:accPr>
                            <m:chr m:val="̂"/>
                            <m:ctrlPr>
                              <a:rPr lang="en-US" altLang="ko-KR" i="1">
                                <a:latin typeface="Cambria Math" panose="02040503050406030204" pitchFamily="18" charset="0"/>
                              </a:rPr>
                            </m:ctrlPr>
                          </m:accPr>
                          <m:e>
                            <m:r>
                              <a:rPr lang="en-US" altLang="ko-KR" i="1">
                                <a:latin typeface="Cambria Math" panose="02040503050406030204" pitchFamily="18" charset="0"/>
                              </a:rPr>
                              <m:t>𝜌</m:t>
                            </m:r>
                          </m:e>
                        </m:acc>
                      </m:e>
                      <m:sub>
                        <m:r>
                          <a:rPr lang="en-US" altLang="ko-KR" b="0" i="0" dirty="0" smtClean="0">
                            <a:latin typeface="Cambria Math" panose="02040503050406030204" pitchFamily="18" charset="0"/>
                          </a:rPr>
                          <m:t>1</m:t>
                        </m:r>
                      </m:sub>
                    </m:sSub>
                    <m:r>
                      <a:rPr lang="en-US" altLang="ko-KR" b="0" i="0" dirty="0" smtClean="0">
                        <a:latin typeface="Cambria Math" panose="02040503050406030204" pitchFamily="18" charset="0"/>
                      </a:rPr>
                      <m:t>,</m:t>
                    </m:r>
                    <m:sSub>
                      <m:sSubPr>
                        <m:ctrlPr>
                          <a:rPr lang="en-US" altLang="ko-KR" i="1" dirty="0">
                            <a:latin typeface="Cambria Math" panose="02040503050406030204" pitchFamily="18" charset="0"/>
                          </a:rPr>
                        </m:ctrlPr>
                      </m:sSubPr>
                      <m:e>
                        <m:acc>
                          <m:accPr>
                            <m:chr m:val="̂"/>
                            <m:ctrlPr>
                              <a:rPr lang="en-US" altLang="ko-KR" i="1">
                                <a:latin typeface="Cambria Math" panose="02040503050406030204" pitchFamily="18" charset="0"/>
                              </a:rPr>
                            </m:ctrlPr>
                          </m:accPr>
                          <m:e>
                            <m:r>
                              <a:rPr lang="en-US" altLang="ko-KR" i="1">
                                <a:latin typeface="Cambria Math" panose="02040503050406030204" pitchFamily="18" charset="0"/>
                              </a:rPr>
                              <m:t>𝜌</m:t>
                            </m:r>
                          </m:e>
                        </m:acc>
                      </m:e>
                      <m:sub>
                        <m:r>
                          <a:rPr lang="en-US" altLang="ko-KR" b="0" i="0" dirty="0" smtClean="0">
                            <a:latin typeface="Cambria Math" panose="02040503050406030204" pitchFamily="18" charset="0"/>
                          </a:rPr>
                          <m:t>2</m:t>
                        </m:r>
                      </m:sub>
                    </m:sSub>
                    <m:r>
                      <a:rPr lang="en-US" altLang="ko-KR" b="0" i="0" dirty="0" smtClean="0">
                        <a:latin typeface="Cambria Math" panose="02040503050406030204" pitchFamily="18" charset="0"/>
                      </a:rPr>
                      <m:t>, </m:t>
                    </m:r>
                    <m:sSub>
                      <m:sSubPr>
                        <m:ctrlPr>
                          <a:rPr lang="en-US" altLang="ko-KR" b="0" i="1" dirty="0" smtClean="0">
                            <a:latin typeface="Cambria Math" panose="02040503050406030204" pitchFamily="18" charset="0"/>
                          </a:rPr>
                        </m:ctrlPr>
                      </m:sSubPr>
                      <m:e>
                        <m:acc>
                          <m:accPr>
                            <m:chr m:val="̂"/>
                            <m:ctrlPr>
                              <a:rPr lang="en-US" altLang="ko-KR" b="0" i="1" dirty="0" smtClean="0">
                                <a:latin typeface="Cambria Math" panose="02040503050406030204" pitchFamily="18" charset="0"/>
                              </a:rPr>
                            </m:ctrlPr>
                          </m:accPr>
                          <m:e>
                            <m:r>
                              <m:rPr>
                                <m:sty m:val="p"/>
                              </m:rPr>
                              <a:rPr lang="en-US" altLang="ko-KR" b="0" i="0" dirty="0" smtClean="0">
                                <a:latin typeface="Cambria Math" panose="02040503050406030204" pitchFamily="18" charset="0"/>
                              </a:rPr>
                              <m:t>y</m:t>
                            </m:r>
                          </m:e>
                        </m:acc>
                      </m:e>
                      <m:sub>
                        <m:r>
                          <m:rPr>
                            <m:sty m:val="p"/>
                          </m:rPr>
                          <a:rPr lang="en-US" altLang="ko-KR" b="0" i="0" dirty="0" smtClean="0">
                            <a:latin typeface="Cambria Math" panose="02040503050406030204" pitchFamily="18" charset="0"/>
                          </a:rPr>
                          <m:t>s</m:t>
                        </m:r>
                      </m:sub>
                    </m:sSub>
                  </m:oMath>
                </a14:m>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7" name="Parallelogram 6">
                <a:extLst>
                  <a:ext uri="{FF2B5EF4-FFF2-40B4-BE49-F238E27FC236}">
                    <a16:creationId xmlns:a16="http://schemas.microsoft.com/office/drawing/2014/main" id="{B151092A-D4B6-7B75-0AFF-E8C4E0FBFC1D}"/>
                  </a:ext>
                </a:extLst>
              </p:cNvPr>
              <p:cNvSpPr>
                <a:spLocks noRot="1" noChangeAspect="1" noMove="1" noResize="1" noEditPoints="1" noAdjustHandles="1" noChangeArrowheads="1" noChangeShapeType="1" noTextEdit="1"/>
              </p:cNvSpPr>
              <p:nvPr/>
            </p:nvSpPr>
            <p:spPr bwMode="auto">
              <a:xfrm>
                <a:off x="37426697" y="18364200"/>
                <a:ext cx="5364356" cy="552681"/>
              </a:xfrm>
              <a:prstGeom prst="parallelogram">
                <a:avLst/>
              </a:prstGeom>
              <a:blipFill>
                <a:blip r:embed="rId30"/>
                <a:stretch>
                  <a:fillRect b="-13542"/>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4D57C08B-8EF4-6B92-3E25-36F35C40D7A9}"/>
                  </a:ext>
                </a:extLst>
              </p:cNvPr>
              <p:cNvSpPr/>
              <p:nvPr/>
            </p:nvSpPr>
            <p:spPr bwMode="auto">
              <a:xfrm>
                <a:off x="38552216" y="19249983"/>
                <a:ext cx="3108960" cy="522542"/>
              </a:xfrm>
              <a:prstGeom prst="rect">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ko-KR" sz="2400" b="0" i="0" u="none" strike="noStrike" cap="none" normalizeH="0" baseline="0" dirty="0">
                    <a:ln>
                      <a:noFill/>
                    </a:ln>
                    <a:solidFill>
                      <a:schemeClr val="tx1"/>
                    </a:solidFill>
                    <a:effectLst/>
                    <a:latin typeface="Times" charset="0"/>
                  </a:rPr>
                  <a:t>Compute: </a:t>
                </a:r>
                <a14:m>
                  <m:oMath xmlns:m="http://schemas.openxmlformats.org/officeDocument/2006/math">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𝛼</m:t>
                        </m:r>
                      </m:e>
                      <m:sub>
                        <m:r>
                          <a:rPr kumimoji="0" lang="en-US" altLang="ko-KR" sz="2400" b="0" i="1" u="none" strike="noStrike" cap="none" normalizeH="0" baseline="0" smtClean="0">
                            <a:ln>
                              <a:noFill/>
                            </a:ln>
                            <a:solidFill>
                              <a:schemeClr val="tx1"/>
                            </a:solidFill>
                            <a:effectLst/>
                            <a:latin typeface="Cambria Math" panose="02040503050406030204" pitchFamily="18" charset="0"/>
                          </a:rPr>
                          <m:t>𝑖</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 </m:t>
                    </m:r>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𝑅</m:t>
                        </m:r>
                      </m:e>
                      <m:sub>
                        <m:r>
                          <a:rPr kumimoji="0" lang="en-US" altLang="ko-KR" sz="2400" b="0" i="1" u="none" strike="noStrike" cap="none" normalizeH="0" baseline="0" smtClean="0">
                            <a:ln>
                              <a:noFill/>
                            </a:ln>
                            <a:solidFill>
                              <a:schemeClr val="tx1"/>
                            </a:solidFill>
                            <a:effectLst/>
                            <a:latin typeface="Cambria Math" panose="02040503050406030204" pitchFamily="18" charset="0"/>
                          </a:rPr>
                          <m:t>𝑖</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 </m:t>
                    </m:r>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𝑥</m:t>
                        </m:r>
                      </m:e>
                      <m:sub>
                        <m:r>
                          <a:rPr kumimoji="0" lang="en-US" altLang="ko-KR" sz="2400" b="0" i="1" u="none" strike="noStrike" cap="none" normalizeH="0" baseline="0" smtClean="0">
                            <a:ln>
                              <a:noFill/>
                            </a:ln>
                            <a:solidFill>
                              <a:schemeClr val="tx1"/>
                            </a:solidFill>
                            <a:effectLst/>
                            <a:latin typeface="Cambria Math" panose="02040503050406030204" pitchFamily="18" charset="0"/>
                          </a:rPr>
                          <m:t>𝑐</m:t>
                        </m:r>
                        <m:r>
                          <a:rPr kumimoji="0" lang="en-US" altLang="ko-KR" sz="2400" b="0" i="1" u="none" strike="noStrike" cap="none" normalizeH="0" baseline="0" smtClean="0">
                            <a:ln>
                              <a:noFill/>
                            </a:ln>
                            <a:solidFill>
                              <a:schemeClr val="tx1"/>
                            </a:solidFill>
                            <a:effectLst/>
                            <a:latin typeface="Cambria Math" panose="02040503050406030204" pitchFamily="18" charset="0"/>
                          </a:rPr>
                          <m:t>, </m:t>
                        </m:r>
                        <m:r>
                          <a:rPr kumimoji="0" lang="en-US" altLang="ko-KR" sz="2400" b="0" i="1" u="none" strike="noStrike" cap="none" normalizeH="0" baseline="0" smtClean="0">
                            <a:ln>
                              <a:noFill/>
                            </a:ln>
                            <a:solidFill>
                              <a:schemeClr val="tx1"/>
                            </a:solidFill>
                            <a:effectLst/>
                            <a:latin typeface="Cambria Math" panose="02040503050406030204" pitchFamily="18" charset="0"/>
                          </a:rPr>
                          <m:t>𝑖</m:t>
                        </m:r>
                      </m:sub>
                    </m:sSub>
                  </m:oMath>
                </a14:m>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8" name="Rectangle 7">
                <a:extLst>
                  <a:ext uri="{FF2B5EF4-FFF2-40B4-BE49-F238E27FC236}">
                    <a16:creationId xmlns:a16="http://schemas.microsoft.com/office/drawing/2014/main" id="{4D57C08B-8EF4-6B92-3E25-36F35C40D7A9}"/>
                  </a:ext>
                </a:extLst>
              </p:cNvPr>
              <p:cNvSpPr>
                <a:spLocks noRot="1" noChangeAspect="1" noMove="1" noResize="1" noEditPoints="1" noAdjustHandles="1" noChangeArrowheads="1" noChangeShapeType="1" noTextEdit="1"/>
              </p:cNvSpPr>
              <p:nvPr/>
            </p:nvSpPr>
            <p:spPr bwMode="auto">
              <a:xfrm>
                <a:off x="38552216" y="19249983"/>
                <a:ext cx="3108960" cy="522542"/>
              </a:xfrm>
              <a:prstGeom prst="rect">
                <a:avLst/>
              </a:prstGeom>
              <a:blipFill>
                <a:blip r:embed="rId31"/>
                <a:stretch>
                  <a:fillRect t="-5435" b="-9783"/>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419D75FD-2C63-E683-D0FE-2C1DD67D474D}"/>
                  </a:ext>
                </a:extLst>
              </p:cNvPr>
              <p:cNvSpPr/>
              <p:nvPr/>
            </p:nvSpPr>
            <p:spPr bwMode="auto">
              <a:xfrm>
                <a:off x="38554395" y="20105627"/>
                <a:ext cx="3108960" cy="522542"/>
              </a:xfrm>
              <a:prstGeom prst="rect">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ko-KR" sz="2400" b="0" i="0" u="none" strike="noStrike" cap="none" normalizeH="0" baseline="0" dirty="0">
                    <a:ln>
                      <a:noFill/>
                    </a:ln>
                    <a:solidFill>
                      <a:schemeClr val="tx1"/>
                    </a:solidFill>
                    <a:effectLst/>
                    <a:latin typeface="Times" charset="0"/>
                  </a:rPr>
                  <a:t>Compute: </a:t>
                </a:r>
                <a14:m>
                  <m:oMath xmlns:m="http://schemas.openxmlformats.org/officeDocument/2006/math">
                    <m:r>
                      <a:rPr kumimoji="0" lang="en-US" altLang="ko-KR" sz="2400" b="0" i="1" u="none" strike="noStrike" cap="none" normalizeH="0" baseline="0" smtClean="0">
                        <a:ln>
                          <a:noFill/>
                        </a:ln>
                        <a:solidFill>
                          <a:schemeClr val="tx1"/>
                        </a:solidFill>
                        <a:effectLst/>
                        <a:latin typeface="Cambria Math" panose="02040503050406030204" pitchFamily="18" charset="0"/>
                      </a:rPr>
                      <m:t>𝜙</m:t>
                    </m:r>
                    <m:r>
                      <a:rPr kumimoji="0" lang="en-US" altLang="ko-KR" sz="2400" b="0" i="1" u="none" strike="noStrike" cap="none" normalizeH="0" baseline="0" smtClean="0">
                        <a:ln>
                          <a:noFill/>
                        </a:ln>
                        <a:solidFill>
                          <a:schemeClr val="tx1"/>
                        </a:solidFill>
                        <a:effectLst/>
                        <a:latin typeface="Cambria Math" panose="02040503050406030204" pitchFamily="18" charset="0"/>
                      </a:rPr>
                      <m:t>, </m:t>
                    </m:r>
                    <m:r>
                      <a:rPr kumimoji="0" lang="en-US" altLang="ko-KR" sz="2400" b="0" i="1" u="none" strike="noStrike" cap="none" normalizeH="0" baseline="0" smtClean="0">
                        <a:ln>
                          <a:noFill/>
                        </a:ln>
                        <a:solidFill>
                          <a:schemeClr val="tx1"/>
                        </a:solidFill>
                        <a:effectLst/>
                        <a:latin typeface="Cambria Math" panose="02040503050406030204" pitchFamily="18" charset="0"/>
                      </a:rPr>
                      <m:t>𝛾</m:t>
                    </m:r>
                  </m:oMath>
                </a14:m>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9" name="Rectangle 8">
                <a:extLst>
                  <a:ext uri="{FF2B5EF4-FFF2-40B4-BE49-F238E27FC236}">
                    <a16:creationId xmlns:a16="http://schemas.microsoft.com/office/drawing/2014/main" id="{419D75FD-2C63-E683-D0FE-2C1DD67D474D}"/>
                  </a:ext>
                </a:extLst>
              </p:cNvPr>
              <p:cNvSpPr>
                <a:spLocks noRot="1" noChangeAspect="1" noMove="1" noResize="1" noEditPoints="1" noAdjustHandles="1" noChangeArrowheads="1" noChangeShapeType="1" noTextEdit="1"/>
              </p:cNvSpPr>
              <p:nvPr/>
            </p:nvSpPr>
            <p:spPr bwMode="auto">
              <a:xfrm>
                <a:off x="38554395" y="20105627"/>
                <a:ext cx="3108960" cy="522542"/>
              </a:xfrm>
              <a:prstGeom prst="rect">
                <a:avLst/>
              </a:prstGeom>
              <a:blipFill>
                <a:blip r:embed="rId32"/>
                <a:stretch>
                  <a:fillRect t="-5435" b="-9783"/>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 name="Diamond 10">
                <a:extLst>
                  <a:ext uri="{FF2B5EF4-FFF2-40B4-BE49-F238E27FC236}">
                    <a16:creationId xmlns:a16="http://schemas.microsoft.com/office/drawing/2014/main" id="{EB4FC238-25B9-9C13-80D4-60EFB6F6D1DC}"/>
                  </a:ext>
                </a:extLst>
              </p:cNvPr>
              <p:cNvSpPr/>
              <p:nvPr/>
            </p:nvSpPr>
            <p:spPr bwMode="auto">
              <a:xfrm>
                <a:off x="38554395" y="20961271"/>
                <a:ext cx="3108960" cy="674942"/>
              </a:xfrm>
              <a:prstGeom prst="diamond">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altLang="ko-KR" sz="2400" b="0" i="1" u="none" strike="noStrike" cap="none" normalizeH="0" baseline="0" smtClean="0">
                          <a:ln>
                            <a:noFill/>
                          </a:ln>
                          <a:solidFill>
                            <a:schemeClr val="tx1"/>
                          </a:solidFill>
                          <a:effectLst/>
                          <a:latin typeface="Cambria Math" panose="02040503050406030204" pitchFamily="18" charset="0"/>
                        </a:rPr>
                        <m:t>𝛼</m:t>
                      </m:r>
                      <m:r>
                        <a:rPr kumimoji="0" lang="en-US" altLang="ko-KR" sz="2400" b="0" i="1" u="none" strike="noStrike" cap="none" normalizeH="0" baseline="0" smtClean="0">
                          <a:ln>
                            <a:noFill/>
                          </a:ln>
                          <a:solidFill>
                            <a:schemeClr val="tx1"/>
                          </a:solidFill>
                          <a:effectLst/>
                          <a:latin typeface="Cambria Math" panose="02040503050406030204" pitchFamily="18" charset="0"/>
                        </a:rPr>
                        <m:t>&gt;90°</m:t>
                      </m:r>
                    </m:oMath>
                  </m:oMathPara>
                </a14:m>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11" name="Diamond 10">
                <a:extLst>
                  <a:ext uri="{FF2B5EF4-FFF2-40B4-BE49-F238E27FC236}">
                    <a16:creationId xmlns:a16="http://schemas.microsoft.com/office/drawing/2014/main" id="{EB4FC238-25B9-9C13-80D4-60EFB6F6D1DC}"/>
                  </a:ext>
                </a:extLst>
              </p:cNvPr>
              <p:cNvSpPr>
                <a:spLocks noRot="1" noChangeAspect="1" noMove="1" noResize="1" noEditPoints="1" noAdjustHandles="1" noChangeArrowheads="1" noChangeShapeType="1" noTextEdit="1"/>
              </p:cNvSpPr>
              <p:nvPr/>
            </p:nvSpPr>
            <p:spPr bwMode="auto">
              <a:xfrm>
                <a:off x="38554395" y="20961271"/>
                <a:ext cx="3108960" cy="674942"/>
              </a:xfrm>
              <a:prstGeom prst="diamond">
                <a:avLst/>
              </a:prstGeom>
              <a:blipFill>
                <a:blip r:embed="rId33"/>
                <a:stretch>
                  <a:fillRect/>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D9F0ECF2-651B-0C0C-B34C-BD8FB220924C}"/>
                  </a:ext>
                </a:extLst>
              </p:cNvPr>
              <p:cNvSpPr/>
              <p:nvPr/>
            </p:nvSpPr>
            <p:spPr bwMode="auto">
              <a:xfrm>
                <a:off x="36822811" y="21957171"/>
                <a:ext cx="3108960" cy="522542"/>
              </a:xfrm>
              <a:prstGeom prst="rect">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𝑠</m:t>
                          </m:r>
                        </m:e>
                        <m:sub>
                          <m:r>
                            <a:rPr kumimoji="0" lang="en-US" altLang="ko-KR" sz="2400" b="0" i="1" u="none" strike="noStrike" cap="none" normalizeH="0" baseline="0" smtClean="0">
                              <a:ln>
                                <a:noFill/>
                              </a:ln>
                              <a:solidFill>
                                <a:schemeClr val="tx1"/>
                              </a:solidFill>
                              <a:effectLst/>
                              <a:latin typeface="Cambria Math" panose="02040503050406030204" pitchFamily="18" charset="0"/>
                            </a:rPr>
                            <m:t>𝛾</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=−1, </m:t>
                      </m:r>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𝑠</m:t>
                          </m:r>
                        </m:e>
                        <m:sub>
                          <m:r>
                            <a:rPr kumimoji="0" lang="en-US" altLang="ko-KR" sz="2400" b="0" i="1" u="none" strike="noStrike" cap="none" normalizeH="0" baseline="0" smtClean="0">
                              <a:ln>
                                <a:noFill/>
                              </a:ln>
                              <a:solidFill>
                                <a:schemeClr val="tx1"/>
                              </a:solidFill>
                              <a:effectLst/>
                              <a:latin typeface="Cambria Math" panose="02040503050406030204" pitchFamily="18" charset="0"/>
                            </a:rPr>
                            <m:t>𝜙</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=+1</m:t>
                      </m:r>
                    </m:oMath>
                  </m:oMathPara>
                </a14:m>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12" name="Rectangle 11">
                <a:extLst>
                  <a:ext uri="{FF2B5EF4-FFF2-40B4-BE49-F238E27FC236}">
                    <a16:creationId xmlns:a16="http://schemas.microsoft.com/office/drawing/2014/main" id="{D9F0ECF2-651B-0C0C-B34C-BD8FB220924C}"/>
                  </a:ext>
                </a:extLst>
              </p:cNvPr>
              <p:cNvSpPr>
                <a:spLocks noRot="1" noChangeAspect="1" noMove="1" noResize="1" noEditPoints="1" noAdjustHandles="1" noChangeArrowheads="1" noChangeShapeType="1" noTextEdit="1"/>
              </p:cNvSpPr>
              <p:nvPr/>
            </p:nvSpPr>
            <p:spPr bwMode="auto">
              <a:xfrm>
                <a:off x="36822811" y="21957171"/>
                <a:ext cx="3108960" cy="522542"/>
              </a:xfrm>
              <a:prstGeom prst="rect">
                <a:avLst/>
              </a:prstGeom>
              <a:blipFill>
                <a:blip r:embed="rId34"/>
                <a:stretch>
                  <a:fillRect b="-2174"/>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642EACCD-5D03-526F-C143-1D8FC8EC3F37}"/>
                  </a:ext>
                </a:extLst>
              </p:cNvPr>
              <p:cNvSpPr/>
              <p:nvPr/>
            </p:nvSpPr>
            <p:spPr bwMode="auto">
              <a:xfrm>
                <a:off x="40270793" y="21969315"/>
                <a:ext cx="3108960" cy="522542"/>
              </a:xfrm>
              <a:prstGeom prst="rect">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𝑠</m:t>
                          </m:r>
                        </m:e>
                        <m:sub>
                          <m:r>
                            <a:rPr kumimoji="0" lang="en-US" altLang="ko-KR" sz="2400" b="0" i="1" u="none" strike="noStrike" cap="none" normalizeH="0" baseline="0" smtClean="0">
                              <a:ln>
                                <a:noFill/>
                              </a:ln>
                              <a:solidFill>
                                <a:schemeClr val="tx1"/>
                              </a:solidFill>
                              <a:effectLst/>
                              <a:latin typeface="Cambria Math" panose="02040503050406030204" pitchFamily="18" charset="0"/>
                            </a:rPr>
                            <m:t>𝛾</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=1</m:t>
                      </m:r>
                    </m:oMath>
                  </m:oMathPara>
                </a14:m>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13" name="Rectangle 12">
                <a:extLst>
                  <a:ext uri="{FF2B5EF4-FFF2-40B4-BE49-F238E27FC236}">
                    <a16:creationId xmlns:a16="http://schemas.microsoft.com/office/drawing/2014/main" id="{642EACCD-5D03-526F-C143-1D8FC8EC3F37}"/>
                  </a:ext>
                </a:extLst>
              </p:cNvPr>
              <p:cNvSpPr>
                <a:spLocks noRot="1" noChangeAspect="1" noMove="1" noResize="1" noEditPoints="1" noAdjustHandles="1" noChangeArrowheads="1" noChangeShapeType="1" noTextEdit="1"/>
              </p:cNvSpPr>
              <p:nvPr/>
            </p:nvSpPr>
            <p:spPr bwMode="auto">
              <a:xfrm>
                <a:off x="40270793" y="21969315"/>
                <a:ext cx="3108960" cy="522542"/>
              </a:xfrm>
              <a:prstGeom prst="rect">
                <a:avLst/>
              </a:prstGeom>
              <a:blipFill>
                <a:blip r:embed="rId35"/>
                <a:stretch>
                  <a:fillRect/>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6" name="Diamond 15">
                <a:extLst>
                  <a:ext uri="{FF2B5EF4-FFF2-40B4-BE49-F238E27FC236}">
                    <a16:creationId xmlns:a16="http://schemas.microsoft.com/office/drawing/2014/main" id="{29870BC0-10E3-2655-D9D6-A0C72B150DC9}"/>
                  </a:ext>
                </a:extLst>
              </p:cNvPr>
              <p:cNvSpPr/>
              <p:nvPr/>
            </p:nvSpPr>
            <p:spPr bwMode="auto">
              <a:xfrm>
                <a:off x="38554395" y="22824959"/>
                <a:ext cx="3108960" cy="674942"/>
              </a:xfrm>
              <a:prstGeom prst="diamond">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14:m>
                  <m:oMath xmlns:m="http://schemas.openxmlformats.org/officeDocument/2006/math">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𝑠</m:t>
                        </m:r>
                      </m:e>
                      <m:sub>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𝜙</m:t>
                            </m:r>
                          </m:e>
                          <m:sub>
                            <m:r>
                              <a:rPr kumimoji="0" lang="en-US" altLang="ko-KR" sz="2400" b="0" i="1" u="none" strike="noStrike" cap="none" normalizeH="0" baseline="0" smtClean="0">
                                <a:ln>
                                  <a:noFill/>
                                </a:ln>
                                <a:solidFill>
                                  <a:schemeClr val="tx1"/>
                                </a:solidFill>
                                <a:effectLst/>
                                <a:latin typeface="Cambria Math" panose="02040503050406030204" pitchFamily="18" charset="0"/>
                              </a:rPr>
                              <m:t>𝑖</m:t>
                            </m:r>
                          </m:sub>
                        </m:sSub>
                      </m:sub>
                    </m:sSub>
                  </m:oMath>
                </a14:m>
                <a:r>
                  <a:rPr kumimoji="0" lang="ko-KR" altLang="en-US" sz="2400" b="0" i="0" u="none" strike="noStrike" cap="none" normalizeH="0" baseline="0" dirty="0">
                    <a:ln>
                      <a:noFill/>
                    </a:ln>
                    <a:solidFill>
                      <a:schemeClr val="tx1"/>
                    </a:solidFill>
                    <a:effectLst/>
                    <a:latin typeface="Times" charset="0"/>
                  </a:rPr>
                  <a:t> </a:t>
                </a:r>
                <a:r>
                  <a:rPr kumimoji="0" lang="en-US" altLang="ko-KR" sz="2400" b="0" i="0" u="none" strike="noStrike" cap="none" normalizeH="0" baseline="0" dirty="0">
                    <a:ln>
                      <a:noFill/>
                    </a:ln>
                    <a:solidFill>
                      <a:schemeClr val="tx1"/>
                    </a:solidFill>
                    <a:effectLst/>
                    <a:latin typeface="Times" charset="0"/>
                  </a:rPr>
                  <a:t>fixed?</a:t>
                </a:r>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16" name="Diamond 15">
                <a:extLst>
                  <a:ext uri="{FF2B5EF4-FFF2-40B4-BE49-F238E27FC236}">
                    <a16:creationId xmlns:a16="http://schemas.microsoft.com/office/drawing/2014/main" id="{29870BC0-10E3-2655-D9D6-A0C72B150DC9}"/>
                  </a:ext>
                </a:extLst>
              </p:cNvPr>
              <p:cNvSpPr>
                <a:spLocks noRot="1" noChangeAspect="1" noMove="1" noResize="1" noEditPoints="1" noAdjustHandles="1" noChangeArrowheads="1" noChangeShapeType="1" noTextEdit="1"/>
              </p:cNvSpPr>
              <p:nvPr/>
            </p:nvSpPr>
            <p:spPr bwMode="auto">
              <a:xfrm>
                <a:off x="38554395" y="22824959"/>
                <a:ext cx="3108960" cy="674942"/>
              </a:xfrm>
              <a:prstGeom prst="diamond">
                <a:avLst/>
              </a:prstGeom>
              <a:blipFill>
                <a:blip r:embed="rId36"/>
                <a:stretch>
                  <a:fillRect b="-10256"/>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AF8E2A1B-A4D9-60B4-121E-827C1A40E618}"/>
                  </a:ext>
                </a:extLst>
              </p:cNvPr>
              <p:cNvSpPr/>
              <p:nvPr/>
            </p:nvSpPr>
            <p:spPr bwMode="auto">
              <a:xfrm>
                <a:off x="40270793" y="23833003"/>
                <a:ext cx="3108960" cy="522542"/>
              </a:xfrm>
              <a:prstGeom prst="rect">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ko-KR" sz="2400" b="0" i="0" u="none" strike="noStrike" cap="none" normalizeH="0" baseline="0" dirty="0">
                    <a:ln>
                      <a:noFill/>
                    </a:ln>
                    <a:solidFill>
                      <a:schemeClr val="tx1"/>
                    </a:solidFill>
                    <a:effectLst/>
                    <a:latin typeface="Times" charset="0"/>
                  </a:rPr>
                  <a:t>Compute: </a:t>
                </a:r>
                <a14:m>
                  <m:oMath xmlns:m="http://schemas.openxmlformats.org/officeDocument/2006/math">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𝑦</m:t>
                        </m:r>
                      </m:e>
                      <m:sub>
                        <m:r>
                          <a:rPr kumimoji="0" lang="en-US" altLang="ko-KR" sz="2400" b="0" i="1" u="none" strike="noStrike" cap="none" normalizeH="0" baseline="0" smtClean="0">
                            <a:ln>
                              <a:noFill/>
                            </a:ln>
                            <a:solidFill>
                              <a:schemeClr val="tx1"/>
                            </a:solidFill>
                            <a:effectLst/>
                            <a:latin typeface="Cambria Math" panose="02040503050406030204" pitchFamily="18" charset="0"/>
                          </a:rPr>
                          <m:t>1</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 </m:t>
                    </m:r>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𝑦</m:t>
                        </m:r>
                      </m:e>
                      <m:sub>
                        <m:r>
                          <a:rPr kumimoji="0" lang="en-US" altLang="ko-KR" sz="2400" b="0" i="1" u="none" strike="noStrike" cap="none" normalizeH="0" baseline="0" smtClean="0">
                            <a:ln>
                              <a:noFill/>
                            </a:ln>
                            <a:solidFill>
                              <a:schemeClr val="tx1"/>
                            </a:solidFill>
                            <a:effectLst/>
                            <a:latin typeface="Cambria Math" panose="02040503050406030204" pitchFamily="18" charset="0"/>
                          </a:rPr>
                          <m:t>2</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 </m:t>
                    </m:r>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𝑟</m:t>
                        </m:r>
                      </m:e>
                      <m:sub>
                        <m:r>
                          <a:rPr kumimoji="0" lang="en-US" altLang="ko-KR" sz="2400" b="0" i="1" u="none" strike="noStrike" cap="none" normalizeH="0" baseline="0" smtClean="0">
                            <a:ln>
                              <a:noFill/>
                            </a:ln>
                            <a:solidFill>
                              <a:schemeClr val="tx1"/>
                            </a:solidFill>
                            <a:effectLst/>
                            <a:latin typeface="Cambria Math" panose="02040503050406030204" pitchFamily="18" charset="0"/>
                          </a:rPr>
                          <m:t>3</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 </m:t>
                    </m:r>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𝛼</m:t>
                        </m:r>
                      </m:e>
                      <m:sub>
                        <m:r>
                          <a:rPr kumimoji="0" lang="en-US" altLang="ko-KR" sz="2400" b="0" i="1" u="none" strike="noStrike" cap="none" normalizeH="0" baseline="0" smtClean="0">
                            <a:ln>
                              <a:noFill/>
                            </a:ln>
                            <a:solidFill>
                              <a:schemeClr val="tx1"/>
                            </a:solidFill>
                            <a:effectLst/>
                            <a:latin typeface="Cambria Math" panose="02040503050406030204" pitchFamily="18" charset="0"/>
                          </a:rPr>
                          <m:t>3</m:t>
                        </m:r>
                      </m:sub>
                    </m:sSub>
                  </m:oMath>
                </a14:m>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17" name="Rectangle 16">
                <a:extLst>
                  <a:ext uri="{FF2B5EF4-FFF2-40B4-BE49-F238E27FC236}">
                    <a16:creationId xmlns:a16="http://schemas.microsoft.com/office/drawing/2014/main" id="{AF8E2A1B-A4D9-60B4-121E-827C1A40E618}"/>
                  </a:ext>
                </a:extLst>
              </p:cNvPr>
              <p:cNvSpPr>
                <a:spLocks noRot="1" noChangeAspect="1" noMove="1" noResize="1" noEditPoints="1" noAdjustHandles="1" noChangeArrowheads="1" noChangeShapeType="1" noTextEdit="1"/>
              </p:cNvSpPr>
              <p:nvPr/>
            </p:nvSpPr>
            <p:spPr bwMode="auto">
              <a:xfrm>
                <a:off x="40270793" y="23833003"/>
                <a:ext cx="3108960" cy="522542"/>
              </a:xfrm>
              <a:prstGeom prst="rect">
                <a:avLst/>
              </a:prstGeom>
              <a:blipFill>
                <a:blip r:embed="rId37"/>
                <a:stretch>
                  <a:fillRect l="-194" t="-5495" b="-10989"/>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706DCB68-028E-E276-5286-855A53D6E16F}"/>
                  </a:ext>
                </a:extLst>
              </p:cNvPr>
              <p:cNvSpPr/>
              <p:nvPr/>
            </p:nvSpPr>
            <p:spPr bwMode="auto">
              <a:xfrm>
                <a:off x="40270793" y="24688647"/>
                <a:ext cx="3108960" cy="522542"/>
              </a:xfrm>
              <a:prstGeom prst="rect">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ko-KR" sz="2400" b="0" i="0" u="none" strike="noStrike" cap="none" normalizeH="0" baseline="0" dirty="0">
                    <a:ln>
                      <a:noFill/>
                    </a:ln>
                    <a:solidFill>
                      <a:schemeClr val="tx1"/>
                    </a:solidFill>
                    <a:effectLst/>
                    <a:latin typeface="Times" charset="0"/>
                  </a:rPr>
                  <a:t>Compute: </a:t>
                </a:r>
                <a14:m>
                  <m:oMath xmlns:m="http://schemas.openxmlformats.org/officeDocument/2006/math">
                    <m:r>
                      <a:rPr kumimoji="0" lang="en-US" altLang="ko-KR" sz="2400" b="0" i="1" u="none" strike="noStrike" cap="none" normalizeH="0" baseline="0" smtClean="0">
                        <a:ln>
                          <a:noFill/>
                        </a:ln>
                        <a:solidFill>
                          <a:schemeClr val="tx1"/>
                        </a:solidFill>
                        <a:effectLst/>
                        <a:latin typeface="Cambria Math" panose="02040503050406030204" pitchFamily="18" charset="0"/>
                      </a:rPr>
                      <m:t>𝐷</m:t>
                    </m:r>
                  </m:oMath>
                </a14:m>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42" name="Rectangle 41">
                <a:extLst>
                  <a:ext uri="{FF2B5EF4-FFF2-40B4-BE49-F238E27FC236}">
                    <a16:creationId xmlns:a16="http://schemas.microsoft.com/office/drawing/2014/main" id="{706DCB68-028E-E276-5286-855A53D6E16F}"/>
                  </a:ext>
                </a:extLst>
              </p:cNvPr>
              <p:cNvSpPr>
                <a:spLocks noRot="1" noChangeAspect="1" noMove="1" noResize="1" noEditPoints="1" noAdjustHandles="1" noChangeArrowheads="1" noChangeShapeType="1" noTextEdit="1"/>
              </p:cNvSpPr>
              <p:nvPr/>
            </p:nvSpPr>
            <p:spPr bwMode="auto">
              <a:xfrm>
                <a:off x="40270793" y="24688647"/>
                <a:ext cx="3108960" cy="522542"/>
              </a:xfrm>
              <a:prstGeom prst="rect">
                <a:avLst/>
              </a:prstGeom>
              <a:blipFill>
                <a:blip r:embed="rId38"/>
                <a:stretch>
                  <a:fillRect t="-5435" b="-9783"/>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p:sp>
        <p:nvSpPr>
          <p:cNvPr id="43" name="Rectangle 42">
            <a:extLst>
              <a:ext uri="{FF2B5EF4-FFF2-40B4-BE49-F238E27FC236}">
                <a16:creationId xmlns:a16="http://schemas.microsoft.com/office/drawing/2014/main" id="{9C250027-9B1C-6995-2398-084FBDE3D2A3}"/>
              </a:ext>
            </a:extLst>
          </p:cNvPr>
          <p:cNvSpPr/>
          <p:nvPr/>
        </p:nvSpPr>
        <p:spPr bwMode="auto">
          <a:xfrm>
            <a:off x="40270793" y="25544291"/>
            <a:ext cx="3108960" cy="786950"/>
          </a:xfrm>
          <a:prstGeom prst="rect">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ko-KR" sz="2400" b="0" i="0" u="none" strike="noStrike" cap="none" normalizeH="0" baseline="0" dirty="0">
                <a:ln>
                  <a:noFill/>
                </a:ln>
                <a:solidFill>
                  <a:schemeClr val="tx1"/>
                </a:solidFill>
                <a:effectLst/>
                <a:latin typeface="Times" charset="0"/>
              </a:rPr>
              <a:t>Choose signs to minimize </a:t>
            </a:r>
            <a:r>
              <a:rPr kumimoji="0" lang="en-US" altLang="ko-KR" sz="2400" b="0" i="1" u="none" strike="noStrike" cap="none" normalizeH="0" baseline="0" dirty="0">
                <a:ln>
                  <a:noFill/>
                </a:ln>
                <a:solidFill>
                  <a:schemeClr val="tx1"/>
                </a:solidFill>
                <a:effectLst/>
                <a:latin typeface="Times" charset="0"/>
              </a:rPr>
              <a:t>D</a:t>
            </a:r>
            <a:endParaRPr kumimoji="0" lang="ko-KR" altLang="en-US" sz="2400" b="0" i="1" u="none" strike="noStrike" cap="none" normalizeH="0" baseline="0" dirty="0">
              <a:ln>
                <a:noFill/>
              </a:ln>
              <a:solidFill>
                <a:schemeClr val="tx1"/>
              </a:solidFill>
              <a:effectLst/>
              <a:latin typeface="Times" charset="0"/>
            </a:endParaRPr>
          </a:p>
        </p:txBody>
      </p:sp>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626B450B-2FDE-7E20-3EBF-75B2889ADE99}"/>
                  </a:ext>
                </a:extLst>
              </p:cNvPr>
              <p:cNvSpPr/>
              <p:nvPr/>
            </p:nvSpPr>
            <p:spPr bwMode="auto">
              <a:xfrm>
                <a:off x="38552216" y="26664343"/>
                <a:ext cx="3108960" cy="760653"/>
              </a:xfrm>
              <a:prstGeom prst="rect">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ko-KR" sz="2400" b="0" i="0" u="none" strike="noStrike" cap="none" normalizeH="0" baseline="0" dirty="0">
                    <a:ln>
                      <a:noFill/>
                    </a:ln>
                    <a:solidFill>
                      <a:schemeClr val="tx1"/>
                    </a:solidFill>
                    <a:effectLst/>
                    <a:latin typeface="Times" charset="0"/>
                  </a:rPr>
                  <a:t>Solve root-finding</a:t>
                </a:r>
              </a:p>
              <a:p>
                <a:pPr marL="0" marR="0" indent="0" algn="ctr" defTabSz="914400" rtl="0" eaLnBrk="0" fontAlgn="base" latinLnBrk="0" hangingPunct="0">
                  <a:lnSpc>
                    <a:spcPct val="100000"/>
                  </a:lnSpc>
                  <a:spcBef>
                    <a:spcPct val="0"/>
                  </a:spcBef>
                  <a:spcAft>
                    <a:spcPct val="0"/>
                  </a:spcAft>
                  <a:buClrTx/>
                  <a:buSzTx/>
                  <a:buFontTx/>
                  <a:buNone/>
                  <a:tabLst/>
                </a:pPr>
                <a:r>
                  <a:rPr lang="en-US" altLang="ko-KR" dirty="0"/>
                  <a:t>Update: </a:t>
                </a:r>
                <a14:m>
                  <m:oMath xmlns:m="http://schemas.openxmlformats.org/officeDocument/2006/math">
                    <m:sSub>
                      <m:sSubPr>
                        <m:ctrlPr>
                          <a:rPr lang="en-US" altLang="ko-KR" b="0" i="1" dirty="0" smtClean="0">
                            <a:latin typeface="Cambria Math" panose="02040503050406030204" pitchFamily="18" charset="0"/>
                          </a:rPr>
                        </m:ctrlPr>
                      </m:sSubPr>
                      <m:e>
                        <m:acc>
                          <m:accPr>
                            <m:chr m:val="̂"/>
                            <m:ctrlPr>
                              <a:rPr lang="en-US" altLang="ko-KR" b="0" i="1" dirty="0" smtClean="0">
                                <a:latin typeface="Cambria Math" panose="02040503050406030204" pitchFamily="18" charset="0"/>
                              </a:rPr>
                            </m:ctrlPr>
                          </m:accPr>
                          <m:e>
                            <m:r>
                              <m:rPr>
                                <m:sty m:val="p"/>
                              </m:rPr>
                              <a:rPr lang="en-US" altLang="ko-KR" b="0" i="0" dirty="0" smtClean="0">
                                <a:latin typeface="Cambria Math" panose="02040503050406030204" pitchFamily="18" charset="0"/>
                              </a:rPr>
                              <m:t>y</m:t>
                            </m:r>
                          </m:e>
                        </m:acc>
                      </m:e>
                      <m:sub>
                        <m:r>
                          <m:rPr>
                            <m:sty m:val="p"/>
                          </m:rPr>
                          <a:rPr lang="en-US" altLang="ko-KR" b="0" i="0" dirty="0" smtClean="0">
                            <a:latin typeface="Cambria Math" panose="02040503050406030204" pitchFamily="18" charset="0"/>
                          </a:rPr>
                          <m:t>s</m:t>
                        </m:r>
                      </m:sub>
                    </m:sSub>
                  </m:oMath>
                </a14:m>
                <a:r>
                  <a:rPr lang="en-US" altLang="ko-KR" dirty="0"/>
                  <a:t> </a:t>
                </a:r>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44" name="Rectangle 43">
                <a:extLst>
                  <a:ext uri="{FF2B5EF4-FFF2-40B4-BE49-F238E27FC236}">
                    <a16:creationId xmlns:a16="http://schemas.microsoft.com/office/drawing/2014/main" id="{626B450B-2FDE-7E20-3EBF-75B2889ADE99}"/>
                  </a:ext>
                </a:extLst>
              </p:cNvPr>
              <p:cNvSpPr>
                <a:spLocks noRot="1" noChangeAspect="1" noMove="1" noResize="1" noEditPoints="1" noAdjustHandles="1" noChangeArrowheads="1" noChangeShapeType="1" noTextEdit="1"/>
              </p:cNvSpPr>
              <p:nvPr/>
            </p:nvSpPr>
            <p:spPr bwMode="auto">
              <a:xfrm>
                <a:off x="38552216" y="26664343"/>
                <a:ext cx="3108960" cy="760653"/>
              </a:xfrm>
              <a:prstGeom prst="rect">
                <a:avLst/>
              </a:prstGeom>
              <a:blipFill>
                <a:blip r:embed="rId39"/>
                <a:stretch>
                  <a:fillRect t="-3817" b="-22901"/>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p:sp>
        <p:nvSpPr>
          <p:cNvPr id="46" name="Diamond 45">
            <a:extLst>
              <a:ext uri="{FF2B5EF4-FFF2-40B4-BE49-F238E27FC236}">
                <a16:creationId xmlns:a16="http://schemas.microsoft.com/office/drawing/2014/main" id="{9BDECD0E-780D-89C9-341F-700A2E11EB5B}"/>
              </a:ext>
            </a:extLst>
          </p:cNvPr>
          <p:cNvSpPr/>
          <p:nvPr/>
        </p:nvSpPr>
        <p:spPr bwMode="auto">
          <a:xfrm>
            <a:off x="38552216" y="27758098"/>
            <a:ext cx="3108960" cy="674942"/>
          </a:xfrm>
          <a:prstGeom prst="diamond">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ko-KR" sz="2400" b="0" i="0" u="none" strike="noStrike" cap="none" normalizeH="0" baseline="0" dirty="0">
                <a:ln>
                  <a:noFill/>
                </a:ln>
                <a:solidFill>
                  <a:schemeClr val="tx1"/>
                </a:solidFill>
                <a:effectLst/>
                <a:latin typeface="Times" charset="0"/>
              </a:rPr>
              <a:t>Stop?</a:t>
            </a:r>
            <a:endParaRPr kumimoji="0" lang="ko-KR" altLang="en-US" sz="2400" b="0" i="0" u="none" strike="noStrike" cap="none" normalizeH="0" baseline="0" dirty="0">
              <a:ln>
                <a:noFill/>
              </a:ln>
              <a:solidFill>
                <a:schemeClr val="tx1"/>
              </a:solidFill>
              <a:effectLst/>
              <a:latin typeface="Times" charset="0"/>
            </a:endParaRPr>
          </a:p>
        </p:txBody>
      </p:sp>
      <mc:AlternateContent xmlns:mc="http://schemas.openxmlformats.org/markup-compatibility/2006" xmlns:a14="http://schemas.microsoft.com/office/drawing/2010/main">
        <mc:Choice Requires="a14">
          <p:sp>
            <p:nvSpPr>
              <p:cNvPr id="47" name="Oval 46">
                <a:extLst>
                  <a:ext uri="{FF2B5EF4-FFF2-40B4-BE49-F238E27FC236}">
                    <a16:creationId xmlns:a16="http://schemas.microsoft.com/office/drawing/2014/main" id="{3C935E0A-874F-F5FA-67E8-CE73B5C0D61A}"/>
                  </a:ext>
                </a:extLst>
              </p:cNvPr>
              <p:cNvSpPr/>
              <p:nvPr/>
            </p:nvSpPr>
            <p:spPr bwMode="auto">
              <a:xfrm>
                <a:off x="39152767" y="28766147"/>
                <a:ext cx="1907857" cy="613201"/>
              </a:xfrm>
              <a:prstGeom prst="ellipse">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ko-KR" sz="2400" b="0" i="0" u="none" strike="noStrike" cap="none" normalizeH="0" baseline="0" dirty="0">
                    <a:ln>
                      <a:noFill/>
                    </a:ln>
                    <a:solidFill>
                      <a:schemeClr val="tx1"/>
                    </a:solidFill>
                    <a:effectLst/>
                    <a:latin typeface="Times" charset="0"/>
                  </a:rPr>
                  <a:t>End: </a:t>
                </a:r>
                <a14:m>
                  <m:oMath xmlns:m="http://schemas.openxmlformats.org/officeDocument/2006/math">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𝑦</m:t>
                        </m:r>
                      </m:e>
                      <m:sub>
                        <m:r>
                          <a:rPr kumimoji="0" lang="en-US" altLang="ko-KR" sz="2400" b="0" i="1" u="none" strike="noStrike" cap="none" normalizeH="0" baseline="0" smtClean="0">
                            <a:ln>
                              <a:noFill/>
                            </a:ln>
                            <a:solidFill>
                              <a:schemeClr val="tx1"/>
                            </a:solidFill>
                            <a:effectLst/>
                            <a:latin typeface="Cambria Math" panose="02040503050406030204" pitchFamily="18" charset="0"/>
                          </a:rPr>
                          <m:t>𝑠</m:t>
                        </m:r>
                      </m:sub>
                    </m:sSub>
                  </m:oMath>
                </a14:m>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47" name="Oval 46">
                <a:extLst>
                  <a:ext uri="{FF2B5EF4-FFF2-40B4-BE49-F238E27FC236}">
                    <a16:creationId xmlns:a16="http://schemas.microsoft.com/office/drawing/2014/main" id="{3C935E0A-874F-F5FA-67E8-CE73B5C0D61A}"/>
                  </a:ext>
                </a:extLst>
              </p:cNvPr>
              <p:cNvSpPr>
                <a:spLocks noRot="1" noChangeAspect="1" noMove="1" noResize="1" noEditPoints="1" noAdjustHandles="1" noChangeArrowheads="1" noChangeShapeType="1" noTextEdit="1"/>
              </p:cNvSpPr>
              <p:nvPr/>
            </p:nvSpPr>
            <p:spPr bwMode="auto">
              <a:xfrm>
                <a:off x="39152767" y="28766147"/>
                <a:ext cx="1907857" cy="613201"/>
              </a:xfrm>
              <a:prstGeom prst="ellipse">
                <a:avLst/>
              </a:prstGeom>
              <a:blipFill>
                <a:blip r:embed="rId40"/>
                <a:stretch>
                  <a:fillRect b="-9434"/>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p:cxnSp>
        <p:nvCxnSpPr>
          <p:cNvPr id="53" name="Straight Arrow Connector 52">
            <a:extLst>
              <a:ext uri="{FF2B5EF4-FFF2-40B4-BE49-F238E27FC236}">
                <a16:creationId xmlns:a16="http://schemas.microsoft.com/office/drawing/2014/main" id="{B33BE608-D456-7A30-8C9B-D2DEB706E3E9}"/>
              </a:ext>
            </a:extLst>
          </p:cNvPr>
          <p:cNvCxnSpPr>
            <a:stCxn id="7" idx="4"/>
            <a:endCxn id="8" idx="0"/>
          </p:cNvCxnSpPr>
          <p:nvPr/>
        </p:nvCxnSpPr>
        <p:spPr bwMode="auto">
          <a:xfrm flipH="1">
            <a:off x="40106696" y="18916881"/>
            <a:ext cx="2179" cy="333102"/>
          </a:xfrm>
          <a:prstGeom prst="straightConnector1">
            <a:avLst/>
          </a:prstGeom>
          <a:solidFill>
            <a:schemeClr val="accent1"/>
          </a:solidFill>
          <a:ln w="44450"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07217B52-B0CA-A3DE-915F-ACA75154B52D}"/>
              </a:ext>
            </a:extLst>
          </p:cNvPr>
          <p:cNvCxnSpPr>
            <a:cxnSpLocks/>
            <a:stCxn id="8" idx="2"/>
            <a:endCxn id="9" idx="0"/>
          </p:cNvCxnSpPr>
          <p:nvPr/>
        </p:nvCxnSpPr>
        <p:spPr bwMode="auto">
          <a:xfrm>
            <a:off x="40106696" y="19772525"/>
            <a:ext cx="2179" cy="333102"/>
          </a:xfrm>
          <a:prstGeom prst="straightConnector1">
            <a:avLst/>
          </a:prstGeom>
          <a:solidFill>
            <a:schemeClr val="accent1"/>
          </a:solidFill>
          <a:ln w="44450" cap="flat" cmpd="sng" algn="ctr">
            <a:solidFill>
              <a:schemeClr val="tx1"/>
            </a:solidFill>
            <a:prstDash val="solid"/>
            <a:round/>
            <a:headEnd type="none" w="med" len="med"/>
            <a:tailEnd type="triangle"/>
          </a:ln>
          <a:effectLst/>
        </p:spPr>
      </p:cxnSp>
      <p:cxnSp>
        <p:nvCxnSpPr>
          <p:cNvPr id="57" name="Straight Arrow Connector 56">
            <a:extLst>
              <a:ext uri="{FF2B5EF4-FFF2-40B4-BE49-F238E27FC236}">
                <a16:creationId xmlns:a16="http://schemas.microsoft.com/office/drawing/2014/main" id="{027F5757-0D83-9AF6-286F-E4407A576CD8}"/>
              </a:ext>
            </a:extLst>
          </p:cNvPr>
          <p:cNvCxnSpPr>
            <a:cxnSpLocks/>
            <a:stCxn id="9" idx="2"/>
            <a:endCxn id="11" idx="0"/>
          </p:cNvCxnSpPr>
          <p:nvPr/>
        </p:nvCxnSpPr>
        <p:spPr bwMode="auto">
          <a:xfrm>
            <a:off x="40108875" y="20628169"/>
            <a:ext cx="0" cy="333102"/>
          </a:xfrm>
          <a:prstGeom prst="straightConnector1">
            <a:avLst/>
          </a:prstGeom>
          <a:solidFill>
            <a:schemeClr val="accent1"/>
          </a:solidFill>
          <a:ln w="44450" cap="flat" cmpd="sng" algn="ctr">
            <a:solidFill>
              <a:schemeClr val="tx1"/>
            </a:solidFill>
            <a:prstDash val="solid"/>
            <a:round/>
            <a:headEnd type="none" w="med" len="med"/>
            <a:tailEnd type="triangle"/>
          </a:ln>
          <a:effectLst/>
        </p:spPr>
      </p:cxnSp>
      <p:cxnSp>
        <p:nvCxnSpPr>
          <p:cNvPr id="61" name="Connector: Elbow 60">
            <a:extLst>
              <a:ext uri="{FF2B5EF4-FFF2-40B4-BE49-F238E27FC236}">
                <a16:creationId xmlns:a16="http://schemas.microsoft.com/office/drawing/2014/main" id="{21B02E7F-1291-3C28-CC7E-77F5EC4E5FF5}"/>
              </a:ext>
            </a:extLst>
          </p:cNvPr>
          <p:cNvCxnSpPr>
            <a:stCxn id="11" idx="3"/>
            <a:endCxn id="13" idx="0"/>
          </p:cNvCxnSpPr>
          <p:nvPr/>
        </p:nvCxnSpPr>
        <p:spPr bwMode="auto">
          <a:xfrm>
            <a:off x="41663355" y="21298742"/>
            <a:ext cx="161918" cy="670573"/>
          </a:xfrm>
          <a:prstGeom prst="bentConnector2">
            <a:avLst/>
          </a:prstGeom>
          <a:solidFill>
            <a:schemeClr val="accent1"/>
          </a:solidFill>
          <a:ln w="44450" cap="flat" cmpd="sng" algn="ctr">
            <a:solidFill>
              <a:schemeClr val="tx1"/>
            </a:solidFill>
            <a:prstDash val="solid"/>
            <a:round/>
            <a:headEnd type="none" w="med" len="med"/>
            <a:tailEnd type="triangle"/>
          </a:ln>
          <a:effectLst/>
        </p:spPr>
      </p:cxnSp>
      <p:cxnSp>
        <p:nvCxnSpPr>
          <p:cNvPr id="62" name="Connector: Elbow 61">
            <a:extLst>
              <a:ext uri="{FF2B5EF4-FFF2-40B4-BE49-F238E27FC236}">
                <a16:creationId xmlns:a16="http://schemas.microsoft.com/office/drawing/2014/main" id="{7269844E-FE4B-6A7F-4C28-93FF7E650CD4}"/>
              </a:ext>
            </a:extLst>
          </p:cNvPr>
          <p:cNvCxnSpPr>
            <a:cxnSpLocks/>
            <a:stCxn id="11" idx="1"/>
            <a:endCxn id="12" idx="0"/>
          </p:cNvCxnSpPr>
          <p:nvPr/>
        </p:nvCxnSpPr>
        <p:spPr bwMode="auto">
          <a:xfrm rot="10800000" flipV="1">
            <a:off x="38377291" y="21298741"/>
            <a:ext cx="177104" cy="658429"/>
          </a:xfrm>
          <a:prstGeom prst="bentConnector2">
            <a:avLst/>
          </a:prstGeom>
          <a:solidFill>
            <a:schemeClr val="accent1"/>
          </a:solidFill>
          <a:ln w="44450" cap="flat" cmpd="sng" algn="ctr">
            <a:solidFill>
              <a:schemeClr val="tx1"/>
            </a:solidFill>
            <a:prstDash val="solid"/>
            <a:round/>
            <a:headEnd type="none" w="med" len="med"/>
            <a:tailEnd type="triangle"/>
          </a:ln>
          <a:effectLst/>
        </p:spPr>
      </p:cxnSp>
      <p:cxnSp>
        <p:nvCxnSpPr>
          <p:cNvPr id="2049" name="Connector: Elbow 2048">
            <a:extLst>
              <a:ext uri="{FF2B5EF4-FFF2-40B4-BE49-F238E27FC236}">
                <a16:creationId xmlns:a16="http://schemas.microsoft.com/office/drawing/2014/main" id="{C3D3A8EB-24F9-CA5B-E11D-56B8157BAF63}"/>
              </a:ext>
            </a:extLst>
          </p:cNvPr>
          <p:cNvCxnSpPr>
            <a:cxnSpLocks/>
            <a:stCxn id="12" idx="2"/>
            <a:endCxn id="16" idx="0"/>
          </p:cNvCxnSpPr>
          <p:nvPr/>
        </p:nvCxnSpPr>
        <p:spPr bwMode="auto">
          <a:xfrm rot="16200000" flipH="1">
            <a:off x="39070460" y="21786544"/>
            <a:ext cx="345246" cy="1731584"/>
          </a:xfrm>
          <a:prstGeom prst="bentConnector3">
            <a:avLst>
              <a:gd name="adj1" fmla="val 50000"/>
            </a:avLst>
          </a:prstGeom>
          <a:solidFill>
            <a:schemeClr val="accent1"/>
          </a:solidFill>
          <a:ln w="44450" cap="flat" cmpd="sng" algn="ctr">
            <a:solidFill>
              <a:schemeClr val="tx1"/>
            </a:solidFill>
            <a:prstDash val="solid"/>
            <a:round/>
            <a:headEnd type="none" w="med" len="med"/>
            <a:tailEnd type="triangle"/>
          </a:ln>
          <a:effectLst/>
        </p:spPr>
      </p:cxnSp>
      <p:cxnSp>
        <p:nvCxnSpPr>
          <p:cNvPr id="2054" name="Connector: Elbow 2053">
            <a:extLst>
              <a:ext uri="{FF2B5EF4-FFF2-40B4-BE49-F238E27FC236}">
                <a16:creationId xmlns:a16="http://schemas.microsoft.com/office/drawing/2014/main" id="{1D846D9D-7AB6-1C02-46DB-2CDAC6DFEB34}"/>
              </a:ext>
            </a:extLst>
          </p:cNvPr>
          <p:cNvCxnSpPr>
            <a:cxnSpLocks/>
            <a:stCxn id="13" idx="2"/>
            <a:endCxn id="16" idx="0"/>
          </p:cNvCxnSpPr>
          <p:nvPr/>
        </p:nvCxnSpPr>
        <p:spPr bwMode="auto">
          <a:xfrm rot="5400000">
            <a:off x="40800523" y="21800209"/>
            <a:ext cx="333102" cy="1716398"/>
          </a:xfrm>
          <a:prstGeom prst="bentConnector3">
            <a:avLst>
              <a:gd name="adj1" fmla="val 50000"/>
            </a:avLst>
          </a:prstGeom>
          <a:solidFill>
            <a:schemeClr val="accent1"/>
          </a:solidFill>
          <a:ln w="44450" cap="flat" cmpd="sng" algn="ctr">
            <a:solidFill>
              <a:schemeClr val="tx1"/>
            </a:solidFill>
            <a:prstDash val="solid"/>
            <a:round/>
            <a:headEnd type="none" w="med" len="med"/>
            <a:tailEnd type="triangle"/>
          </a:ln>
          <a:effectLst/>
        </p:spPr>
      </p:cxnSp>
      <p:cxnSp>
        <p:nvCxnSpPr>
          <p:cNvPr id="2057" name="Connector: Elbow 2056">
            <a:extLst>
              <a:ext uri="{FF2B5EF4-FFF2-40B4-BE49-F238E27FC236}">
                <a16:creationId xmlns:a16="http://schemas.microsoft.com/office/drawing/2014/main" id="{D25A303A-CAC4-FFAA-F9E8-3858C3836018}"/>
              </a:ext>
            </a:extLst>
          </p:cNvPr>
          <p:cNvCxnSpPr>
            <a:cxnSpLocks/>
            <a:stCxn id="16" idx="3"/>
            <a:endCxn id="17" idx="0"/>
          </p:cNvCxnSpPr>
          <p:nvPr/>
        </p:nvCxnSpPr>
        <p:spPr bwMode="auto">
          <a:xfrm>
            <a:off x="41663355" y="23162430"/>
            <a:ext cx="161918" cy="670573"/>
          </a:xfrm>
          <a:prstGeom prst="bentConnector2">
            <a:avLst/>
          </a:prstGeom>
          <a:solidFill>
            <a:schemeClr val="accent1"/>
          </a:solidFill>
          <a:ln w="44450" cap="flat" cmpd="sng" algn="ctr">
            <a:solidFill>
              <a:schemeClr val="tx1"/>
            </a:solidFill>
            <a:prstDash val="solid"/>
            <a:round/>
            <a:headEnd type="none" w="med" len="med"/>
            <a:tailEnd type="triangle"/>
          </a:ln>
          <a:effectLst/>
        </p:spPr>
      </p:cxnSp>
      <p:cxnSp>
        <p:nvCxnSpPr>
          <p:cNvPr id="2061" name="Straight Arrow Connector 2060">
            <a:extLst>
              <a:ext uri="{FF2B5EF4-FFF2-40B4-BE49-F238E27FC236}">
                <a16:creationId xmlns:a16="http://schemas.microsoft.com/office/drawing/2014/main" id="{71898C0D-F538-7EC1-6246-21F7A73A503B}"/>
              </a:ext>
            </a:extLst>
          </p:cNvPr>
          <p:cNvCxnSpPr>
            <a:cxnSpLocks/>
            <a:stCxn id="17" idx="2"/>
            <a:endCxn id="42" idx="0"/>
          </p:cNvCxnSpPr>
          <p:nvPr/>
        </p:nvCxnSpPr>
        <p:spPr bwMode="auto">
          <a:xfrm>
            <a:off x="41825273" y="24355545"/>
            <a:ext cx="0" cy="333102"/>
          </a:xfrm>
          <a:prstGeom prst="straightConnector1">
            <a:avLst/>
          </a:prstGeom>
          <a:solidFill>
            <a:schemeClr val="accent1"/>
          </a:solidFill>
          <a:ln w="44450" cap="flat" cmpd="sng" algn="ctr">
            <a:solidFill>
              <a:schemeClr val="tx1"/>
            </a:solidFill>
            <a:prstDash val="solid"/>
            <a:round/>
            <a:headEnd type="none" w="med" len="med"/>
            <a:tailEnd type="triangle"/>
          </a:ln>
          <a:effectLst/>
        </p:spPr>
      </p:cxnSp>
      <p:cxnSp>
        <p:nvCxnSpPr>
          <p:cNvPr id="2065" name="Straight Arrow Connector 2064">
            <a:extLst>
              <a:ext uri="{FF2B5EF4-FFF2-40B4-BE49-F238E27FC236}">
                <a16:creationId xmlns:a16="http://schemas.microsoft.com/office/drawing/2014/main" id="{4ACF5CC3-78D5-3BE3-1992-3979AFE3BB76}"/>
              </a:ext>
            </a:extLst>
          </p:cNvPr>
          <p:cNvCxnSpPr>
            <a:cxnSpLocks/>
            <a:stCxn id="42" idx="2"/>
            <a:endCxn id="43" idx="0"/>
          </p:cNvCxnSpPr>
          <p:nvPr/>
        </p:nvCxnSpPr>
        <p:spPr bwMode="auto">
          <a:xfrm>
            <a:off x="41825273" y="25211189"/>
            <a:ext cx="0" cy="333102"/>
          </a:xfrm>
          <a:prstGeom prst="straightConnector1">
            <a:avLst/>
          </a:prstGeom>
          <a:solidFill>
            <a:schemeClr val="accent1"/>
          </a:solidFill>
          <a:ln w="44450" cap="flat" cmpd="sng" algn="ctr">
            <a:solidFill>
              <a:schemeClr val="tx1"/>
            </a:solidFill>
            <a:prstDash val="solid"/>
            <a:round/>
            <a:headEnd type="none" w="med" len="med"/>
            <a:tailEnd type="triangle"/>
          </a:ln>
          <a:effectLst/>
        </p:spPr>
      </p:cxnSp>
      <p:cxnSp>
        <p:nvCxnSpPr>
          <p:cNvPr id="2069" name="Connector: Elbow 2068">
            <a:extLst>
              <a:ext uri="{FF2B5EF4-FFF2-40B4-BE49-F238E27FC236}">
                <a16:creationId xmlns:a16="http://schemas.microsoft.com/office/drawing/2014/main" id="{781504D4-A2E7-BF6B-A8CB-C5F8524EECC2}"/>
              </a:ext>
            </a:extLst>
          </p:cNvPr>
          <p:cNvCxnSpPr>
            <a:cxnSpLocks/>
            <a:stCxn id="43" idx="2"/>
            <a:endCxn id="44" idx="3"/>
          </p:cNvCxnSpPr>
          <p:nvPr/>
        </p:nvCxnSpPr>
        <p:spPr bwMode="auto">
          <a:xfrm rot="5400000">
            <a:off x="41386511" y="26605907"/>
            <a:ext cx="713429" cy="164097"/>
          </a:xfrm>
          <a:prstGeom prst="bentConnector2">
            <a:avLst/>
          </a:prstGeom>
          <a:solidFill>
            <a:schemeClr val="accent1"/>
          </a:solidFill>
          <a:ln w="44450" cap="flat" cmpd="sng" algn="ctr">
            <a:solidFill>
              <a:schemeClr val="tx1"/>
            </a:solidFill>
            <a:prstDash val="solid"/>
            <a:round/>
            <a:headEnd type="none" w="med" len="med"/>
            <a:tailEnd type="triangle"/>
          </a:ln>
          <a:effectLst/>
        </p:spPr>
      </p:cxnSp>
      <p:cxnSp>
        <p:nvCxnSpPr>
          <p:cNvPr id="2072" name="Connector: Elbow 2071">
            <a:extLst>
              <a:ext uri="{FF2B5EF4-FFF2-40B4-BE49-F238E27FC236}">
                <a16:creationId xmlns:a16="http://schemas.microsoft.com/office/drawing/2014/main" id="{A1792AD4-9E35-243E-EDD1-D52EC63FDC46}"/>
              </a:ext>
            </a:extLst>
          </p:cNvPr>
          <p:cNvCxnSpPr>
            <a:cxnSpLocks/>
            <a:stCxn id="16" idx="2"/>
            <a:endCxn id="44" idx="1"/>
          </p:cNvCxnSpPr>
          <p:nvPr/>
        </p:nvCxnSpPr>
        <p:spPr bwMode="auto">
          <a:xfrm rot="5400000">
            <a:off x="37558162" y="24493956"/>
            <a:ext cx="3544769" cy="1556659"/>
          </a:xfrm>
          <a:prstGeom prst="bentConnector4">
            <a:avLst>
              <a:gd name="adj1" fmla="val 44635"/>
              <a:gd name="adj2" fmla="val 114685"/>
            </a:avLst>
          </a:prstGeom>
          <a:solidFill>
            <a:schemeClr val="accent1"/>
          </a:solidFill>
          <a:ln w="44450" cap="flat" cmpd="sng" algn="ctr">
            <a:solidFill>
              <a:schemeClr val="tx1"/>
            </a:solidFill>
            <a:prstDash val="solid"/>
            <a:round/>
            <a:headEnd type="none" w="med" len="med"/>
            <a:tailEnd type="triangle"/>
          </a:ln>
          <a:effectLst/>
        </p:spPr>
      </p:cxnSp>
      <p:cxnSp>
        <p:nvCxnSpPr>
          <p:cNvPr id="2075" name="Straight Arrow Connector 2074">
            <a:extLst>
              <a:ext uri="{FF2B5EF4-FFF2-40B4-BE49-F238E27FC236}">
                <a16:creationId xmlns:a16="http://schemas.microsoft.com/office/drawing/2014/main" id="{0FEE0A7F-F731-6B6E-EEB8-AFBC6105319E}"/>
              </a:ext>
            </a:extLst>
          </p:cNvPr>
          <p:cNvCxnSpPr>
            <a:cxnSpLocks/>
            <a:stCxn id="44" idx="2"/>
            <a:endCxn id="46" idx="0"/>
          </p:cNvCxnSpPr>
          <p:nvPr/>
        </p:nvCxnSpPr>
        <p:spPr bwMode="auto">
          <a:xfrm>
            <a:off x="40106696" y="27424996"/>
            <a:ext cx="0" cy="333102"/>
          </a:xfrm>
          <a:prstGeom prst="straightConnector1">
            <a:avLst/>
          </a:prstGeom>
          <a:solidFill>
            <a:schemeClr val="accent1"/>
          </a:solidFill>
          <a:ln w="44450" cap="flat" cmpd="sng" algn="ctr">
            <a:solidFill>
              <a:schemeClr val="tx1"/>
            </a:solidFill>
            <a:prstDash val="solid"/>
            <a:round/>
            <a:headEnd type="none" w="med" len="med"/>
            <a:tailEnd type="triangle"/>
          </a:ln>
          <a:effectLst/>
        </p:spPr>
      </p:cxnSp>
      <p:cxnSp>
        <p:nvCxnSpPr>
          <p:cNvPr id="2078" name="Straight Arrow Connector 2077">
            <a:extLst>
              <a:ext uri="{FF2B5EF4-FFF2-40B4-BE49-F238E27FC236}">
                <a16:creationId xmlns:a16="http://schemas.microsoft.com/office/drawing/2014/main" id="{350CC72E-2902-AC9A-CFF7-7481D4DFF06D}"/>
              </a:ext>
            </a:extLst>
          </p:cNvPr>
          <p:cNvCxnSpPr>
            <a:cxnSpLocks/>
            <a:stCxn id="46" idx="2"/>
            <a:endCxn id="47" idx="0"/>
          </p:cNvCxnSpPr>
          <p:nvPr/>
        </p:nvCxnSpPr>
        <p:spPr bwMode="auto">
          <a:xfrm>
            <a:off x="40106696" y="28433040"/>
            <a:ext cx="0" cy="333107"/>
          </a:xfrm>
          <a:prstGeom prst="straightConnector1">
            <a:avLst/>
          </a:prstGeom>
          <a:solidFill>
            <a:schemeClr val="accent1"/>
          </a:solidFill>
          <a:ln w="44450" cap="flat" cmpd="sng" algn="ctr">
            <a:solidFill>
              <a:schemeClr val="tx1"/>
            </a:solidFill>
            <a:prstDash val="solid"/>
            <a:round/>
            <a:headEnd type="none" w="med" len="med"/>
            <a:tailEnd type="triangle"/>
          </a:ln>
          <a:effectLst/>
        </p:spPr>
      </p:cxnSp>
      <p:cxnSp>
        <p:nvCxnSpPr>
          <p:cNvPr id="2081" name="Connector: Elbow 2080">
            <a:extLst>
              <a:ext uri="{FF2B5EF4-FFF2-40B4-BE49-F238E27FC236}">
                <a16:creationId xmlns:a16="http://schemas.microsoft.com/office/drawing/2014/main" id="{E39D9059-8179-D22C-B0F7-8260F250DB8E}"/>
              </a:ext>
            </a:extLst>
          </p:cNvPr>
          <p:cNvCxnSpPr>
            <a:cxnSpLocks/>
            <a:stCxn id="46" idx="1"/>
            <a:endCxn id="16" idx="1"/>
          </p:cNvCxnSpPr>
          <p:nvPr/>
        </p:nvCxnSpPr>
        <p:spPr bwMode="auto">
          <a:xfrm rot="10800000" flipH="1">
            <a:off x="38552215" y="23162431"/>
            <a:ext cx="2179" cy="4933139"/>
          </a:xfrm>
          <a:prstGeom prst="bentConnector3">
            <a:avLst>
              <a:gd name="adj1" fmla="val -23313447"/>
            </a:avLst>
          </a:prstGeom>
          <a:solidFill>
            <a:schemeClr val="accent1"/>
          </a:solidFill>
          <a:ln w="44450" cap="flat" cmpd="sng" algn="ctr">
            <a:solidFill>
              <a:schemeClr val="tx1"/>
            </a:solidFill>
            <a:prstDash val="solid"/>
            <a:round/>
            <a:headEnd type="none" w="med" len="med"/>
            <a:tailEnd type="triangle"/>
          </a:ln>
          <a:effectLst/>
        </p:spPr>
      </p:cxnSp>
      <p:sp>
        <p:nvSpPr>
          <p:cNvPr id="2098" name="TextBox 2097">
            <a:extLst>
              <a:ext uri="{FF2B5EF4-FFF2-40B4-BE49-F238E27FC236}">
                <a16:creationId xmlns:a16="http://schemas.microsoft.com/office/drawing/2014/main" id="{48DD8BAB-EE3D-0897-6355-725570A8919D}"/>
              </a:ext>
            </a:extLst>
          </p:cNvPr>
          <p:cNvSpPr txBox="1"/>
          <p:nvPr/>
        </p:nvSpPr>
        <p:spPr>
          <a:xfrm>
            <a:off x="37426697" y="21255149"/>
            <a:ext cx="1143000" cy="461665"/>
          </a:xfrm>
          <a:prstGeom prst="rect">
            <a:avLst/>
          </a:prstGeom>
          <a:noFill/>
        </p:spPr>
        <p:txBody>
          <a:bodyPr wrap="square" rtlCol="0">
            <a:spAutoFit/>
          </a:bodyPr>
          <a:lstStyle/>
          <a:p>
            <a:pPr algn="ctr"/>
            <a:r>
              <a:rPr lang="en-US" altLang="ko-KR" b="0" dirty="0"/>
              <a:t>Yes</a:t>
            </a:r>
          </a:p>
        </p:txBody>
      </p:sp>
      <p:sp>
        <p:nvSpPr>
          <p:cNvPr id="2099" name="TextBox 2098">
            <a:extLst>
              <a:ext uri="{FF2B5EF4-FFF2-40B4-BE49-F238E27FC236}">
                <a16:creationId xmlns:a16="http://schemas.microsoft.com/office/drawing/2014/main" id="{D370EC63-7CE5-218A-F544-684CEA8243C7}"/>
              </a:ext>
            </a:extLst>
          </p:cNvPr>
          <p:cNvSpPr txBox="1"/>
          <p:nvPr/>
        </p:nvSpPr>
        <p:spPr>
          <a:xfrm>
            <a:off x="41678657" y="21294373"/>
            <a:ext cx="1143000" cy="461665"/>
          </a:xfrm>
          <a:prstGeom prst="rect">
            <a:avLst/>
          </a:prstGeom>
          <a:noFill/>
        </p:spPr>
        <p:txBody>
          <a:bodyPr wrap="square" rtlCol="0">
            <a:spAutoFit/>
          </a:bodyPr>
          <a:lstStyle/>
          <a:p>
            <a:pPr algn="ctr"/>
            <a:r>
              <a:rPr lang="en-US" altLang="ko-KR" b="0" dirty="0"/>
              <a:t>No</a:t>
            </a:r>
          </a:p>
        </p:txBody>
      </p:sp>
      <p:sp>
        <p:nvSpPr>
          <p:cNvPr id="2100" name="TextBox 2099">
            <a:extLst>
              <a:ext uri="{FF2B5EF4-FFF2-40B4-BE49-F238E27FC236}">
                <a16:creationId xmlns:a16="http://schemas.microsoft.com/office/drawing/2014/main" id="{AD69FACB-B8C2-4D68-B11D-E497ECDDAF0C}"/>
              </a:ext>
            </a:extLst>
          </p:cNvPr>
          <p:cNvSpPr txBox="1"/>
          <p:nvPr/>
        </p:nvSpPr>
        <p:spPr>
          <a:xfrm>
            <a:off x="41825273" y="23159621"/>
            <a:ext cx="1143000" cy="461665"/>
          </a:xfrm>
          <a:prstGeom prst="rect">
            <a:avLst/>
          </a:prstGeom>
          <a:noFill/>
        </p:spPr>
        <p:txBody>
          <a:bodyPr wrap="square" rtlCol="0">
            <a:spAutoFit/>
          </a:bodyPr>
          <a:lstStyle/>
          <a:p>
            <a:pPr algn="ctr"/>
            <a:r>
              <a:rPr lang="en-US" altLang="ko-KR" b="0" dirty="0"/>
              <a:t>No</a:t>
            </a:r>
          </a:p>
        </p:txBody>
      </p:sp>
      <p:sp>
        <p:nvSpPr>
          <p:cNvPr id="2101" name="TextBox 2100">
            <a:extLst>
              <a:ext uri="{FF2B5EF4-FFF2-40B4-BE49-F238E27FC236}">
                <a16:creationId xmlns:a16="http://schemas.microsoft.com/office/drawing/2014/main" id="{F0806A71-ABDE-90B1-7F65-9814860AF21E}"/>
              </a:ext>
            </a:extLst>
          </p:cNvPr>
          <p:cNvSpPr txBox="1"/>
          <p:nvPr/>
        </p:nvSpPr>
        <p:spPr>
          <a:xfrm>
            <a:off x="39115470" y="23539896"/>
            <a:ext cx="1143000" cy="461665"/>
          </a:xfrm>
          <a:prstGeom prst="rect">
            <a:avLst/>
          </a:prstGeom>
          <a:noFill/>
        </p:spPr>
        <p:txBody>
          <a:bodyPr wrap="square" rtlCol="0">
            <a:spAutoFit/>
          </a:bodyPr>
          <a:lstStyle/>
          <a:p>
            <a:pPr algn="ctr"/>
            <a:r>
              <a:rPr lang="en-US" altLang="ko-KR" b="0" dirty="0"/>
              <a:t>Yes</a:t>
            </a:r>
          </a:p>
        </p:txBody>
      </p:sp>
      <p:sp>
        <p:nvSpPr>
          <p:cNvPr id="2102" name="TextBox 2101">
            <a:extLst>
              <a:ext uri="{FF2B5EF4-FFF2-40B4-BE49-F238E27FC236}">
                <a16:creationId xmlns:a16="http://schemas.microsoft.com/office/drawing/2014/main" id="{BC328F75-06B6-08D6-0C03-ECF5A9D015F5}"/>
              </a:ext>
            </a:extLst>
          </p:cNvPr>
          <p:cNvSpPr txBox="1"/>
          <p:nvPr/>
        </p:nvSpPr>
        <p:spPr>
          <a:xfrm>
            <a:off x="37894343" y="27488779"/>
            <a:ext cx="1143000" cy="461665"/>
          </a:xfrm>
          <a:prstGeom prst="rect">
            <a:avLst/>
          </a:prstGeom>
          <a:noFill/>
        </p:spPr>
        <p:txBody>
          <a:bodyPr wrap="square" rtlCol="0">
            <a:spAutoFit/>
          </a:bodyPr>
          <a:lstStyle/>
          <a:p>
            <a:pPr algn="ctr"/>
            <a:r>
              <a:rPr lang="en-US" altLang="ko-KR" b="0" dirty="0"/>
              <a:t>No</a:t>
            </a:r>
          </a:p>
        </p:txBody>
      </p:sp>
      <p:sp>
        <p:nvSpPr>
          <p:cNvPr id="2103" name="TextBox 2102">
            <a:extLst>
              <a:ext uri="{FF2B5EF4-FFF2-40B4-BE49-F238E27FC236}">
                <a16:creationId xmlns:a16="http://schemas.microsoft.com/office/drawing/2014/main" id="{68B067B4-3DE3-3C59-14D9-B8A78659103E}"/>
              </a:ext>
            </a:extLst>
          </p:cNvPr>
          <p:cNvSpPr txBox="1"/>
          <p:nvPr/>
        </p:nvSpPr>
        <p:spPr>
          <a:xfrm>
            <a:off x="40123363" y="28323532"/>
            <a:ext cx="1143000" cy="461665"/>
          </a:xfrm>
          <a:prstGeom prst="rect">
            <a:avLst/>
          </a:prstGeom>
          <a:noFill/>
        </p:spPr>
        <p:txBody>
          <a:bodyPr wrap="square" rtlCol="0">
            <a:spAutoFit/>
          </a:bodyPr>
          <a:lstStyle/>
          <a:p>
            <a:pPr algn="ctr"/>
            <a:r>
              <a:rPr lang="en-US" altLang="ko-KR" b="0" dirty="0"/>
              <a:t>Yes</a:t>
            </a:r>
          </a:p>
        </p:txBody>
      </p:sp>
      <p:sp>
        <p:nvSpPr>
          <p:cNvPr id="2104" name="TextBox 2103">
            <a:extLst>
              <a:ext uri="{FF2B5EF4-FFF2-40B4-BE49-F238E27FC236}">
                <a16:creationId xmlns:a16="http://schemas.microsoft.com/office/drawing/2014/main" id="{378F3C8C-B310-DB83-A7F8-BA70B2980CBF}"/>
              </a:ext>
            </a:extLst>
          </p:cNvPr>
          <p:cNvSpPr txBox="1"/>
          <p:nvPr/>
        </p:nvSpPr>
        <p:spPr>
          <a:xfrm>
            <a:off x="29359984" y="29260800"/>
            <a:ext cx="13874476" cy="1892826"/>
          </a:xfrm>
          <a:prstGeom prst="rect">
            <a:avLst/>
          </a:prstGeom>
          <a:noFill/>
        </p:spPr>
        <p:txBody>
          <a:bodyPr wrap="square">
            <a:spAutoFit/>
          </a:bodyPr>
          <a:lstStyle/>
          <a:p>
            <a:pPr algn="l">
              <a:spcBef>
                <a:spcPct val="50000"/>
              </a:spcBef>
            </a:pPr>
            <a:r>
              <a:rPr lang="en-US" sz="4000" b="1" i="1" dirty="0"/>
              <a:t>References</a:t>
            </a:r>
          </a:p>
          <a:p>
            <a:pPr algn="l">
              <a:spcBef>
                <a:spcPct val="50000"/>
              </a:spcBef>
            </a:pPr>
            <a:r>
              <a:rPr lang="en-US" sz="2200" dirty="0"/>
              <a:t>[1] </a:t>
            </a:r>
            <a:r>
              <a:rPr lang="en-US" altLang="ko-KR" sz="2200" b="0" i="0" dirty="0">
                <a:solidFill>
                  <a:srgbClr val="222222"/>
                </a:solidFill>
                <a:effectLst/>
                <a:latin typeface="Arial" panose="020B0604020202020204" pitchFamily="34" charset="0"/>
              </a:rPr>
              <a:t>Negrete, Aimar, and Ossama </a:t>
            </a:r>
            <a:r>
              <a:rPr lang="en-US" altLang="ko-KR" sz="2200" b="0" i="0" dirty="0" err="1">
                <a:solidFill>
                  <a:srgbClr val="222222"/>
                </a:solidFill>
                <a:effectLst/>
                <a:latin typeface="Arial" panose="020B0604020202020204" pitchFamily="34" charset="0"/>
              </a:rPr>
              <a:t>Abdelkhalik</a:t>
            </a:r>
            <a:r>
              <a:rPr lang="en-US" altLang="ko-KR" sz="2200" b="0" i="0" dirty="0">
                <a:solidFill>
                  <a:srgbClr val="222222"/>
                </a:solidFill>
                <a:effectLst/>
                <a:latin typeface="Arial" panose="020B0604020202020204" pitchFamily="34" charset="0"/>
              </a:rPr>
              <a:t>. "A geometric approach to deep space navigation using angles-only measurements." </a:t>
            </a:r>
            <a:r>
              <a:rPr lang="en-US" altLang="ko-KR" sz="2200" b="0" i="1" dirty="0">
                <a:solidFill>
                  <a:srgbClr val="222222"/>
                </a:solidFill>
                <a:effectLst/>
                <a:latin typeface="Arial" panose="020B0604020202020204" pitchFamily="34" charset="0"/>
              </a:rPr>
              <a:t>AIAA SCITECH 2024 Forum</a:t>
            </a:r>
            <a:r>
              <a:rPr lang="en-US" altLang="ko-KR" sz="2200" b="0" i="0" dirty="0">
                <a:solidFill>
                  <a:srgbClr val="222222"/>
                </a:solidFill>
                <a:effectLst/>
                <a:latin typeface="Arial" panose="020B0604020202020204" pitchFamily="34" charset="0"/>
              </a:rPr>
              <a:t>. 2024.</a:t>
            </a:r>
            <a:r>
              <a:rPr lang="en-US" sz="2200" dirty="0"/>
              <a:t>  [2] </a:t>
            </a:r>
            <a:r>
              <a:rPr lang="en-US" altLang="ko-KR" sz="2200" b="0" i="0" dirty="0">
                <a:solidFill>
                  <a:srgbClr val="222222"/>
                </a:solidFill>
                <a:effectLst/>
                <a:latin typeface="Arial" panose="020B0604020202020204" pitchFamily="34" charset="0"/>
              </a:rPr>
              <a:t>Fang, Bertrand T. "Trilateration and extension to global positioning system navigation." </a:t>
            </a:r>
            <a:r>
              <a:rPr lang="en-US" altLang="ko-KR" sz="2200" b="0" i="1" dirty="0">
                <a:solidFill>
                  <a:srgbClr val="222222"/>
                </a:solidFill>
                <a:effectLst/>
                <a:latin typeface="Arial" panose="020B0604020202020204" pitchFamily="34" charset="0"/>
              </a:rPr>
              <a:t>Journal of Guidance, Control, and Dynamics</a:t>
            </a:r>
            <a:r>
              <a:rPr lang="en-US" altLang="ko-KR" sz="2200" b="0" i="0" dirty="0">
                <a:solidFill>
                  <a:srgbClr val="222222"/>
                </a:solidFill>
                <a:effectLst/>
                <a:latin typeface="Arial" panose="020B0604020202020204" pitchFamily="34" charset="0"/>
              </a:rPr>
              <a:t> 9.6 (1986): 715-717.</a:t>
            </a:r>
            <a:endParaRPr lang="en-US" dirty="0"/>
          </a:p>
        </p:txBody>
      </p:sp>
    </p:spTree>
    <p:extLst>
      <p:ext uri="{BB962C8B-B14F-4D97-AF65-F5344CB8AC3E}">
        <p14:creationId xmlns:p14="http://schemas.microsoft.com/office/powerpoint/2010/main" val="916698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EDA5D-B52F-48C3-3D10-DBDB4A8AAE62}"/>
            </a:ext>
          </a:extLst>
        </p:cNvPr>
        <p:cNvGrpSpPr/>
        <p:nvPr/>
      </p:nvGrpSpPr>
      <p:grpSpPr>
        <a:xfrm>
          <a:off x="0" y="0"/>
          <a:ext cx="0" cy="0"/>
          <a:chOff x="0" y="0"/>
          <a:chExt cx="0" cy="0"/>
        </a:xfrm>
      </p:grpSpPr>
      <p:pic>
        <p:nvPicPr>
          <p:cNvPr id="17" name="Picture 16" descr="A diagram of a graph&#10;&#10;AI-generated content may be incorrect.">
            <a:extLst>
              <a:ext uri="{FF2B5EF4-FFF2-40B4-BE49-F238E27FC236}">
                <a16:creationId xmlns:a16="http://schemas.microsoft.com/office/drawing/2014/main" id="{BA640503-3C6E-6CED-421E-BAB3AAC8B3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54800" y="6529440"/>
            <a:ext cx="23812500" cy="8934450"/>
          </a:xfrm>
          <a:prstGeom prst="rect">
            <a:avLst/>
          </a:prstGeom>
        </p:spPr>
      </p:pic>
      <p:pic>
        <p:nvPicPr>
          <p:cNvPr id="18" name="Picture 17" descr="A diagram of a circle with numbers and lines&#10;&#10;AI-generated content may be incorrect.">
            <a:extLst>
              <a:ext uri="{FF2B5EF4-FFF2-40B4-BE49-F238E27FC236}">
                <a16:creationId xmlns:a16="http://schemas.microsoft.com/office/drawing/2014/main" id="{BA8D60C7-307F-F536-0622-3D74E9CF19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4925" y="14249400"/>
            <a:ext cx="29765625" cy="17859375"/>
          </a:xfrm>
          <a:prstGeom prst="rect">
            <a:avLst/>
          </a:prstGeom>
        </p:spPr>
      </p:pic>
    </p:spTree>
    <p:extLst>
      <p:ext uri="{BB962C8B-B14F-4D97-AF65-F5344CB8AC3E}">
        <p14:creationId xmlns:p14="http://schemas.microsoft.com/office/powerpoint/2010/main" val="4269772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FEB06-1083-0A3B-CBAA-E341FA98103B}"/>
            </a:ext>
          </a:extLst>
        </p:cNvPr>
        <p:cNvGrpSpPr/>
        <p:nvPr/>
      </p:nvGrpSpPr>
      <p:grpSpPr>
        <a:xfrm>
          <a:off x="0" y="0"/>
          <a:ext cx="0" cy="0"/>
          <a:chOff x="0" y="0"/>
          <a:chExt cx="0" cy="0"/>
        </a:xfrm>
      </p:grpSpPr>
      <p:pic>
        <p:nvPicPr>
          <p:cNvPr id="8" name="Picture 7" descr="A diagram of a graph&#10;&#10;AI-generated content may be incorrect.">
            <a:extLst>
              <a:ext uri="{FF2B5EF4-FFF2-40B4-BE49-F238E27FC236}">
                <a16:creationId xmlns:a16="http://schemas.microsoft.com/office/drawing/2014/main" id="{BD06FDB5-03FD-3587-893E-2D577363998E}"/>
              </a:ext>
            </a:extLst>
          </p:cNvPr>
          <p:cNvPicPr>
            <a:picLocks noChangeAspect="1"/>
          </p:cNvPicPr>
          <p:nvPr/>
        </p:nvPicPr>
        <p:blipFill>
          <a:blip r:embed="rId2">
            <a:extLst>
              <a:ext uri="{28A0092B-C50C-407E-A947-70E740481C1C}">
                <a14:useLocalDpi xmlns:a14="http://schemas.microsoft.com/office/drawing/2010/main" val="0"/>
              </a:ext>
            </a:extLst>
          </a:blip>
          <a:srcRect l="9701" t="5594" r="10611" b="3169"/>
          <a:stretch/>
        </p:blipFill>
        <p:spPr>
          <a:xfrm>
            <a:off x="20421600" y="24207735"/>
            <a:ext cx="17526001" cy="12039600"/>
          </a:xfrm>
          <a:prstGeom prst="rect">
            <a:avLst/>
          </a:prstGeom>
        </p:spPr>
      </p:pic>
      <p:pic>
        <p:nvPicPr>
          <p:cNvPr id="10" name="Picture 9" descr="A group of math equations&#10;&#10;AI-generated content may be incorrect.">
            <a:extLst>
              <a:ext uri="{FF2B5EF4-FFF2-40B4-BE49-F238E27FC236}">
                <a16:creationId xmlns:a16="http://schemas.microsoft.com/office/drawing/2014/main" id="{CD8F4F3F-EF8A-9EEE-8E18-D4F11B77BD52}"/>
              </a:ext>
            </a:extLst>
          </p:cNvPr>
          <p:cNvPicPr>
            <a:picLocks noChangeAspect="1"/>
          </p:cNvPicPr>
          <p:nvPr/>
        </p:nvPicPr>
        <p:blipFill>
          <a:blip r:embed="rId3">
            <a:extLst>
              <a:ext uri="{28A0092B-C50C-407E-A947-70E740481C1C}">
                <a14:useLocalDpi xmlns:a14="http://schemas.microsoft.com/office/drawing/2010/main" val="0"/>
              </a:ext>
            </a:extLst>
          </a:blip>
          <a:srcRect l="10057" t="3920" r="9669" b="2640"/>
          <a:stretch/>
        </p:blipFill>
        <p:spPr>
          <a:xfrm>
            <a:off x="19050000" y="2690865"/>
            <a:ext cx="33451800" cy="16687800"/>
          </a:xfrm>
          <a:prstGeom prst="rect">
            <a:avLst/>
          </a:prstGeom>
        </p:spPr>
      </p:pic>
      <p:pic>
        <p:nvPicPr>
          <p:cNvPr id="12" name="Picture 11" descr="A diagram of a sun&#10;&#10;AI-generated content may be incorrect.">
            <a:extLst>
              <a:ext uri="{FF2B5EF4-FFF2-40B4-BE49-F238E27FC236}">
                <a16:creationId xmlns:a16="http://schemas.microsoft.com/office/drawing/2014/main" id="{E84D0B7F-139E-2BFF-E649-2A6F35E14E09}"/>
              </a:ext>
            </a:extLst>
          </p:cNvPr>
          <p:cNvPicPr>
            <a:picLocks noChangeAspect="1"/>
          </p:cNvPicPr>
          <p:nvPr/>
        </p:nvPicPr>
        <p:blipFill>
          <a:blip r:embed="rId4">
            <a:extLst>
              <a:ext uri="{28A0092B-C50C-407E-A947-70E740481C1C}">
                <a14:useLocalDpi xmlns:a14="http://schemas.microsoft.com/office/drawing/2010/main" val="0"/>
              </a:ext>
            </a:extLst>
          </a:blip>
          <a:srcRect l="6221" t="1898" r="8979" b="2956"/>
          <a:stretch/>
        </p:blipFill>
        <p:spPr>
          <a:xfrm>
            <a:off x="1255324" y="10996665"/>
            <a:ext cx="14776947" cy="12434940"/>
          </a:xfrm>
          <a:prstGeom prst="rect">
            <a:avLst/>
          </a:prstGeom>
        </p:spPr>
      </p:pic>
      <p:pic>
        <p:nvPicPr>
          <p:cNvPr id="14" name="Picture 13" descr="A diagram of a graph&#10;&#10;AI-generated content may be incorrect.">
            <a:extLst>
              <a:ext uri="{FF2B5EF4-FFF2-40B4-BE49-F238E27FC236}">
                <a16:creationId xmlns:a16="http://schemas.microsoft.com/office/drawing/2014/main" id="{D43360B3-7B19-1EA3-D741-ABF13C1A7436}"/>
              </a:ext>
            </a:extLst>
          </p:cNvPr>
          <p:cNvPicPr>
            <a:picLocks noChangeAspect="1"/>
          </p:cNvPicPr>
          <p:nvPr/>
        </p:nvPicPr>
        <p:blipFill>
          <a:blip r:embed="rId5">
            <a:extLst>
              <a:ext uri="{28A0092B-C50C-407E-A947-70E740481C1C}">
                <a14:useLocalDpi xmlns:a14="http://schemas.microsoft.com/office/drawing/2010/main" val="0"/>
              </a:ext>
            </a:extLst>
          </a:blip>
          <a:srcRect l="7123" t="5689" r="8653" b="2564"/>
          <a:stretch/>
        </p:blipFill>
        <p:spPr>
          <a:xfrm>
            <a:off x="0" y="0"/>
            <a:ext cx="15559335" cy="10169332"/>
          </a:xfrm>
          <a:prstGeom prst="rect">
            <a:avLst/>
          </a:prstGeom>
        </p:spPr>
      </p:pic>
      <p:sp>
        <p:nvSpPr>
          <p:cNvPr id="7" name="TextBox 6">
            <a:extLst>
              <a:ext uri="{FF2B5EF4-FFF2-40B4-BE49-F238E27FC236}">
                <a16:creationId xmlns:a16="http://schemas.microsoft.com/office/drawing/2014/main" id="{42BDE78D-5732-BA2B-DD68-69E44F5D017B}"/>
              </a:ext>
            </a:extLst>
          </p:cNvPr>
          <p:cNvSpPr txBox="1"/>
          <p:nvPr/>
        </p:nvSpPr>
        <p:spPr>
          <a:xfrm>
            <a:off x="1600200" y="30102483"/>
            <a:ext cx="40843200" cy="1215717"/>
          </a:xfrm>
          <a:prstGeom prst="rect">
            <a:avLst/>
          </a:prstGeom>
          <a:noFill/>
        </p:spPr>
        <p:txBody>
          <a:bodyPr wrap="square">
            <a:spAutoFit/>
          </a:bodyPr>
          <a:lstStyle/>
          <a:p>
            <a:pPr algn="l">
              <a:spcBef>
                <a:spcPct val="50000"/>
              </a:spcBef>
            </a:pPr>
            <a:r>
              <a:rPr lang="en-US" sz="4000" b="1" dirty="0"/>
              <a:t>References</a:t>
            </a:r>
          </a:p>
          <a:p>
            <a:pPr algn="l">
              <a:spcBef>
                <a:spcPct val="50000"/>
              </a:spcBef>
            </a:pPr>
            <a:r>
              <a:rPr lang="en-US" sz="2200" dirty="0"/>
              <a:t>[1] </a:t>
            </a:r>
            <a:r>
              <a:rPr lang="en-US" altLang="ko-KR" sz="2200" b="0" i="0" dirty="0">
                <a:solidFill>
                  <a:srgbClr val="222222"/>
                </a:solidFill>
                <a:effectLst/>
                <a:latin typeface="Arial" panose="020B0604020202020204" pitchFamily="34" charset="0"/>
              </a:rPr>
              <a:t>Negrete, Aimar, and Ossama </a:t>
            </a:r>
            <a:r>
              <a:rPr lang="en-US" altLang="ko-KR" sz="2200" b="0" i="0" dirty="0" err="1">
                <a:solidFill>
                  <a:srgbClr val="222222"/>
                </a:solidFill>
                <a:effectLst/>
                <a:latin typeface="Arial" panose="020B0604020202020204" pitchFamily="34" charset="0"/>
              </a:rPr>
              <a:t>Abdelkhalik</a:t>
            </a:r>
            <a:r>
              <a:rPr lang="en-US" altLang="ko-KR" sz="2200" b="0" i="0" dirty="0">
                <a:solidFill>
                  <a:srgbClr val="222222"/>
                </a:solidFill>
                <a:effectLst/>
                <a:latin typeface="Arial" panose="020B0604020202020204" pitchFamily="34" charset="0"/>
              </a:rPr>
              <a:t>. "A geometric approach to deep space navigation using angles-only measurements." </a:t>
            </a:r>
            <a:r>
              <a:rPr lang="en-US" altLang="ko-KR" sz="2200" b="0" i="1" dirty="0">
                <a:solidFill>
                  <a:srgbClr val="222222"/>
                </a:solidFill>
                <a:effectLst/>
                <a:latin typeface="Arial" panose="020B0604020202020204" pitchFamily="34" charset="0"/>
              </a:rPr>
              <a:t>AIAA SCITECH 2024 Forum</a:t>
            </a:r>
            <a:r>
              <a:rPr lang="en-US" altLang="ko-KR" sz="2200" b="0" i="0" dirty="0">
                <a:solidFill>
                  <a:srgbClr val="222222"/>
                </a:solidFill>
                <a:effectLst/>
                <a:latin typeface="Arial" panose="020B0604020202020204" pitchFamily="34" charset="0"/>
              </a:rPr>
              <a:t>. 2024.</a:t>
            </a:r>
            <a:r>
              <a:rPr lang="en-US" sz="2200" dirty="0"/>
              <a:t>  [2] </a:t>
            </a:r>
            <a:r>
              <a:rPr lang="en-US" altLang="ko-KR" sz="2200" b="0" i="0" dirty="0">
                <a:solidFill>
                  <a:srgbClr val="222222"/>
                </a:solidFill>
                <a:effectLst/>
                <a:latin typeface="Arial" panose="020B0604020202020204" pitchFamily="34" charset="0"/>
              </a:rPr>
              <a:t>Fang, Bertrand T. "Trilateration and extension to global positioning system navigation." </a:t>
            </a:r>
            <a:r>
              <a:rPr lang="en-US" altLang="ko-KR" sz="2200" b="0" i="1" dirty="0">
                <a:solidFill>
                  <a:srgbClr val="222222"/>
                </a:solidFill>
                <a:effectLst/>
                <a:latin typeface="Arial" panose="020B0604020202020204" pitchFamily="34" charset="0"/>
              </a:rPr>
              <a:t>Journal of Guidance, Control, and Dynamics</a:t>
            </a:r>
            <a:r>
              <a:rPr lang="en-US" altLang="ko-KR" sz="2200" b="0" i="0" dirty="0">
                <a:solidFill>
                  <a:srgbClr val="222222"/>
                </a:solidFill>
                <a:effectLst/>
                <a:latin typeface="Arial" panose="020B0604020202020204" pitchFamily="34" charset="0"/>
              </a:rPr>
              <a:t> 9.6 (1986): 715-717.</a:t>
            </a:r>
            <a:endParaRPr lang="en-US" dirty="0"/>
          </a:p>
        </p:txBody>
      </p:sp>
      <p:pic>
        <p:nvPicPr>
          <p:cNvPr id="2" name="Picture 1" descr="A circle with a triangle and a circle with a triangle in the center&#10;&#10;AI-generated content may be incorrect.">
            <a:extLst>
              <a:ext uri="{FF2B5EF4-FFF2-40B4-BE49-F238E27FC236}">
                <a16:creationId xmlns:a16="http://schemas.microsoft.com/office/drawing/2014/main" id="{2C254194-CA14-2699-849F-5F48C7A2FB51}"/>
              </a:ext>
            </a:extLst>
          </p:cNvPr>
          <p:cNvPicPr>
            <a:picLocks noChangeAspect="1"/>
          </p:cNvPicPr>
          <p:nvPr/>
        </p:nvPicPr>
        <p:blipFill>
          <a:blip r:embed="rId6">
            <a:extLst>
              <a:ext uri="{28A0092B-C50C-407E-A947-70E740481C1C}">
                <a14:useLocalDpi xmlns:a14="http://schemas.microsoft.com/office/drawing/2010/main" val="0"/>
              </a:ext>
            </a:extLst>
          </a:blip>
          <a:srcRect l="13496" t="14406" r="10646" b="17887"/>
          <a:stretch/>
        </p:blipFill>
        <p:spPr>
          <a:xfrm>
            <a:off x="4267200" y="12573000"/>
            <a:ext cx="19659600" cy="19667733"/>
          </a:xfrm>
          <a:prstGeom prst="rect">
            <a:avLst/>
          </a:prstGeom>
        </p:spPr>
      </p:pic>
    </p:spTree>
    <p:extLst>
      <p:ext uri="{BB962C8B-B14F-4D97-AF65-F5344CB8AC3E}">
        <p14:creationId xmlns:p14="http://schemas.microsoft.com/office/powerpoint/2010/main" val="2782208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EF6A1-F996-E2E7-301B-AE4FE50456DE}"/>
            </a:ext>
          </a:extLst>
        </p:cNvPr>
        <p:cNvGrpSpPr/>
        <p:nvPr/>
      </p:nvGrpSpPr>
      <p:grpSpPr>
        <a:xfrm>
          <a:off x="0" y="0"/>
          <a:ext cx="0" cy="0"/>
          <a:chOff x="0" y="0"/>
          <a:chExt cx="0" cy="0"/>
        </a:xfrm>
      </p:grpSpPr>
      <p:pic>
        <p:nvPicPr>
          <p:cNvPr id="14" name="Picture 13" descr="A group of math equations&#10;&#10;AI-generated content may be incorrect.">
            <a:extLst>
              <a:ext uri="{FF2B5EF4-FFF2-40B4-BE49-F238E27FC236}">
                <a16:creationId xmlns:a16="http://schemas.microsoft.com/office/drawing/2014/main" id="{68B859ED-4740-709B-114F-A0C71B453460}"/>
              </a:ext>
            </a:extLst>
          </p:cNvPr>
          <p:cNvPicPr>
            <a:picLocks noChangeAspect="1"/>
          </p:cNvPicPr>
          <p:nvPr/>
        </p:nvPicPr>
        <p:blipFill>
          <a:blip r:embed="rId2">
            <a:extLst>
              <a:ext uri="{28A0092B-C50C-407E-A947-70E740481C1C}">
                <a14:useLocalDpi xmlns:a14="http://schemas.microsoft.com/office/drawing/2010/main" val="0"/>
              </a:ext>
            </a:extLst>
          </a:blip>
          <a:srcRect l="9332" t="5200" r="9900" b="2653"/>
          <a:stretch/>
        </p:blipFill>
        <p:spPr>
          <a:xfrm>
            <a:off x="15480031" y="12006944"/>
            <a:ext cx="13441680" cy="6814456"/>
          </a:xfrm>
          <a:prstGeom prst="rect">
            <a:avLst/>
          </a:prstGeom>
        </p:spPr>
      </p:pic>
      <mc:AlternateContent xmlns:mc="http://schemas.openxmlformats.org/markup-compatibility/2006" xmlns:a14="http://schemas.microsoft.com/office/drawing/2010/main">
        <mc:Choice Requires="a14">
          <p:sp>
            <p:nvSpPr>
              <p:cNvPr id="40" name="Text Box 18">
                <a:extLst>
                  <a:ext uri="{FF2B5EF4-FFF2-40B4-BE49-F238E27FC236}">
                    <a16:creationId xmlns:a16="http://schemas.microsoft.com/office/drawing/2014/main" id="{4F0456B9-7AE3-A175-0130-58E1A20EC7B0}"/>
                  </a:ext>
                </a:extLst>
              </p:cNvPr>
              <p:cNvSpPr txBox="1">
                <a:spLocks noChangeArrowheads="1"/>
              </p:cNvSpPr>
              <p:nvPr/>
            </p:nvSpPr>
            <p:spPr bwMode="auto">
              <a:xfrm>
                <a:off x="15480031" y="7389910"/>
                <a:ext cx="13441680" cy="4510145"/>
              </a:xfrm>
              <a:prstGeom prst="rect">
                <a:avLst/>
              </a:prstGeom>
              <a:noFill/>
              <a:ln w="9525">
                <a:noFill/>
                <a:miter lim="800000"/>
                <a:headEnd/>
                <a:tailEnd/>
              </a:ln>
              <a:effectLst/>
            </p:spPr>
            <p:txBody>
              <a:bodyPr wrap="square">
                <a:spAutoFit/>
              </a:bodyPr>
              <a:lstStyle/>
              <a:p>
                <a:pPr algn="l">
                  <a:spcBef>
                    <a:spcPct val="50000"/>
                  </a:spcBef>
                </a:pPr>
                <a:r>
                  <a:rPr lang="en-US" altLang="ko-KR" sz="4000" b="1" i="1" dirty="0"/>
                  <a:t>Sign Ambiguity: </a:t>
                </a:r>
                <a14:m>
                  <m:oMath xmlns:m="http://schemas.openxmlformats.org/officeDocument/2006/math">
                    <m:sSub>
                      <m:sSubPr>
                        <m:ctrlPr>
                          <a:rPr lang="en-US" altLang="ko-KR" sz="4000" b="1" i="1">
                            <a:latin typeface="Cambria Math" panose="02040503050406030204" pitchFamily="18" charset="0"/>
                          </a:rPr>
                        </m:ctrlPr>
                      </m:sSubPr>
                      <m:e>
                        <m:r>
                          <a:rPr lang="en-US" altLang="ko-KR" sz="4000" b="1" i="1">
                            <a:latin typeface="Cambria Math" panose="02040503050406030204" pitchFamily="18" charset="0"/>
                          </a:rPr>
                          <m:t>𝒔</m:t>
                        </m:r>
                      </m:e>
                      <m:sub>
                        <m:r>
                          <a:rPr lang="en-US" altLang="ko-KR" sz="4000" b="1" i="1">
                            <a:latin typeface="Cambria Math" panose="02040503050406030204" pitchFamily="18" charset="0"/>
                          </a:rPr>
                          <m:t>𝜸</m:t>
                        </m:r>
                      </m:sub>
                    </m:sSub>
                  </m:oMath>
                </a14:m>
                <a:endParaRPr lang="en-US" altLang="ko-KR" sz="4000" b="1" i="1" dirty="0"/>
              </a:p>
              <a:p>
                <a:pPr indent="457200" algn="l">
                  <a:spcBef>
                    <a:spcPct val="50000"/>
                  </a:spcBef>
                </a:pPr>
                <a:r>
                  <a:rPr lang="en-US" altLang="ko-KR" dirty="0"/>
                  <a:t>The first sign ambiguity for </a:t>
                </a:r>
                <a14:m>
                  <m:oMath xmlns:m="http://schemas.openxmlformats.org/officeDocument/2006/math">
                    <m:r>
                      <a:rPr lang="en-US" altLang="ko-KR" i="1">
                        <a:latin typeface="Cambria Math" panose="02040503050406030204" pitchFamily="18" charset="0"/>
                      </a:rPr>
                      <m:t>𝛾</m:t>
                    </m:r>
                  </m:oMath>
                </a14:m>
                <a:r>
                  <a:rPr lang="en-US" altLang="ko-KR" dirty="0"/>
                  <a:t> can be resolved in a straightforward manner. The figure below illustrates how the geometry changes with fixed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𝑠</m:t>
                        </m:r>
                      </m:sub>
                    </m:sSub>
                  </m:oMath>
                </a14:m>
                <a:r>
                  <a:rPr lang="en-US" altLang="ko-KR" dirty="0"/>
                  <a:t> as the angle </a:t>
                </a:r>
                <a14:m>
                  <m:oMath xmlns:m="http://schemas.openxmlformats.org/officeDocument/2006/math">
                    <m:r>
                      <a:rPr lang="en-US" altLang="ko-KR" b="0" i="1" smtClean="0">
                        <a:latin typeface="Cambria Math" panose="02040503050406030204" pitchFamily="18" charset="0"/>
                      </a:rPr>
                      <m:t>𝛼</m:t>
                    </m:r>
                  </m:oMath>
                </a14:m>
                <a:r>
                  <a:rPr lang="en-US" altLang="ko-KR" dirty="0"/>
                  <a:t> varies. As </a:t>
                </a:r>
                <a14:m>
                  <m:oMath xmlns:m="http://schemas.openxmlformats.org/officeDocument/2006/math">
                    <m:r>
                      <a:rPr lang="en-US" altLang="ko-KR" i="1">
                        <a:latin typeface="Cambria Math" panose="02040503050406030204" pitchFamily="18" charset="0"/>
                      </a:rPr>
                      <m:t>𝛼</m:t>
                    </m:r>
                  </m:oMath>
                </a14:m>
                <a:r>
                  <a:rPr lang="en-US" altLang="ko-KR" dirty="0"/>
                  <a:t> increases from 4</a:t>
                </a:r>
                <a14:m>
                  <m:oMath xmlns:m="http://schemas.openxmlformats.org/officeDocument/2006/math">
                    <m:r>
                      <a:rPr lang="en-US" altLang="ko-KR" b="0" i="0" smtClean="0">
                        <a:latin typeface="Cambria Math" panose="02040503050406030204" pitchFamily="18" charset="0"/>
                      </a:rPr>
                      <m:t>5</m:t>
                    </m:r>
                    <m:r>
                      <a:rPr lang="en-US" altLang="ko-KR" i="1">
                        <a:latin typeface="Cambria Math" panose="02040503050406030204" pitchFamily="18" charset="0"/>
                      </a:rPr>
                      <m:t>°</m:t>
                    </m:r>
                  </m:oMath>
                </a14:m>
                <a:r>
                  <a:rPr lang="en-US" altLang="ko-KR" dirty="0"/>
                  <a:t> to </a:t>
                </a:r>
                <a14:m>
                  <m:oMath xmlns:m="http://schemas.openxmlformats.org/officeDocument/2006/math">
                    <m:r>
                      <a:rPr lang="en-US" altLang="ko-KR" b="0" i="1" smtClean="0">
                        <a:latin typeface="Cambria Math" panose="02040503050406030204" pitchFamily="18" charset="0"/>
                      </a:rPr>
                      <m:t>75</m:t>
                    </m:r>
                    <m:r>
                      <a:rPr lang="en-US" altLang="ko-KR" i="1">
                        <a:latin typeface="Cambria Math" panose="02040503050406030204" pitchFamily="18" charset="0"/>
                      </a:rPr>
                      <m:t>°</m:t>
                    </m:r>
                  </m:oMath>
                </a14:m>
                <a:r>
                  <a:rPr lang="en-US" altLang="ko-KR" dirty="0"/>
                  <a:t>, the angle </a:t>
                </a:r>
                <a14:m>
                  <m:oMath xmlns:m="http://schemas.openxmlformats.org/officeDocument/2006/math">
                    <m:r>
                      <a:rPr lang="en-US" altLang="ko-KR" i="1" dirty="0">
                        <a:latin typeface="Cambria Math" panose="02040503050406030204" pitchFamily="18" charset="0"/>
                      </a:rPr>
                      <m:t>𝛾</m:t>
                    </m:r>
                  </m:oMath>
                </a14:m>
                <a:r>
                  <a:rPr lang="en-US" altLang="ko-KR" dirty="0"/>
                  <a:t> decreases. During this process, the total angle </a:t>
                </a:r>
                <a14:m>
                  <m:oMath xmlns:m="http://schemas.openxmlformats.org/officeDocument/2006/math">
                    <m:r>
                      <a:rPr lang="en-US" altLang="ko-KR" i="1">
                        <a:latin typeface="Cambria Math" panose="02040503050406030204" pitchFamily="18" charset="0"/>
                      </a:rPr>
                      <m:t>𝛿</m:t>
                    </m:r>
                    <m:r>
                      <a:rPr lang="en-US" altLang="ko-KR" i="1">
                        <a:latin typeface="Cambria Math" panose="02040503050406030204" pitchFamily="18" charset="0"/>
                      </a:rPr>
                      <m:t>=</m:t>
                    </m:r>
                    <m:r>
                      <a:rPr lang="en-US" altLang="ko-KR" i="1">
                        <a:latin typeface="Cambria Math" panose="02040503050406030204" pitchFamily="18" charset="0"/>
                      </a:rPr>
                      <m:t>𝜙</m:t>
                    </m:r>
                    <m:r>
                      <a:rPr lang="en-US" altLang="ko-KR" i="1">
                        <a:latin typeface="Cambria Math" panose="02040503050406030204" pitchFamily="18" charset="0"/>
                      </a:rPr>
                      <m:t>+</m:t>
                    </m:r>
                    <m:r>
                      <a:rPr lang="en-US" altLang="ko-KR" i="1">
                        <a:latin typeface="Cambria Math" panose="02040503050406030204" pitchFamily="18" charset="0"/>
                      </a:rPr>
                      <m:t>𝛾</m:t>
                    </m:r>
                  </m:oMath>
                </a14:m>
                <a:r>
                  <a:rPr lang="en-US" altLang="ko-KR" dirty="0"/>
                  <a:t>, representing the angle between S/C (blue), the Sun (orange), and the Planet (red). When </a:t>
                </a:r>
                <a14:m>
                  <m:oMath xmlns:m="http://schemas.openxmlformats.org/officeDocument/2006/math">
                    <m:r>
                      <a:rPr lang="en-US" altLang="ko-KR" b="0" i="1" smtClean="0">
                        <a:latin typeface="Cambria Math" panose="02040503050406030204" pitchFamily="18" charset="0"/>
                      </a:rPr>
                      <m:t>𝛼</m:t>
                    </m:r>
                  </m:oMath>
                </a14:m>
                <a:r>
                  <a:rPr lang="en-US" altLang="ko-KR" dirty="0"/>
                  <a:t> reaches </a:t>
                </a:r>
                <a14:m>
                  <m:oMath xmlns:m="http://schemas.openxmlformats.org/officeDocument/2006/math">
                    <m:r>
                      <a:rPr lang="en-US" altLang="ko-KR" b="0" i="1" smtClean="0">
                        <a:latin typeface="Cambria Math" panose="02040503050406030204" pitchFamily="18" charset="0"/>
                      </a:rPr>
                      <m:t>90°</m:t>
                    </m:r>
                  </m:oMath>
                </a14:m>
                <a:r>
                  <a:rPr lang="en-US" altLang="ko-KR" dirty="0"/>
                  <a:t>, </a:t>
                </a:r>
                <a14:m>
                  <m:oMath xmlns:m="http://schemas.openxmlformats.org/officeDocument/2006/math">
                    <m:r>
                      <a:rPr lang="en-US" altLang="ko-KR" b="0" i="1" dirty="0" smtClean="0">
                        <a:latin typeface="Cambria Math" panose="02040503050406030204" pitchFamily="18" charset="0"/>
                      </a:rPr>
                      <m:t>𝛾</m:t>
                    </m:r>
                  </m:oMath>
                </a14:m>
                <a:r>
                  <a:rPr lang="en-US" altLang="ko-KR" dirty="0"/>
                  <a:t> becomes zero. As </a:t>
                </a:r>
                <a14:m>
                  <m:oMath xmlns:m="http://schemas.openxmlformats.org/officeDocument/2006/math">
                    <m:r>
                      <a:rPr lang="en-US" altLang="ko-KR" b="0" i="1" smtClean="0">
                        <a:latin typeface="Cambria Math" panose="02040503050406030204" pitchFamily="18" charset="0"/>
                      </a:rPr>
                      <m:t>𝛼</m:t>
                    </m:r>
                  </m:oMath>
                </a14:m>
                <a:r>
                  <a:rPr lang="en-US" altLang="ko-KR" dirty="0"/>
                  <a:t> continues to increase beyond </a:t>
                </a:r>
                <a14:m>
                  <m:oMath xmlns:m="http://schemas.openxmlformats.org/officeDocument/2006/math">
                    <m:r>
                      <a:rPr lang="en-US" altLang="ko-KR" b="0" i="1" smtClean="0">
                        <a:latin typeface="Cambria Math" panose="02040503050406030204" pitchFamily="18" charset="0"/>
                      </a:rPr>
                      <m:t>90°</m:t>
                    </m:r>
                  </m:oMath>
                </a14:m>
                <a:r>
                  <a:rPr lang="en-US" altLang="ko-KR" dirty="0"/>
                  <a:t>, to </a:t>
                </a:r>
                <a14:m>
                  <m:oMath xmlns:m="http://schemas.openxmlformats.org/officeDocument/2006/math">
                    <m:r>
                      <a:rPr lang="en-US" altLang="ko-KR" b="0" i="1" smtClean="0">
                        <a:latin typeface="Cambria Math" panose="02040503050406030204" pitchFamily="18" charset="0"/>
                      </a:rPr>
                      <m:t>105°</m:t>
                    </m:r>
                  </m:oMath>
                </a14:m>
                <a:r>
                  <a:rPr lang="en-US" altLang="ko-KR" dirty="0"/>
                  <a:t> and </a:t>
                </a:r>
                <a14:m>
                  <m:oMath xmlns:m="http://schemas.openxmlformats.org/officeDocument/2006/math">
                    <m:r>
                      <a:rPr lang="en-US" altLang="ko-KR" b="0" i="1" smtClean="0">
                        <a:latin typeface="Cambria Math" panose="02040503050406030204" pitchFamily="18" charset="0"/>
                      </a:rPr>
                      <m:t>120°</m:t>
                    </m:r>
                  </m:oMath>
                </a14:m>
                <a:r>
                  <a:rPr lang="en-US" altLang="ko-KR" dirty="0"/>
                  <a:t> by shaping the obtuse triangle, the relationship changes to </a:t>
                </a:r>
                <a14:m>
                  <m:oMath xmlns:m="http://schemas.openxmlformats.org/officeDocument/2006/math">
                    <m:r>
                      <a:rPr lang="en-US" altLang="ko-KR" b="0" i="1" smtClean="0">
                        <a:latin typeface="Cambria Math" panose="02040503050406030204" pitchFamily="18" charset="0"/>
                      </a:rPr>
                      <m:t>𝛿</m:t>
                    </m:r>
                    <m:r>
                      <a:rPr lang="en-US" altLang="ko-KR" b="0" i="1" smtClean="0">
                        <a:latin typeface="Cambria Math" panose="02040503050406030204" pitchFamily="18" charset="0"/>
                      </a:rPr>
                      <m:t>=</m:t>
                    </m:r>
                    <m:r>
                      <a:rPr lang="en-US" altLang="ko-KR" b="0" i="1" smtClean="0">
                        <a:latin typeface="Cambria Math" panose="02040503050406030204" pitchFamily="18" charset="0"/>
                      </a:rPr>
                      <m:t>𝜙</m:t>
                    </m:r>
                    <m:r>
                      <a:rPr lang="en-US" altLang="ko-KR" b="0" i="1" smtClean="0">
                        <a:latin typeface="Cambria Math" panose="02040503050406030204" pitchFamily="18" charset="0"/>
                      </a:rPr>
                      <m:t>−</m:t>
                    </m:r>
                    <m:r>
                      <a:rPr lang="en-US" altLang="ko-KR" b="0" i="1" smtClean="0">
                        <a:latin typeface="Cambria Math" panose="02040503050406030204" pitchFamily="18" charset="0"/>
                      </a:rPr>
                      <m:t>𝛾</m:t>
                    </m:r>
                  </m:oMath>
                </a14:m>
                <a:r>
                  <a:rPr lang="en-US" altLang="ko-KR" dirty="0"/>
                  <a:t>.</a:t>
                </a:r>
              </a:p>
              <a:p>
                <a:pPr indent="457200" algn="l">
                  <a:spcBef>
                    <a:spcPct val="50000"/>
                  </a:spcBef>
                </a:pPr>
                <a:r>
                  <a:rPr lang="en-US" altLang="ko-KR" dirty="0"/>
                  <a:t>From this observation, we conclude that the sign ambiguities of </a:t>
                </a:r>
                <a14:m>
                  <m:oMath xmlns:m="http://schemas.openxmlformats.org/officeDocument/2006/math">
                    <m:r>
                      <a:rPr lang="en-US" altLang="ko-KR" b="0" i="1" smtClean="0">
                        <a:latin typeface="Cambria Math" panose="02040503050406030204" pitchFamily="18" charset="0"/>
                      </a:rPr>
                      <m:t>𝛾</m:t>
                    </m:r>
                  </m:oMath>
                </a14:m>
                <a:r>
                  <a:rPr lang="en-US" altLang="ko-KR" dirty="0"/>
                  <a:t> can be determined based on the measured angle </a:t>
                </a:r>
                <a14:m>
                  <m:oMath xmlns:m="http://schemas.openxmlformats.org/officeDocument/2006/math">
                    <m:r>
                      <a:rPr lang="en-US" altLang="ko-KR" b="0" i="1" smtClean="0">
                        <a:latin typeface="Cambria Math" panose="02040503050406030204" pitchFamily="18" charset="0"/>
                      </a:rPr>
                      <m:t>𝛼</m:t>
                    </m:r>
                  </m:oMath>
                </a14:m>
                <a:r>
                  <a:rPr lang="en-US" altLang="ko-KR" dirty="0"/>
                  <a:t>. Specifically, when </a:t>
                </a:r>
                <a14:m>
                  <m:oMath xmlns:m="http://schemas.openxmlformats.org/officeDocument/2006/math">
                    <m:r>
                      <a:rPr lang="en-US" altLang="ko-KR" b="0" i="1" smtClean="0">
                        <a:latin typeface="Cambria Math" panose="02040503050406030204" pitchFamily="18" charset="0"/>
                      </a:rPr>
                      <m:t>𝛼</m:t>
                    </m:r>
                  </m:oMath>
                </a14:m>
                <a:r>
                  <a:rPr lang="en-US" altLang="ko-KR" dirty="0"/>
                  <a:t> is smaller than </a:t>
                </a:r>
                <a14:m>
                  <m:oMath xmlns:m="http://schemas.openxmlformats.org/officeDocument/2006/math">
                    <m:r>
                      <a:rPr lang="en-US" altLang="ko-KR" b="0" i="1" smtClean="0">
                        <a:latin typeface="Cambria Math" panose="02040503050406030204" pitchFamily="18" charset="0"/>
                      </a:rPr>
                      <m:t>90°</m:t>
                    </m:r>
                  </m:oMath>
                </a14:m>
                <a:r>
                  <a:rPr lang="en-US" altLang="ko-KR" dirty="0"/>
                  <a:t>, then the sign of </a:t>
                </a:r>
                <a14:m>
                  <m:oMath xmlns:m="http://schemas.openxmlformats.org/officeDocument/2006/math">
                    <m:r>
                      <a:rPr lang="en-US" altLang="ko-KR" b="0" i="1" smtClean="0">
                        <a:latin typeface="Cambria Math" panose="02040503050406030204" pitchFamily="18" charset="0"/>
                      </a:rPr>
                      <m:t>𝛾</m:t>
                    </m:r>
                  </m:oMath>
                </a14:m>
                <a:r>
                  <a:rPr lang="en-US" altLang="ko-KR" dirty="0"/>
                  <a:t> is positive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𝑠</m:t>
                        </m:r>
                      </m:e>
                      <m:sub>
                        <m:r>
                          <a:rPr lang="en-US" altLang="ko-KR" b="0" i="1" smtClean="0">
                            <a:latin typeface="Cambria Math" panose="02040503050406030204" pitchFamily="18" charset="0"/>
                          </a:rPr>
                          <m:t>𝛾</m:t>
                        </m:r>
                      </m:sub>
                    </m:sSub>
                    <m:r>
                      <a:rPr lang="en-US" altLang="ko-KR" b="0" i="0" smtClean="0">
                        <a:latin typeface="Cambria Math" panose="02040503050406030204" pitchFamily="18" charset="0"/>
                      </a:rPr>
                      <m:t>=+1</m:t>
                    </m:r>
                  </m:oMath>
                </a14:m>
                <a:r>
                  <a:rPr lang="en-US" altLang="ko-KR" dirty="0"/>
                  <a:t>), and when </a:t>
                </a:r>
                <a14:m>
                  <m:oMath xmlns:m="http://schemas.openxmlformats.org/officeDocument/2006/math">
                    <m:r>
                      <a:rPr lang="en-US" altLang="ko-KR" b="0" i="1" smtClean="0">
                        <a:latin typeface="Cambria Math" panose="02040503050406030204" pitchFamily="18" charset="0"/>
                      </a:rPr>
                      <m:t>𝛼</m:t>
                    </m:r>
                  </m:oMath>
                </a14:m>
                <a:r>
                  <a:rPr lang="en-US" altLang="ko-KR" dirty="0"/>
                  <a:t> is greater than </a:t>
                </a:r>
                <a14:m>
                  <m:oMath xmlns:m="http://schemas.openxmlformats.org/officeDocument/2006/math">
                    <m:r>
                      <a:rPr lang="en-US" altLang="ko-KR" b="0" i="1" smtClean="0">
                        <a:latin typeface="Cambria Math" panose="02040503050406030204" pitchFamily="18" charset="0"/>
                      </a:rPr>
                      <m:t>90°</m:t>
                    </m:r>
                  </m:oMath>
                </a14:m>
                <a:r>
                  <a:rPr lang="en-US" altLang="ko-KR" dirty="0"/>
                  <a:t>, the sign becomes negative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𝑠</m:t>
                        </m:r>
                      </m:e>
                      <m:sub>
                        <m:r>
                          <a:rPr lang="en-US" altLang="ko-KR" b="0" i="1" smtClean="0">
                            <a:latin typeface="Cambria Math" panose="02040503050406030204" pitchFamily="18" charset="0"/>
                          </a:rPr>
                          <m:t>𝛾</m:t>
                        </m:r>
                      </m:sub>
                    </m:sSub>
                    <m:r>
                      <a:rPr lang="en-US" altLang="ko-KR" b="0" i="1" smtClean="0">
                        <a:latin typeface="Cambria Math" panose="02040503050406030204" pitchFamily="18" charset="0"/>
                      </a:rPr>
                      <m:t>=−1</m:t>
                    </m:r>
                  </m:oMath>
                </a14:m>
                <a:r>
                  <a:rPr lang="en-US" altLang="ko-KR" dirty="0"/>
                  <a:t>). Here we focus on one geometry (Sun-S/C-Planet 1), the proposed approach can be applicable to the other geometry (Sun-S/C-Planet 2).</a:t>
                </a:r>
              </a:p>
            </p:txBody>
          </p:sp>
        </mc:Choice>
        <mc:Fallback xmlns="">
          <p:sp>
            <p:nvSpPr>
              <p:cNvPr id="40" name="Text Box 18">
                <a:extLst>
                  <a:ext uri="{FF2B5EF4-FFF2-40B4-BE49-F238E27FC236}">
                    <a16:creationId xmlns:a16="http://schemas.microsoft.com/office/drawing/2014/main" id="{FD8A8D5E-31C1-86BB-0E89-A0ABA98392F9}"/>
                  </a:ext>
                </a:extLst>
              </p:cNvPr>
              <p:cNvSpPr txBox="1">
                <a:spLocks noRot="1" noChangeAspect="1" noMove="1" noResize="1" noEditPoints="1" noAdjustHandles="1" noChangeArrowheads="1" noChangeShapeType="1" noTextEdit="1"/>
              </p:cNvSpPr>
              <p:nvPr/>
            </p:nvSpPr>
            <p:spPr bwMode="auto">
              <a:xfrm>
                <a:off x="15480031" y="7389910"/>
                <a:ext cx="13441680" cy="4510145"/>
              </a:xfrm>
              <a:prstGeom prst="rect">
                <a:avLst/>
              </a:prstGeom>
              <a:blipFill>
                <a:blip r:embed="rId3"/>
                <a:stretch>
                  <a:fillRect l="-1587" t="-2432" r="-952" b="-2162"/>
                </a:stretch>
              </a:blipFill>
              <a:ln w="9525">
                <a:noFill/>
                <a:miter lim="800000"/>
                <a:headEnd/>
                <a:tailEnd/>
              </a:ln>
              <a:effectLst/>
            </p:spPr>
            <p:txBody>
              <a:bodyPr/>
              <a:lstStyle/>
              <a:p>
                <a:r>
                  <a:rPr lang="ko-KR" altLang="en-US">
                    <a:noFill/>
                  </a:rPr>
                  <a:t> </a:t>
                </a:r>
              </a:p>
            </p:txBody>
          </p:sp>
        </mc:Fallback>
      </mc:AlternateContent>
      <p:sp>
        <p:nvSpPr>
          <p:cNvPr id="2064" name="Text Box 16">
            <a:extLst>
              <a:ext uri="{FF2B5EF4-FFF2-40B4-BE49-F238E27FC236}">
                <a16:creationId xmlns:a16="http://schemas.microsoft.com/office/drawing/2014/main" id="{9C64EAD9-2DE6-C4D6-B956-022B1611CF30}"/>
              </a:ext>
            </a:extLst>
          </p:cNvPr>
          <p:cNvSpPr txBox="1">
            <a:spLocks noChangeArrowheads="1"/>
          </p:cNvSpPr>
          <p:nvPr/>
        </p:nvSpPr>
        <p:spPr bwMode="auto">
          <a:xfrm>
            <a:off x="1597025" y="5692775"/>
            <a:ext cx="41636719" cy="1323439"/>
          </a:xfrm>
          <a:prstGeom prst="rect">
            <a:avLst/>
          </a:prstGeom>
          <a:noFill/>
          <a:ln w="9525">
            <a:noFill/>
            <a:miter lim="800000"/>
            <a:headEnd/>
            <a:tailEnd/>
          </a:ln>
          <a:effectLst/>
        </p:spPr>
        <p:txBody>
          <a:bodyPr wrap="none">
            <a:spAutoFit/>
          </a:bodyPr>
          <a:lstStyle/>
          <a:p>
            <a:pPr algn="l"/>
            <a:r>
              <a:rPr lang="en-US" sz="8000" b="1" dirty="0">
                <a:latin typeface="Arial" charset="0"/>
              </a:rPr>
              <a:t>Ambiguity-Free Geometrical Deep Space Navigation Using Angle-Only Measurements</a:t>
            </a:r>
          </a:p>
        </p:txBody>
      </p:sp>
      <mc:AlternateContent xmlns:mc="http://schemas.openxmlformats.org/markup-compatibility/2006" xmlns:a14="http://schemas.microsoft.com/office/drawing/2010/main">
        <mc:Choice Requires="a14">
          <p:sp>
            <p:nvSpPr>
              <p:cNvPr id="2066" name="Text Box 18">
                <a:extLst>
                  <a:ext uri="{FF2B5EF4-FFF2-40B4-BE49-F238E27FC236}">
                    <a16:creationId xmlns:a16="http://schemas.microsoft.com/office/drawing/2014/main" id="{ED214AE7-7A63-E92D-338B-6A6C705D085D}"/>
                  </a:ext>
                </a:extLst>
              </p:cNvPr>
              <p:cNvSpPr txBox="1">
                <a:spLocks noChangeArrowheads="1"/>
              </p:cNvSpPr>
              <p:nvPr/>
            </p:nvSpPr>
            <p:spPr bwMode="auto">
              <a:xfrm>
                <a:off x="1558925" y="7389910"/>
                <a:ext cx="13441680" cy="18531099"/>
              </a:xfrm>
              <a:prstGeom prst="rect">
                <a:avLst/>
              </a:prstGeom>
              <a:noFill/>
              <a:ln w="9525">
                <a:noFill/>
                <a:miter lim="800000"/>
                <a:headEnd/>
                <a:tailEnd/>
              </a:ln>
              <a:effectLst/>
            </p:spPr>
            <p:txBody>
              <a:bodyPr wrap="square">
                <a:spAutoFit/>
              </a:bodyPr>
              <a:lstStyle/>
              <a:p>
                <a:pPr algn="just">
                  <a:spcBef>
                    <a:spcPct val="50000"/>
                  </a:spcBef>
                </a:pPr>
                <a:r>
                  <a:rPr lang="en-US" sz="4000" b="1" i="1" dirty="0"/>
                  <a:t>Background</a:t>
                </a:r>
              </a:p>
              <a:p>
                <a:pPr indent="457200" algn="just">
                  <a:spcBef>
                    <a:spcPct val="50000"/>
                  </a:spcBef>
                </a:pPr>
                <a:r>
                  <a:rPr lang="en-US" altLang="ko-KR" dirty="0"/>
                  <a:t>Many deep space missions rely on the Deep Space Network (DSN) for navigation. However, for CubeSat missions, access to the DSN may be limited due to its high operational costs. As a result, recent research has focused on developing onboard navigation systems that are computationally efficient. These onboard solutions not only reduce reliance on DSN but also support greater autonomy by eliminating delays associated with signal transmission.</a:t>
                </a:r>
              </a:p>
              <a:p>
                <a:pPr indent="457200" algn="just">
                  <a:spcBef>
                    <a:spcPct val="50000"/>
                  </a:spcBef>
                </a:pPr>
                <a:r>
                  <a:rPr lang="en-US" altLang="ko-KR" dirty="0"/>
                  <a:t>In this study, we present a geometric approach to deep space navigation using angle-only measurements [1]. We assume that the positions of the Sun, Planet 1, and Planet 2 are known a priori from ephemeris data. The spacecraft then measures the angles formed between itself, the Sun, and each of the two planets, specifically, the angles Sun–spacecraft–Planet 1 and Sun–spacecraft–Planet 2. Using this information, the proposed method can compute the spacecraft’s distance from the Sun. While this approach introduces sign ambiguities in some angles during the process, resulting in up to nine possible solutions, we also demonstrate how these ambiguities can be effectively resolved.</a:t>
                </a:r>
              </a:p>
              <a:p>
                <a:pPr indent="457200" algn="just">
                  <a:spcBef>
                    <a:spcPct val="50000"/>
                  </a:spcBef>
                </a:pPr>
                <a:r>
                  <a:rPr lang="en-US" altLang="ko-KR" dirty="0"/>
                  <a:t>Once the distance from the Sun to the spacecraft is determined, the spacecraft's inertial position can be computed [2]. At this stage, a sign ambiguity arises again when expressing the spacecraft's position in a reference frame. Although this is a geometric limitation [2], the ambiguity can be resolved using prior information, such as a known reference orbit or estimation results from the previous step. After determining the inertial position, the spacecraft’s attitude relative to the inertial frame can be calculated using the TRIAD method. Thus, the proposed approach enables determination of both the spacecraft’s inertial position and its attitude.</a:t>
                </a:r>
              </a:p>
              <a:p>
                <a:pPr indent="457200" algn="just">
                  <a:spcBef>
                    <a:spcPct val="50000"/>
                  </a:spcBef>
                </a:pPr>
                <a:endParaRPr lang="en-US" altLang="ko-KR" sz="1000" dirty="0"/>
              </a:p>
              <a:p>
                <a:pPr indent="457200" algn="just">
                  <a:spcBef>
                    <a:spcPct val="50000"/>
                  </a:spcBef>
                </a:pPr>
                <a:r>
                  <a:rPr lang="en-US" altLang="ko-KR" sz="4000" b="1" i="1" dirty="0"/>
                  <a:t>Geometry</a:t>
                </a:r>
              </a:p>
              <a:p>
                <a:pPr indent="457200" algn="just">
                  <a:spcBef>
                    <a:spcPct val="50000"/>
                  </a:spcBef>
                </a:pPr>
                <a:r>
                  <a:rPr lang="en-US" altLang="ko-KR" dirty="0"/>
                  <a:t>The initial geometry is shown in the bottom-left figure. The Sun (orange) is located at the origin, and the spacecraft (S/C) is represented by a black star positioned along the Y-axis. Planet 1 and Planet 2 are shown in red and blue, respectively. The </a:t>
                </a:r>
                <a14:m>
                  <m:oMath xmlns:m="http://schemas.openxmlformats.org/officeDocument/2006/math">
                    <m:sSub>
                      <m:sSubPr>
                        <m:ctrlPr>
                          <a:rPr lang="en-US" altLang="ko-KR" i="1" dirty="0" smtClean="0">
                            <a:latin typeface="Cambria Math" panose="02040503050406030204" pitchFamily="18" charset="0"/>
                          </a:rPr>
                        </m:ctrlPr>
                      </m:sSubPr>
                      <m:e>
                        <m:acc>
                          <m:accPr>
                            <m:chr m:val="⃗"/>
                            <m:ctrlPr>
                              <a:rPr lang="en-US" altLang="ko-KR" i="1" smtClean="0">
                                <a:latin typeface="Cambria Math" panose="02040503050406030204" pitchFamily="18" charset="0"/>
                              </a:rPr>
                            </m:ctrlPr>
                          </m:accPr>
                          <m:e>
                            <m:r>
                              <a:rPr lang="en-US" altLang="ko-KR" b="0" i="1" smtClean="0">
                                <a:latin typeface="Cambria Math" panose="02040503050406030204" pitchFamily="18" charset="0"/>
                              </a:rPr>
                              <m:t>𝑟</m:t>
                            </m:r>
                          </m:e>
                        </m:acc>
                      </m:e>
                      <m:sub>
                        <m:r>
                          <a:rPr lang="en-US" altLang="ko-KR" b="0" i="1" dirty="0" smtClean="0">
                            <a:latin typeface="Cambria Math" panose="02040503050406030204" pitchFamily="18" charset="0"/>
                          </a:rPr>
                          <m:t>1</m:t>
                        </m:r>
                      </m:sub>
                    </m:sSub>
                  </m:oMath>
                </a14:m>
                <a:r>
                  <a:rPr lang="en-US" altLang="ko-KR" dirty="0"/>
                  <a:t> and </a:t>
                </a:r>
                <a14:m>
                  <m:oMath xmlns:m="http://schemas.openxmlformats.org/officeDocument/2006/math">
                    <m:sSub>
                      <m:sSubPr>
                        <m:ctrlPr>
                          <a:rPr lang="en-US" altLang="ko-KR" i="1" dirty="0" smtClean="0">
                            <a:latin typeface="Cambria Math" panose="02040503050406030204" pitchFamily="18" charset="0"/>
                          </a:rPr>
                        </m:ctrlPr>
                      </m:sSubPr>
                      <m:e>
                        <m:acc>
                          <m:accPr>
                            <m:chr m:val="⃗"/>
                            <m:ctrlPr>
                              <a:rPr lang="en-US" altLang="ko-KR" i="1" smtClean="0">
                                <a:latin typeface="Cambria Math" panose="02040503050406030204" pitchFamily="18" charset="0"/>
                              </a:rPr>
                            </m:ctrlPr>
                          </m:accPr>
                          <m:e>
                            <m:r>
                              <a:rPr lang="en-US" altLang="ko-KR" b="0" i="1" smtClean="0">
                                <a:latin typeface="Cambria Math" panose="02040503050406030204" pitchFamily="18" charset="0"/>
                              </a:rPr>
                              <m:t>𝑟</m:t>
                            </m:r>
                          </m:e>
                        </m:acc>
                      </m:e>
                      <m:sub>
                        <m:r>
                          <a:rPr lang="en-US" altLang="ko-KR" b="0" i="1" dirty="0" smtClean="0">
                            <a:latin typeface="Cambria Math" panose="02040503050406030204" pitchFamily="18" charset="0"/>
                          </a:rPr>
                          <m:t>2</m:t>
                        </m:r>
                      </m:sub>
                    </m:sSub>
                  </m:oMath>
                </a14:m>
                <a:r>
                  <a:rPr lang="en-US" altLang="ko-KR" dirty="0"/>
                  <a:t> represent the positions of the planets from the Sun, while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𝑟</m:t>
                        </m:r>
                      </m:e>
                      <m:sub>
                        <m:r>
                          <a:rPr lang="en-US" altLang="ko-KR" b="0" i="1" smtClean="0">
                            <a:latin typeface="Cambria Math" panose="02040503050406030204" pitchFamily="18" charset="0"/>
                          </a:rPr>
                          <m:t>3</m:t>
                        </m:r>
                      </m:sub>
                    </m:sSub>
                  </m:oMath>
                </a14:m>
                <a:r>
                  <a:rPr lang="en-US" altLang="ko-KR" dirty="0"/>
                  <a:t> denotes the distance between Planet 1 and Planet 2. They are given from ephemerides. The unit vectors ρ̂₀, ρ̂₁, and ρ̂₂ correspond to the angle-only measurements taken by the spacecraft, which allow us to compute the angles α₁ and α₂. The angle θ represents the angular separation between Planet 1, the Sun, and Planet 2, computed from the dot product of </a:t>
                </a:r>
                <a14:m>
                  <m:oMath xmlns:m="http://schemas.openxmlformats.org/officeDocument/2006/math">
                    <m:sSub>
                      <m:sSubPr>
                        <m:ctrlPr>
                          <a:rPr lang="en-US" altLang="ko-KR" i="1" dirty="0" smtClean="0">
                            <a:latin typeface="Cambria Math" panose="02040503050406030204" pitchFamily="18" charset="0"/>
                          </a:rPr>
                        </m:ctrlPr>
                      </m:sSubPr>
                      <m:e>
                        <m:acc>
                          <m:accPr>
                            <m:chr m:val="⃗"/>
                            <m:ctrlPr>
                              <a:rPr lang="en-US" altLang="ko-KR" i="1" smtClean="0">
                                <a:latin typeface="Cambria Math" panose="02040503050406030204" pitchFamily="18" charset="0"/>
                              </a:rPr>
                            </m:ctrlPr>
                          </m:accPr>
                          <m:e>
                            <m:r>
                              <a:rPr lang="en-US" altLang="ko-KR" b="0" i="1" smtClean="0">
                                <a:latin typeface="Cambria Math" panose="02040503050406030204" pitchFamily="18" charset="0"/>
                              </a:rPr>
                              <m:t>𝑟</m:t>
                            </m:r>
                          </m:e>
                        </m:acc>
                      </m:e>
                      <m:sub>
                        <m:r>
                          <a:rPr lang="en-US" altLang="ko-KR" b="0" i="1" dirty="0" smtClean="0">
                            <a:latin typeface="Cambria Math" panose="02040503050406030204" pitchFamily="18" charset="0"/>
                          </a:rPr>
                          <m:t>1</m:t>
                        </m:r>
                      </m:sub>
                    </m:sSub>
                  </m:oMath>
                </a14:m>
                <a:r>
                  <a:rPr lang="en-US" altLang="ko-KR" dirty="0"/>
                  <a:t> and </a:t>
                </a:r>
                <a14:m>
                  <m:oMath xmlns:m="http://schemas.openxmlformats.org/officeDocument/2006/math">
                    <m:sSub>
                      <m:sSubPr>
                        <m:ctrlPr>
                          <a:rPr lang="en-US" altLang="ko-KR" i="1" dirty="0" smtClean="0">
                            <a:latin typeface="Cambria Math" panose="02040503050406030204" pitchFamily="18" charset="0"/>
                          </a:rPr>
                        </m:ctrlPr>
                      </m:sSubPr>
                      <m:e>
                        <m:acc>
                          <m:accPr>
                            <m:chr m:val="⃗"/>
                            <m:ctrlPr>
                              <a:rPr lang="en-US" altLang="ko-KR" i="1" smtClean="0">
                                <a:latin typeface="Cambria Math" panose="02040503050406030204" pitchFamily="18" charset="0"/>
                              </a:rPr>
                            </m:ctrlPr>
                          </m:accPr>
                          <m:e>
                            <m:r>
                              <a:rPr lang="en-US" altLang="ko-KR" b="0" i="1" smtClean="0">
                                <a:latin typeface="Cambria Math" panose="02040503050406030204" pitchFamily="18" charset="0"/>
                              </a:rPr>
                              <m:t>𝑟</m:t>
                            </m:r>
                          </m:e>
                        </m:acc>
                      </m:e>
                      <m:sub>
                        <m:r>
                          <a:rPr lang="en-US" altLang="ko-KR" b="0" i="1" dirty="0" smtClean="0">
                            <a:latin typeface="Cambria Math" panose="02040503050406030204" pitchFamily="18" charset="0"/>
                          </a:rPr>
                          <m:t>2</m:t>
                        </m:r>
                      </m:sub>
                    </m:sSub>
                  </m:oMath>
                </a14:m>
                <a:r>
                  <a:rPr lang="en-US" altLang="ko-KR" dirty="0"/>
                  <a:t>. The distances from the spacecraft to Planet 1 and Planet 2 are denoted as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1</m:t>
                        </m:r>
                      </m:sub>
                    </m:sSub>
                  </m:oMath>
                </a14:m>
                <a:r>
                  <a:rPr lang="en-US" altLang="ko-KR" dirty="0"/>
                  <a:t> and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2</m:t>
                        </m:r>
                      </m:sub>
                    </m:sSub>
                  </m:oMath>
                </a14:m>
                <a:r>
                  <a:rPr lang="en-US" altLang="ko-KR" dirty="0"/>
                  <a:t>, respectively.</a:t>
                </a:r>
              </a:p>
              <a:p>
                <a:pPr indent="457200" algn="just">
                  <a:spcBef>
                    <a:spcPct val="50000"/>
                  </a:spcBef>
                </a:pPr>
                <a:r>
                  <a:rPr lang="en-US" altLang="ko-KR" dirty="0"/>
                  <a:t>To compute the distance from the Sun to S/C (</a:t>
                </a:r>
                <a14:m>
                  <m:oMath xmlns:m="http://schemas.openxmlformats.org/officeDocument/2006/math">
                    <m:sSub>
                      <m:sSubPr>
                        <m:ctrlPr>
                          <a:rPr lang="en-US" altLang="ko-KR" b="0" i="1" dirty="0" smtClean="0">
                            <a:latin typeface="Cambria Math" panose="02040503050406030204" pitchFamily="18" charset="0"/>
                          </a:rPr>
                        </m:ctrlPr>
                      </m:sSubPr>
                      <m:e>
                        <m:r>
                          <a:rPr lang="en-US" altLang="ko-KR" b="0" i="1" dirty="0" smtClean="0">
                            <a:latin typeface="Cambria Math" panose="02040503050406030204" pitchFamily="18" charset="0"/>
                          </a:rPr>
                          <m:t>𝑦</m:t>
                        </m:r>
                      </m:e>
                      <m:sub>
                        <m:r>
                          <a:rPr lang="en-US" altLang="ko-KR" b="0" i="1" dirty="0" smtClean="0">
                            <a:latin typeface="Cambria Math" panose="02040503050406030204" pitchFamily="18" charset="0"/>
                          </a:rPr>
                          <m:t>𝑠</m:t>
                        </m:r>
                      </m:sub>
                    </m:sSub>
                  </m:oMath>
                </a14:m>
                <a:r>
                  <a:rPr lang="en-US" altLang="ko-KR" dirty="0"/>
                  <a:t>), a circumcircle is constructed, as shown in the bottom-middle figure. C₁ and C₂ represent the centers of the circumcircles formed by the Sun, the spacecraft, and Planet 1 and Planet 2, respectively. The radii of these circumcircles, R₁ and R₂, are calculated using the Law of Sines. The distances from the centers of the circumcircles to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𝑠</m:t>
                        </m:r>
                      </m:sub>
                    </m:sSub>
                  </m:oMath>
                </a14:m>
                <a:r>
                  <a:rPr lang="en-US" altLang="ko-KR" dirty="0"/>
                  <a:t>, denoted as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𝑥</m:t>
                        </m:r>
                      </m:e>
                      <m:sub>
                        <m:r>
                          <a:rPr lang="en-US" altLang="ko-KR" b="0" i="1" smtClean="0">
                            <a:latin typeface="Cambria Math" panose="02040503050406030204" pitchFamily="18" charset="0"/>
                          </a:rPr>
                          <m:t>𝑐</m:t>
                        </m:r>
                        <m:r>
                          <a:rPr lang="en-US" altLang="ko-KR" b="0" i="1" smtClean="0">
                            <a:latin typeface="Cambria Math" panose="02040503050406030204" pitchFamily="18" charset="0"/>
                          </a:rPr>
                          <m:t>, 1</m:t>
                        </m:r>
                      </m:sub>
                    </m:sSub>
                  </m:oMath>
                </a14:m>
                <a:r>
                  <a:rPr lang="en-US" altLang="ko-KR" dirty="0"/>
                  <a:t> and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𝑥</m:t>
                        </m:r>
                      </m:e>
                      <m:sub>
                        <m:r>
                          <a:rPr lang="en-US" altLang="ko-KR" b="0" i="1" smtClean="0">
                            <a:latin typeface="Cambria Math" panose="02040503050406030204" pitchFamily="18" charset="0"/>
                          </a:rPr>
                          <m:t>𝑐</m:t>
                        </m:r>
                        <m:r>
                          <a:rPr lang="en-US" altLang="ko-KR" b="0" i="1" smtClean="0">
                            <a:latin typeface="Cambria Math" panose="02040503050406030204" pitchFamily="18" charset="0"/>
                          </a:rPr>
                          <m:t>, 2</m:t>
                        </m:r>
                      </m:sub>
                    </m:sSub>
                  </m:oMath>
                </a14:m>
                <a:r>
                  <a:rPr lang="en-US" altLang="ko-KR" dirty="0"/>
                  <a:t>, are computed using the Pythagorean theorem. The angles </a:t>
                </a:r>
                <a14:m>
                  <m:oMath xmlns:m="http://schemas.openxmlformats.org/officeDocument/2006/math">
                    <m:r>
                      <a:rPr lang="en-US" altLang="ko-KR" b="0" i="1" smtClean="0">
                        <a:latin typeface="Cambria Math" panose="02040503050406030204" pitchFamily="18" charset="0"/>
                      </a:rPr>
                      <m:t>𝛾</m:t>
                    </m:r>
                  </m:oMath>
                </a14:m>
                <a:r>
                  <a:rPr lang="en-US" altLang="ko-KR" dirty="0"/>
                  <a:t> (Planet–Sun–C₁) and </a:t>
                </a:r>
                <a14:m>
                  <m:oMath xmlns:m="http://schemas.openxmlformats.org/officeDocument/2006/math">
                    <m:r>
                      <a:rPr lang="en-US" altLang="ko-KR" b="0" i="1" smtClean="0">
                        <a:latin typeface="Cambria Math" panose="02040503050406030204" pitchFamily="18" charset="0"/>
                      </a:rPr>
                      <m:t>𝜙</m:t>
                    </m:r>
                  </m:oMath>
                </a14:m>
                <a:r>
                  <a:rPr lang="en-US" altLang="ko-KR" dirty="0"/>
                  <a:t> (C₁–Sun–S/C) can be determined through simple trigonometric relationships.</a:t>
                </a:r>
              </a:p>
              <a:p>
                <a:pPr indent="457200" algn="just">
                  <a:spcBef>
                    <a:spcPct val="50000"/>
                  </a:spcBef>
                </a:pPr>
                <a:r>
                  <a:rPr lang="en-US" altLang="ko-KR" dirty="0"/>
                  <a:t>For further analysis, spherical geometry is introduced, as illustrated in the bottom-right figure. The angle between the spacecraft, the Sun, and a planet (S/C–Sun–Planet) is denoted by </a:t>
                </a:r>
                <a14:m>
                  <m:oMath xmlns:m="http://schemas.openxmlformats.org/officeDocument/2006/math">
                    <m:r>
                      <a:rPr lang="en-US" altLang="ko-KR" b="0" i="1" smtClean="0">
                        <a:latin typeface="Cambria Math" panose="02040503050406030204" pitchFamily="18" charset="0"/>
                      </a:rPr>
                      <m:t>𝛿</m:t>
                    </m:r>
                  </m:oMath>
                </a14:m>
                <a:r>
                  <a:rPr lang="en-US" altLang="ko-KR" dirty="0"/>
                  <a:t>, and it is defined as:</a:t>
                </a:r>
                <a14:m>
                  <m:oMath xmlns:m="http://schemas.openxmlformats.org/officeDocument/2006/math">
                    <m:r>
                      <a:rPr lang="en-US" altLang="ko-KR" sz="2400" b="0" i="0" smtClean="0">
                        <a:latin typeface="Cambria Math" panose="02040503050406030204" pitchFamily="18" charset="0"/>
                      </a:rPr>
                      <m:t> </m:t>
                    </m:r>
                    <m:r>
                      <a:rPr lang="en-US" altLang="ko-KR" sz="2400" b="0" i="1" smtClean="0">
                        <a:latin typeface="Cambria Math" panose="02040503050406030204" pitchFamily="18" charset="0"/>
                      </a:rPr>
                      <m:t>𝛿</m:t>
                    </m:r>
                    <m:r>
                      <a:rPr lang="en-US" altLang="ko-KR" sz="2400" b="0" i="1" smtClean="0">
                        <a:latin typeface="Cambria Math" panose="02040503050406030204" pitchFamily="18" charset="0"/>
                      </a:rPr>
                      <m:t>=</m:t>
                    </m:r>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𝑠</m:t>
                        </m:r>
                      </m:e>
                      <m:sub>
                        <m:r>
                          <a:rPr lang="en-US" altLang="ko-KR" sz="2400" b="0" i="1" smtClean="0">
                            <a:latin typeface="Cambria Math" panose="02040503050406030204" pitchFamily="18" charset="0"/>
                          </a:rPr>
                          <m:t>𝜙</m:t>
                        </m:r>
                      </m:sub>
                    </m:sSub>
                    <m:r>
                      <a:rPr lang="en-US" altLang="ko-KR" sz="2400" b="0" i="1" smtClean="0">
                        <a:latin typeface="Cambria Math" panose="02040503050406030204" pitchFamily="18" charset="0"/>
                      </a:rPr>
                      <m:t>𝜙</m:t>
                    </m:r>
                    <m:r>
                      <a:rPr lang="en-US" altLang="ko-KR" sz="2400" b="0" i="1" smtClean="0">
                        <a:latin typeface="Cambria Math" panose="02040503050406030204" pitchFamily="18" charset="0"/>
                      </a:rPr>
                      <m:t>+</m:t>
                    </m:r>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𝑠</m:t>
                        </m:r>
                      </m:e>
                      <m:sub>
                        <m:r>
                          <a:rPr lang="en-US" altLang="ko-KR" sz="2400" b="0" i="1" smtClean="0">
                            <a:latin typeface="Cambria Math" panose="02040503050406030204" pitchFamily="18" charset="0"/>
                          </a:rPr>
                          <m:t>𝛾</m:t>
                        </m:r>
                      </m:sub>
                    </m:sSub>
                    <m:r>
                      <a:rPr lang="en-US" altLang="ko-KR" sz="2400" b="0" i="1" smtClean="0">
                        <a:latin typeface="Cambria Math" panose="02040503050406030204" pitchFamily="18" charset="0"/>
                      </a:rPr>
                      <m:t>𝛾</m:t>
                    </m:r>
                  </m:oMath>
                </a14:m>
                <a:r>
                  <a:rPr lang="en-US" altLang="ko-KR" sz="2400" dirty="0"/>
                  <a:t>, where </a:t>
                </a:r>
                <a14:m>
                  <m:oMath xmlns:m="http://schemas.openxmlformats.org/officeDocument/2006/math">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𝑠</m:t>
                        </m:r>
                      </m:e>
                      <m:sub>
                        <m:r>
                          <a:rPr lang="en-US" altLang="ko-KR" sz="2400" b="0" i="1" smtClean="0">
                            <a:latin typeface="Cambria Math" panose="02040503050406030204" pitchFamily="18" charset="0"/>
                          </a:rPr>
                          <m:t>𝜙</m:t>
                        </m:r>
                      </m:sub>
                    </m:sSub>
                  </m:oMath>
                </a14:m>
                <a:r>
                  <a:rPr lang="en-US" altLang="ko-KR" sz="2400" dirty="0"/>
                  <a:t> and </a:t>
                </a:r>
                <a14:m>
                  <m:oMath xmlns:m="http://schemas.openxmlformats.org/officeDocument/2006/math">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𝑠</m:t>
                        </m:r>
                      </m:e>
                      <m:sub>
                        <m:r>
                          <a:rPr lang="en-US" altLang="ko-KR" sz="2400" b="0" i="1" smtClean="0">
                            <a:latin typeface="Cambria Math" panose="02040503050406030204" pitchFamily="18" charset="0"/>
                          </a:rPr>
                          <m:t>𝛾</m:t>
                        </m:r>
                      </m:sub>
                    </m:sSub>
                  </m:oMath>
                </a14:m>
                <a:r>
                  <a:rPr lang="en-US" altLang="ko-KR" sz="2400" dirty="0"/>
                  <a:t> are the sign of </a:t>
                </a:r>
                <a14:m>
                  <m:oMath xmlns:m="http://schemas.openxmlformats.org/officeDocument/2006/math">
                    <m:r>
                      <a:rPr lang="en-US" altLang="ko-KR" sz="2400" b="0" i="1" smtClean="0">
                        <a:latin typeface="Cambria Math" panose="02040503050406030204" pitchFamily="18" charset="0"/>
                      </a:rPr>
                      <m:t>𝜙</m:t>
                    </m:r>
                  </m:oMath>
                </a14:m>
                <a:r>
                  <a:rPr lang="en-US" altLang="ko-KR" sz="2400" dirty="0"/>
                  <a:t> and </a:t>
                </a:r>
                <a14:m>
                  <m:oMath xmlns:m="http://schemas.openxmlformats.org/officeDocument/2006/math">
                    <m:r>
                      <a:rPr lang="en-US" altLang="ko-KR" sz="2400" b="0" i="1" smtClean="0">
                        <a:latin typeface="Cambria Math" panose="02040503050406030204" pitchFamily="18" charset="0"/>
                      </a:rPr>
                      <m:t>𝛾</m:t>
                    </m:r>
                  </m:oMath>
                </a14:m>
                <a:r>
                  <a:rPr lang="en-US" altLang="ko-KR" sz="2400" dirty="0"/>
                  <a:t>, respectively, capturing the inherent sign ambiguities.</a:t>
                </a:r>
                <a:r>
                  <a:rPr lang="en-US" altLang="ko-KR" dirty="0"/>
                  <a:t> The angle between the two planes, Sun–spacecraft–Planet 1 and Sun–spacecraft–Planet 2, is denoted as </a:t>
                </a:r>
                <a14:m>
                  <m:oMath xmlns:m="http://schemas.openxmlformats.org/officeDocument/2006/math">
                    <m:r>
                      <a:rPr lang="en-US" altLang="ko-KR" b="0" i="1" smtClean="0">
                        <a:latin typeface="Cambria Math" panose="02040503050406030204" pitchFamily="18" charset="0"/>
                      </a:rPr>
                      <m:t>𝐵</m:t>
                    </m:r>
                  </m:oMath>
                </a14:m>
                <a:r>
                  <a:rPr lang="en-US" altLang="ko-KR" dirty="0"/>
                  <a:t>, with </a:t>
                </a:r>
                <a14:m>
                  <m:oMath xmlns:m="http://schemas.openxmlformats.org/officeDocument/2006/math">
                    <m:r>
                      <a:rPr lang="en-US" altLang="ko-KR" b="0" i="1" smtClean="0">
                        <a:latin typeface="Cambria Math" panose="02040503050406030204" pitchFamily="18" charset="0"/>
                      </a:rPr>
                      <m:t>𝐵</m:t>
                    </m:r>
                    <m:r>
                      <a:rPr lang="en-US" altLang="ko-KR" b="0" i="1" smtClean="0">
                        <a:latin typeface="Cambria Math" panose="02040503050406030204" pitchFamily="18" charset="0"/>
                      </a:rPr>
                      <m:t>′</m:t>
                    </m:r>
                  </m:oMath>
                </a14:m>
                <a:r>
                  <a:rPr lang="en-US" altLang="ko-KR" dirty="0"/>
                  <a:t> defined as its supplement (i.e., 2π − </a:t>
                </a:r>
                <a14:m>
                  <m:oMath xmlns:m="http://schemas.openxmlformats.org/officeDocument/2006/math">
                    <m:r>
                      <a:rPr lang="en-US" altLang="ko-KR" b="0" i="1" smtClean="0">
                        <a:latin typeface="Cambria Math" panose="02040503050406030204" pitchFamily="18" charset="0"/>
                      </a:rPr>
                      <m:t>𝐵</m:t>
                    </m:r>
                  </m:oMath>
                </a14:m>
                <a:r>
                  <a:rPr lang="en-US" altLang="ko-KR" dirty="0"/>
                  <a:t>). Within this unit sphere framework, the spherical law of cosines can be applied: </a:t>
                </a:r>
                <a14:m>
                  <m:oMath xmlns:m="http://schemas.openxmlformats.org/officeDocument/2006/math">
                    <m:func>
                      <m:funcPr>
                        <m:ctrlPr>
                          <a:rPr lang="en-US" altLang="ko-KR" b="0" i="1" smtClean="0">
                            <a:latin typeface="Cambria Math" panose="02040503050406030204" pitchFamily="18" charset="0"/>
                          </a:rPr>
                        </m:ctrlPr>
                      </m:funcPr>
                      <m:fName>
                        <m:r>
                          <m:rPr>
                            <m:sty m:val="p"/>
                          </m:rPr>
                          <a:rPr lang="en-US" altLang="ko-KR" b="0" i="0" smtClean="0">
                            <a:latin typeface="Cambria Math" panose="02040503050406030204" pitchFamily="18" charset="0"/>
                          </a:rPr>
                          <m:t>cos</m:t>
                        </m:r>
                      </m:fName>
                      <m:e>
                        <m:r>
                          <a:rPr lang="en-US" altLang="ko-KR" b="0" i="1" smtClean="0">
                            <a:latin typeface="Cambria Math" panose="02040503050406030204" pitchFamily="18" charset="0"/>
                          </a:rPr>
                          <m:t>𝜃</m:t>
                        </m:r>
                        <m:r>
                          <a:rPr lang="en-US" altLang="ko-KR" b="0" i="1" smtClean="0">
                            <a:latin typeface="Cambria Math" panose="02040503050406030204" pitchFamily="18" charset="0"/>
                          </a:rPr>
                          <m:t>′</m:t>
                        </m:r>
                      </m:e>
                    </m:func>
                    <m:r>
                      <a:rPr lang="en-US" altLang="ko-KR" b="0" i="1" smtClean="0">
                        <a:latin typeface="Cambria Math" panose="02040503050406030204" pitchFamily="18" charset="0"/>
                      </a:rPr>
                      <m:t>=</m:t>
                    </m:r>
                    <m:func>
                      <m:funcPr>
                        <m:ctrlPr>
                          <a:rPr lang="en-US" altLang="ko-KR" b="0" i="1" smtClean="0">
                            <a:latin typeface="Cambria Math" panose="02040503050406030204" pitchFamily="18" charset="0"/>
                          </a:rPr>
                        </m:ctrlPr>
                      </m:funcPr>
                      <m:fName>
                        <m:r>
                          <m:rPr>
                            <m:sty m:val="p"/>
                          </m:rPr>
                          <a:rPr lang="en-US" altLang="ko-KR" b="0" i="0" smtClean="0">
                            <a:latin typeface="Cambria Math" panose="02040503050406030204" pitchFamily="18" charset="0"/>
                          </a:rPr>
                          <m:t>cos</m:t>
                        </m:r>
                      </m:fName>
                      <m:e>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𝛿</m:t>
                            </m:r>
                          </m:e>
                          <m:sub>
                            <m:r>
                              <a:rPr lang="en-US" altLang="ko-KR" b="0" i="1" smtClean="0">
                                <a:latin typeface="Cambria Math" panose="02040503050406030204" pitchFamily="18" charset="0"/>
                              </a:rPr>
                              <m:t>1</m:t>
                            </m:r>
                          </m:sub>
                        </m:sSub>
                      </m:e>
                    </m:func>
                    <m:func>
                      <m:funcPr>
                        <m:ctrlPr>
                          <a:rPr lang="en-US" altLang="ko-KR" b="0" i="1" smtClean="0">
                            <a:latin typeface="Cambria Math" panose="02040503050406030204" pitchFamily="18" charset="0"/>
                          </a:rPr>
                        </m:ctrlPr>
                      </m:funcPr>
                      <m:fName>
                        <m:r>
                          <m:rPr>
                            <m:sty m:val="p"/>
                          </m:rPr>
                          <a:rPr lang="en-US" altLang="ko-KR" b="0" i="0" smtClean="0">
                            <a:latin typeface="Cambria Math" panose="02040503050406030204" pitchFamily="18" charset="0"/>
                          </a:rPr>
                          <m:t>cos</m:t>
                        </m:r>
                      </m:fName>
                      <m:e>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𝛿</m:t>
                            </m:r>
                          </m:e>
                          <m:sub>
                            <m:r>
                              <a:rPr lang="en-US" altLang="ko-KR" b="0" i="1" smtClean="0">
                                <a:latin typeface="Cambria Math" panose="02040503050406030204" pitchFamily="18" charset="0"/>
                              </a:rPr>
                              <m:t>2</m:t>
                            </m:r>
                          </m:sub>
                        </m:sSub>
                      </m:e>
                    </m:func>
                    <m:r>
                      <a:rPr lang="en-US" altLang="ko-KR" b="0" i="1" smtClean="0">
                        <a:latin typeface="Cambria Math" panose="02040503050406030204" pitchFamily="18" charset="0"/>
                      </a:rPr>
                      <m:t>+</m:t>
                    </m:r>
                    <m:func>
                      <m:funcPr>
                        <m:ctrlPr>
                          <a:rPr lang="en-US" altLang="ko-KR" b="0" i="1" smtClean="0">
                            <a:latin typeface="Cambria Math" panose="02040503050406030204" pitchFamily="18" charset="0"/>
                          </a:rPr>
                        </m:ctrlPr>
                      </m:funcPr>
                      <m:fName>
                        <m:r>
                          <m:rPr>
                            <m:sty m:val="p"/>
                          </m:rPr>
                          <a:rPr lang="en-US" altLang="ko-KR" b="0" i="0" smtClean="0">
                            <a:latin typeface="Cambria Math" panose="02040503050406030204" pitchFamily="18" charset="0"/>
                          </a:rPr>
                          <m:t>sin</m:t>
                        </m:r>
                      </m:fName>
                      <m:e>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𝛿</m:t>
                            </m:r>
                          </m:e>
                          <m:sub>
                            <m:r>
                              <a:rPr lang="en-US" altLang="ko-KR" b="0" i="1" smtClean="0">
                                <a:latin typeface="Cambria Math" panose="02040503050406030204" pitchFamily="18" charset="0"/>
                              </a:rPr>
                              <m:t>1</m:t>
                            </m:r>
                          </m:sub>
                        </m:sSub>
                      </m:e>
                    </m:func>
                    <m:func>
                      <m:funcPr>
                        <m:ctrlPr>
                          <a:rPr lang="en-US" altLang="ko-KR" b="0" i="1" smtClean="0">
                            <a:latin typeface="Cambria Math" panose="02040503050406030204" pitchFamily="18" charset="0"/>
                          </a:rPr>
                        </m:ctrlPr>
                      </m:funcPr>
                      <m:fName>
                        <m:r>
                          <m:rPr>
                            <m:sty m:val="p"/>
                          </m:rPr>
                          <a:rPr lang="en-US" altLang="ko-KR" b="0" i="0" smtClean="0">
                            <a:latin typeface="Cambria Math" panose="02040503050406030204" pitchFamily="18" charset="0"/>
                          </a:rPr>
                          <m:t>sin</m:t>
                        </m:r>
                      </m:fName>
                      <m:e>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𝛿</m:t>
                            </m:r>
                          </m:e>
                          <m:sub>
                            <m:r>
                              <a:rPr lang="en-US" altLang="ko-KR" b="0" i="1" smtClean="0">
                                <a:latin typeface="Cambria Math" panose="02040503050406030204" pitchFamily="18" charset="0"/>
                              </a:rPr>
                              <m:t>2</m:t>
                            </m:r>
                          </m:sub>
                        </m:sSub>
                      </m:e>
                    </m:func>
                    <m:func>
                      <m:funcPr>
                        <m:ctrlPr>
                          <a:rPr lang="en-US" altLang="ko-KR" b="0" i="1" smtClean="0">
                            <a:latin typeface="Cambria Math" panose="02040503050406030204" pitchFamily="18" charset="0"/>
                          </a:rPr>
                        </m:ctrlPr>
                      </m:funcPr>
                      <m:fName>
                        <m:r>
                          <m:rPr>
                            <m:sty m:val="p"/>
                          </m:rPr>
                          <a:rPr lang="en-US" altLang="ko-KR" b="0" i="0" smtClean="0">
                            <a:latin typeface="Cambria Math" panose="02040503050406030204" pitchFamily="18" charset="0"/>
                          </a:rPr>
                          <m:t>cos</m:t>
                        </m:r>
                      </m:fName>
                      <m:e>
                        <m:r>
                          <a:rPr lang="en-US" altLang="ko-KR" b="0" i="1" smtClean="0">
                            <a:latin typeface="Cambria Math" panose="02040503050406030204" pitchFamily="18" charset="0"/>
                          </a:rPr>
                          <m:t>𝐵</m:t>
                        </m:r>
                        <m:r>
                          <a:rPr lang="en-US" altLang="ko-KR" b="0" i="1" smtClean="0">
                            <a:latin typeface="Cambria Math" panose="02040503050406030204" pitchFamily="18" charset="0"/>
                          </a:rPr>
                          <m:t>′</m:t>
                        </m:r>
                      </m:e>
                    </m:func>
                  </m:oMath>
                </a14:m>
                <a:r>
                  <a:rPr lang="en-US" altLang="ko-KR" dirty="0"/>
                  <a:t>. Because the only unknown in the previous equation is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𝑠</m:t>
                        </m:r>
                      </m:sub>
                    </m:sSub>
                  </m:oMath>
                </a14:m>
                <a:r>
                  <a:rPr lang="en-US" altLang="ko-KR" dirty="0"/>
                  <a:t>, it can be computed by solving the root-finding problem. Since </a:t>
                </a:r>
                <a14:m>
                  <m:oMath xmlns:m="http://schemas.openxmlformats.org/officeDocument/2006/math">
                    <m:r>
                      <a:rPr lang="en-US" altLang="ko-KR" b="0" i="1" smtClean="0">
                        <a:latin typeface="Cambria Math" panose="02040503050406030204" pitchFamily="18" charset="0"/>
                      </a:rPr>
                      <m:t>𝛿</m:t>
                    </m:r>
                  </m:oMath>
                </a14:m>
                <a:r>
                  <a:rPr lang="en-US" altLang="ko-KR" dirty="0"/>
                  <a:t> depends on sign-ambiguous angles, up to nine possible solutions may arise.</a:t>
                </a:r>
              </a:p>
            </p:txBody>
          </p:sp>
        </mc:Choice>
        <mc:Fallback xmlns="">
          <p:sp>
            <p:nvSpPr>
              <p:cNvPr id="2066" name="Text Box 18">
                <a:extLst>
                  <a:ext uri="{FF2B5EF4-FFF2-40B4-BE49-F238E27FC236}">
                    <a16:creationId xmlns:a16="http://schemas.microsoft.com/office/drawing/2014/main" id="{B1D26339-86D6-03AD-CCCE-4BBE56DE75B3}"/>
                  </a:ext>
                </a:extLst>
              </p:cNvPr>
              <p:cNvSpPr txBox="1">
                <a:spLocks noRot="1" noChangeAspect="1" noMove="1" noResize="1" noEditPoints="1" noAdjustHandles="1" noChangeArrowheads="1" noChangeShapeType="1" noTextEdit="1"/>
              </p:cNvSpPr>
              <p:nvPr/>
            </p:nvSpPr>
            <p:spPr bwMode="auto">
              <a:xfrm>
                <a:off x="1558925" y="7389910"/>
                <a:ext cx="13441680" cy="18531099"/>
              </a:xfrm>
              <a:prstGeom prst="rect">
                <a:avLst/>
              </a:prstGeom>
              <a:blipFill>
                <a:blip r:embed="rId4"/>
                <a:stretch>
                  <a:fillRect l="-1633" t="-592" r="-1315"/>
                </a:stretch>
              </a:blipFill>
              <a:ln w="9525">
                <a:noFill/>
                <a:miter lim="800000"/>
                <a:headEnd/>
                <a:tailEnd/>
              </a:ln>
              <a:effectLst/>
            </p:spPr>
            <p:txBody>
              <a:bodyPr/>
              <a:lstStyle/>
              <a:p>
                <a:r>
                  <a:rPr lang="ko-KR" altLang="en-US">
                    <a:noFill/>
                  </a:rPr>
                  <a:t> </a:t>
                </a:r>
              </a:p>
            </p:txBody>
          </p:sp>
        </mc:Fallback>
      </mc:AlternateContent>
      <p:sp>
        <p:nvSpPr>
          <p:cNvPr id="2" name="Text Box 11">
            <a:extLst>
              <a:ext uri="{FF2B5EF4-FFF2-40B4-BE49-F238E27FC236}">
                <a16:creationId xmlns:a16="http://schemas.microsoft.com/office/drawing/2014/main" id="{8E4F75DB-07AC-C919-BBE9-03CB7931ECB4}"/>
              </a:ext>
            </a:extLst>
          </p:cNvPr>
          <p:cNvSpPr txBox="1">
            <a:spLocks noChangeArrowheads="1"/>
          </p:cNvSpPr>
          <p:nvPr/>
        </p:nvSpPr>
        <p:spPr bwMode="auto">
          <a:xfrm>
            <a:off x="1524000" y="1935163"/>
            <a:ext cx="16975545" cy="1200329"/>
          </a:xfrm>
          <a:prstGeom prst="rect">
            <a:avLst/>
          </a:prstGeom>
          <a:noFill/>
          <a:ln w="9525">
            <a:noFill/>
            <a:miter lim="800000"/>
            <a:headEnd/>
            <a:tailEnd/>
          </a:ln>
          <a:effectLst/>
        </p:spPr>
        <p:txBody>
          <a:bodyPr wrap="none">
            <a:spAutoFit/>
          </a:bodyPr>
          <a:lstStyle/>
          <a:p>
            <a:pPr algn="l"/>
            <a:r>
              <a:rPr lang="en-US" sz="7200" b="1" dirty="0">
                <a:solidFill>
                  <a:srgbClr val="FFFFFF"/>
                </a:solidFill>
                <a:latin typeface="Arial" charset="0"/>
              </a:rPr>
              <a:t>Department of Aerospace Engineering</a:t>
            </a:r>
          </a:p>
        </p:txBody>
      </p:sp>
      <p:sp>
        <p:nvSpPr>
          <p:cNvPr id="3" name="Text Box 12">
            <a:extLst>
              <a:ext uri="{FF2B5EF4-FFF2-40B4-BE49-F238E27FC236}">
                <a16:creationId xmlns:a16="http://schemas.microsoft.com/office/drawing/2014/main" id="{112C245F-9E18-E968-8F55-2F0943EB7266}"/>
              </a:ext>
            </a:extLst>
          </p:cNvPr>
          <p:cNvSpPr txBox="1">
            <a:spLocks noChangeArrowheads="1"/>
          </p:cNvSpPr>
          <p:nvPr/>
        </p:nvSpPr>
        <p:spPr bwMode="auto">
          <a:xfrm>
            <a:off x="23241000" y="1660525"/>
            <a:ext cx="19202400" cy="1324786"/>
          </a:xfrm>
          <a:prstGeom prst="rect">
            <a:avLst/>
          </a:prstGeom>
          <a:noFill/>
          <a:ln w="9525">
            <a:noFill/>
            <a:miter lim="800000"/>
            <a:headEnd/>
            <a:tailEnd/>
          </a:ln>
          <a:effectLst/>
        </p:spPr>
        <p:txBody>
          <a:bodyPr>
            <a:spAutoFit/>
          </a:bodyPr>
          <a:lstStyle/>
          <a:p>
            <a:pPr marL="228600" lvl="2">
              <a:lnSpc>
                <a:spcPct val="75000"/>
              </a:lnSpc>
              <a:spcBef>
                <a:spcPct val="50000"/>
              </a:spcBef>
            </a:pPr>
            <a:r>
              <a:rPr lang="en-US" sz="4000" dirty="0">
                <a:solidFill>
                  <a:schemeClr val="bg1"/>
                </a:solidFill>
                <a:latin typeface="Arial" charset="0"/>
              </a:rPr>
              <a:t>Iowa Space Grant Consortium Student Research Symposium</a:t>
            </a:r>
          </a:p>
          <a:p>
            <a:pPr marL="228600" lvl="2">
              <a:lnSpc>
                <a:spcPct val="75000"/>
              </a:lnSpc>
              <a:spcBef>
                <a:spcPct val="50000"/>
              </a:spcBef>
            </a:pPr>
            <a:r>
              <a:rPr lang="en-US" sz="4000" dirty="0">
                <a:solidFill>
                  <a:schemeClr val="bg1"/>
                </a:solidFill>
                <a:latin typeface="Arial" charset="0"/>
              </a:rPr>
              <a:t>April 15, 2025</a:t>
            </a:r>
          </a:p>
        </p:txBody>
      </p:sp>
      <p:sp>
        <p:nvSpPr>
          <p:cNvPr id="4" name="Text Box 13">
            <a:extLst>
              <a:ext uri="{FF2B5EF4-FFF2-40B4-BE49-F238E27FC236}">
                <a16:creationId xmlns:a16="http://schemas.microsoft.com/office/drawing/2014/main" id="{F1B0B68D-1AEE-493E-63BA-09052722F3F2}"/>
              </a:ext>
            </a:extLst>
          </p:cNvPr>
          <p:cNvSpPr txBox="1">
            <a:spLocks noChangeArrowheads="1"/>
          </p:cNvSpPr>
          <p:nvPr/>
        </p:nvSpPr>
        <p:spPr bwMode="auto">
          <a:xfrm>
            <a:off x="1600200" y="3810000"/>
            <a:ext cx="42291000" cy="1015663"/>
          </a:xfrm>
          <a:prstGeom prst="rect">
            <a:avLst/>
          </a:prstGeom>
          <a:noFill/>
          <a:ln w="9525">
            <a:noFill/>
            <a:miter lim="800000"/>
            <a:headEnd/>
            <a:tailEnd/>
          </a:ln>
          <a:effectLst/>
        </p:spPr>
        <p:txBody>
          <a:bodyPr wrap="square">
            <a:spAutoFit/>
          </a:bodyPr>
          <a:lstStyle/>
          <a:p>
            <a:pPr algn="l">
              <a:spcBef>
                <a:spcPct val="50000"/>
              </a:spcBef>
            </a:pPr>
            <a:r>
              <a:rPr lang="en-US" sz="6000" dirty="0">
                <a:solidFill>
                  <a:srgbClr val="524727"/>
                </a:solidFill>
                <a:latin typeface="Arial" charset="0"/>
              </a:rPr>
              <a:t>Sungmoon Choi, </a:t>
            </a:r>
            <a:r>
              <a:rPr kumimoji="0" lang="en-US" sz="4000" b="0" i="0" u="none" strike="noStrike" kern="1200" cap="none" spc="0" normalizeH="0" baseline="0" noProof="0" dirty="0">
                <a:ln>
                  <a:noFill/>
                </a:ln>
                <a:solidFill>
                  <a:srgbClr val="524727"/>
                </a:solidFill>
                <a:effectLst/>
                <a:uLnTx/>
                <a:uFillTx/>
                <a:latin typeface="Arial" charset="0"/>
                <a:ea typeface="+mn-ea"/>
                <a:cs typeface="+mn-cs"/>
              </a:rPr>
              <a:t>Ph.D. Candidate</a:t>
            </a:r>
            <a:r>
              <a:rPr lang="en-US" sz="6000" dirty="0">
                <a:solidFill>
                  <a:srgbClr val="524727"/>
                </a:solidFill>
                <a:latin typeface="Arial" charset="0"/>
              </a:rPr>
              <a:t>						  		   		   Faculty Advisor: Ossama </a:t>
            </a:r>
            <a:r>
              <a:rPr lang="en-US" sz="6000" dirty="0" err="1">
                <a:solidFill>
                  <a:srgbClr val="524727"/>
                </a:solidFill>
                <a:latin typeface="Arial" charset="0"/>
              </a:rPr>
              <a:t>Abdelkhalik</a:t>
            </a:r>
            <a:r>
              <a:rPr lang="en-US" sz="6000" dirty="0">
                <a:solidFill>
                  <a:srgbClr val="524727"/>
                </a:solidFill>
                <a:latin typeface="Arial" charset="0"/>
              </a:rPr>
              <a:t>, </a:t>
            </a:r>
            <a:r>
              <a:rPr lang="en-US" sz="4000" dirty="0">
                <a:solidFill>
                  <a:srgbClr val="524727"/>
                </a:solidFill>
                <a:latin typeface="Arial" charset="0"/>
              </a:rPr>
              <a:t>Professor, Vance D. Coffman Faculty Chair</a:t>
            </a:r>
          </a:p>
        </p:txBody>
      </p:sp>
      <p:pic>
        <p:nvPicPr>
          <p:cNvPr id="5" name="Picture 4" descr="A logo of a space program&#10;&#10;Description automatically generated">
            <a:extLst>
              <a:ext uri="{FF2B5EF4-FFF2-40B4-BE49-F238E27FC236}">
                <a16:creationId xmlns:a16="http://schemas.microsoft.com/office/drawing/2014/main" id="{59820A47-8634-8E50-FD7C-DED58B6A3456}"/>
              </a:ext>
            </a:extLst>
          </p:cNvPr>
          <p:cNvPicPr>
            <a:picLocks noChangeAspect="1"/>
          </p:cNvPicPr>
          <p:nvPr/>
        </p:nvPicPr>
        <p:blipFill>
          <a:blip r:embed="rId5"/>
          <a:stretch>
            <a:fillRect/>
          </a:stretch>
        </p:blipFill>
        <p:spPr>
          <a:xfrm>
            <a:off x="25283292" y="294669"/>
            <a:ext cx="2611569" cy="3058131"/>
          </a:xfrm>
          <a:prstGeom prst="rect">
            <a:avLst/>
          </a:prstGeom>
        </p:spPr>
      </p:pic>
      <p:sp>
        <p:nvSpPr>
          <p:cNvPr id="6" name="Text Box 14">
            <a:extLst>
              <a:ext uri="{FF2B5EF4-FFF2-40B4-BE49-F238E27FC236}">
                <a16:creationId xmlns:a16="http://schemas.microsoft.com/office/drawing/2014/main" id="{F179A7BF-6513-1F0E-8EC3-14144BD2CFC6}"/>
              </a:ext>
            </a:extLst>
          </p:cNvPr>
          <p:cNvSpPr txBox="1">
            <a:spLocks noChangeArrowheads="1"/>
          </p:cNvSpPr>
          <p:nvPr/>
        </p:nvSpPr>
        <p:spPr bwMode="auto">
          <a:xfrm>
            <a:off x="1524000" y="32004000"/>
            <a:ext cx="22098000" cy="461665"/>
          </a:xfrm>
          <a:prstGeom prst="rect">
            <a:avLst/>
          </a:prstGeom>
          <a:noFill/>
          <a:ln w="9525">
            <a:noFill/>
            <a:miter lim="800000"/>
            <a:headEnd/>
            <a:tailEnd/>
          </a:ln>
          <a:effectLst/>
        </p:spPr>
        <p:txBody>
          <a:bodyPr wrap="square">
            <a:spAutoFit/>
          </a:bodyPr>
          <a:lstStyle/>
          <a:p>
            <a:pPr algn="l"/>
            <a:r>
              <a:rPr lang="en-US" sz="2400" b="1" dirty="0">
                <a:solidFill>
                  <a:schemeClr val="bg1"/>
                </a:solidFill>
                <a:latin typeface="Arial" panose="020B0604020202020204" pitchFamily="34" charset="0"/>
              </a:rPr>
              <a:t> This project/material is based upon work supported by NASA Award No. 24-2024EPSCoR-0024.</a:t>
            </a:r>
            <a:endParaRPr lang="en-US" sz="2400" b="1" dirty="0">
              <a:solidFill>
                <a:schemeClr val="bg1"/>
              </a:solidFill>
            </a:endParaRPr>
          </a:p>
        </p:txBody>
      </p:sp>
      <mc:AlternateContent xmlns:mc="http://schemas.openxmlformats.org/markup-compatibility/2006" xmlns:a14="http://schemas.microsoft.com/office/drawing/2010/main">
        <mc:Choice Requires="a14">
          <p:sp>
            <p:nvSpPr>
              <p:cNvPr id="41" name="Text Box 18">
                <a:extLst>
                  <a:ext uri="{FF2B5EF4-FFF2-40B4-BE49-F238E27FC236}">
                    <a16:creationId xmlns:a16="http://schemas.microsoft.com/office/drawing/2014/main" id="{1FA42309-AB4C-9AB5-FCB8-8D70441FE8A4}"/>
                  </a:ext>
                </a:extLst>
              </p:cNvPr>
              <p:cNvSpPr txBox="1">
                <a:spLocks noChangeArrowheads="1"/>
              </p:cNvSpPr>
              <p:nvPr/>
            </p:nvSpPr>
            <p:spPr bwMode="auto">
              <a:xfrm>
                <a:off x="29363038" y="7389910"/>
                <a:ext cx="7310940" cy="5933804"/>
              </a:xfrm>
              <a:prstGeom prst="rect">
                <a:avLst/>
              </a:prstGeom>
              <a:noFill/>
              <a:ln w="9525">
                <a:noFill/>
                <a:miter lim="800000"/>
                <a:headEnd/>
                <a:tailEnd/>
              </a:ln>
              <a:effectLst/>
            </p:spPr>
            <p:txBody>
              <a:bodyPr wrap="square">
                <a:spAutoFit/>
              </a:bodyPr>
              <a:lstStyle/>
              <a:p>
                <a:pPr algn="l">
                  <a:spcBef>
                    <a:spcPct val="50000"/>
                  </a:spcBef>
                </a:pPr>
                <a:r>
                  <a:rPr lang="en-US" sz="4000" b="1" i="1" dirty="0"/>
                  <a:t>Sign Ambiguity: </a:t>
                </a:r>
                <a14:m>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𝒔</m:t>
                        </m:r>
                      </m:e>
                      <m:sub>
                        <m:r>
                          <a:rPr lang="en-US" sz="4000" b="1" i="1" smtClean="0">
                            <a:latin typeface="Cambria Math" panose="02040503050406030204" pitchFamily="18" charset="0"/>
                          </a:rPr>
                          <m:t>𝝓</m:t>
                        </m:r>
                      </m:sub>
                    </m:sSub>
                  </m:oMath>
                </a14:m>
                <a:endParaRPr lang="en-US" sz="4000" b="1" i="1" dirty="0"/>
              </a:p>
              <a:p>
                <a:pPr indent="457200" algn="l">
                  <a:spcBef>
                    <a:spcPct val="50000"/>
                  </a:spcBef>
                </a:pPr>
                <a:r>
                  <a:rPr lang="en-US" dirty="0"/>
                  <a:t>The second sign ambiguity, associated with </a:t>
                </a:r>
                <a14:m>
                  <m:oMath xmlns:m="http://schemas.openxmlformats.org/officeDocument/2006/math">
                    <m:r>
                      <a:rPr lang="en-US" b="0" i="1" smtClean="0">
                        <a:latin typeface="Cambria Math" panose="02040503050406030204" pitchFamily="18" charset="0"/>
                      </a:rPr>
                      <m:t>𝜙</m:t>
                    </m:r>
                  </m:oMath>
                </a14:m>
                <a:r>
                  <a:rPr lang="en-US" dirty="0"/>
                  <a:t>, is more challenging to resolve than that of </a:t>
                </a:r>
                <a14:m>
                  <m:oMath xmlns:m="http://schemas.openxmlformats.org/officeDocument/2006/math">
                    <m:r>
                      <a:rPr lang="en-US" b="0" i="1" smtClean="0">
                        <a:latin typeface="Cambria Math" panose="02040503050406030204" pitchFamily="18" charset="0"/>
                      </a:rPr>
                      <m:t>𝛾</m:t>
                    </m:r>
                  </m:oMath>
                </a14:m>
                <a:r>
                  <a:rPr lang="en-US" dirty="0"/>
                  <a:t>, as it cannot be determined directly from measurements. This ambiguity arises from the geometric configuration relative to each planet, as illustrated in the figure on the right. In this setup, the Sun (orange) is positioned at the origin, and Planet 1 (P1), marked in red, lies on the X-axis, 1 AU from the Sun. The cyan circle represents the circumcircle formed by the Sun, the S/C, and P1. S/C is located on the blue circle, corresponding to a distance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𝑠</m:t>
                        </m:r>
                      </m:sub>
                    </m:sSub>
                  </m:oMath>
                </a14:m>
                <a:r>
                  <a:rPr lang="en-US" dirty="0"/>
                  <a:t> = 1.0816 AU, referred to as </a:t>
                </a:r>
                <a:r>
                  <a:rPr lang="en-US" i="1" dirty="0"/>
                  <a:t>Case a</a:t>
                </a:r>
                <a:r>
                  <a:rPr lang="en-US" dirty="0"/>
                  <a:t>.</a:t>
                </a:r>
              </a:p>
              <a:p>
                <a:pPr indent="457200" algn="l">
                  <a:spcBef>
                    <a:spcPct val="50000"/>
                  </a:spcBef>
                </a:pPr>
                <a:r>
                  <a:rPr lang="en-US" dirty="0"/>
                  <a:t>Similarly, </a:t>
                </a:r>
                <a:r>
                  <a:rPr lang="en-US" i="1" dirty="0"/>
                  <a:t>Case b</a:t>
                </a:r>
                <a:r>
                  <a:rPr lang="en-US" dirty="0"/>
                  <a:t> is illustrated by the green dot, representing another possible position of the spacecraft. In</a:t>
                </a:r>
              </a:p>
            </p:txBody>
          </p:sp>
        </mc:Choice>
        <mc:Fallback xmlns="">
          <p:sp>
            <p:nvSpPr>
              <p:cNvPr id="41" name="Text Box 18">
                <a:extLst>
                  <a:ext uri="{FF2B5EF4-FFF2-40B4-BE49-F238E27FC236}">
                    <a16:creationId xmlns:a16="http://schemas.microsoft.com/office/drawing/2014/main" id="{ED981294-41DB-59BF-0214-0A39A4BB753F}"/>
                  </a:ext>
                </a:extLst>
              </p:cNvPr>
              <p:cNvSpPr txBox="1">
                <a:spLocks noRot="1" noChangeAspect="1" noMove="1" noResize="1" noEditPoints="1" noAdjustHandles="1" noChangeArrowheads="1" noChangeShapeType="1" noTextEdit="1"/>
              </p:cNvSpPr>
              <p:nvPr/>
            </p:nvSpPr>
            <p:spPr bwMode="auto">
              <a:xfrm>
                <a:off x="29363038" y="7389910"/>
                <a:ext cx="7310940" cy="5933804"/>
              </a:xfrm>
              <a:prstGeom prst="rect">
                <a:avLst/>
              </a:prstGeom>
              <a:blipFill>
                <a:blip r:embed="rId6"/>
                <a:stretch>
                  <a:fillRect l="-3003" t="-1848" r="-2168" b="-1335"/>
                </a:stretch>
              </a:blipFill>
              <a:ln w="9525">
                <a:noFill/>
                <a:miter lim="800000"/>
                <a:headEnd/>
                <a:tailEnd/>
              </a:ln>
              <a:effectLst/>
            </p:spPr>
            <p:txBody>
              <a:bodyPr/>
              <a:lstStyle/>
              <a:p>
                <a:r>
                  <a:rPr lang="ko-KR" altLang="en-US">
                    <a:noFill/>
                  </a:rPr>
                  <a:t> </a:t>
                </a:r>
              </a:p>
            </p:txBody>
          </p:sp>
        </mc:Fallback>
      </mc:AlternateContent>
      <p:pic>
        <p:nvPicPr>
          <p:cNvPr id="2053" name="Picture 2052" descr="A diagram of a graph&#10;&#10;AI-generated content may be incorrect.">
            <a:extLst>
              <a:ext uri="{FF2B5EF4-FFF2-40B4-BE49-F238E27FC236}">
                <a16:creationId xmlns:a16="http://schemas.microsoft.com/office/drawing/2014/main" id="{DDEE4D12-4093-3EFD-627B-E68EBF5C18DC}"/>
              </a:ext>
            </a:extLst>
          </p:cNvPr>
          <p:cNvPicPr>
            <a:picLocks noChangeAspect="1"/>
          </p:cNvPicPr>
          <p:nvPr/>
        </p:nvPicPr>
        <p:blipFill>
          <a:blip r:embed="rId7">
            <a:extLst>
              <a:ext uri="{28A0092B-C50C-407E-A947-70E740481C1C}">
                <a14:useLocalDpi xmlns:a14="http://schemas.microsoft.com/office/drawing/2010/main" val="0"/>
              </a:ext>
            </a:extLst>
          </a:blip>
          <a:srcRect l="8783" t="18202" r="10446" b="2641"/>
          <a:stretch/>
        </p:blipFill>
        <p:spPr>
          <a:xfrm>
            <a:off x="12005311" y="25288672"/>
            <a:ext cx="10515600" cy="6183317"/>
          </a:xfrm>
          <a:prstGeom prst="rect">
            <a:avLst/>
          </a:prstGeom>
        </p:spPr>
      </p:pic>
      <mc:AlternateContent xmlns:mc="http://schemas.openxmlformats.org/markup-compatibility/2006" xmlns:a14="http://schemas.microsoft.com/office/drawing/2010/main">
        <mc:Choice Requires="a14">
          <p:sp>
            <p:nvSpPr>
              <p:cNvPr id="2058" name="TextBox 2057">
                <a:extLst>
                  <a:ext uri="{FF2B5EF4-FFF2-40B4-BE49-F238E27FC236}">
                    <a16:creationId xmlns:a16="http://schemas.microsoft.com/office/drawing/2014/main" id="{2B1A0365-4DA3-1193-CA7A-AD471DD6874D}"/>
                  </a:ext>
                </a:extLst>
              </p:cNvPr>
              <p:cNvSpPr txBox="1"/>
              <p:nvPr/>
            </p:nvSpPr>
            <p:spPr>
              <a:xfrm>
                <a:off x="16767811" y="13075301"/>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𝜙</m:t>
                      </m:r>
                    </m:oMath>
                  </m:oMathPara>
                </a14:m>
                <a:endParaRPr lang="ko-KR" altLang="en-US" dirty="0"/>
              </a:p>
            </p:txBody>
          </p:sp>
        </mc:Choice>
        <mc:Fallback xmlns="">
          <p:sp>
            <p:nvSpPr>
              <p:cNvPr id="2058" name="TextBox 2057">
                <a:extLst>
                  <a:ext uri="{FF2B5EF4-FFF2-40B4-BE49-F238E27FC236}">
                    <a16:creationId xmlns:a16="http://schemas.microsoft.com/office/drawing/2014/main" id="{7D2D3A54-E5CA-56A4-344D-EDD8E701C551}"/>
                  </a:ext>
                </a:extLst>
              </p:cNvPr>
              <p:cNvSpPr txBox="1">
                <a:spLocks noRot="1" noChangeAspect="1" noMove="1" noResize="1" noEditPoints="1" noAdjustHandles="1" noChangeArrowheads="1" noChangeShapeType="1" noTextEdit="1"/>
              </p:cNvSpPr>
              <p:nvPr/>
            </p:nvSpPr>
            <p:spPr>
              <a:xfrm>
                <a:off x="16767811" y="13075301"/>
                <a:ext cx="1143000" cy="461665"/>
              </a:xfrm>
              <a:prstGeom prst="rect">
                <a:avLst/>
              </a:prstGeom>
              <a:blipFill>
                <a:blip r:embed="rId8"/>
                <a:stretch>
                  <a:fillRect b="-17105"/>
                </a:stretch>
              </a:blipFill>
            </p:spPr>
            <p:txBody>
              <a:bodyPr/>
              <a:lstStyle/>
              <a:p>
                <a:r>
                  <a:rPr lang="ko-KR" altLang="en-US">
                    <a:noFill/>
                  </a:rPr>
                  <a:t> </a:t>
                </a:r>
              </a:p>
            </p:txBody>
          </p:sp>
        </mc:Fallback>
      </mc:AlternateContent>
      <p:pic>
        <p:nvPicPr>
          <p:cNvPr id="10" name="Picture 9" descr="A circle with a triangle and a circle with a triangle in the center&#10;&#10;AI-generated content may be incorrect.">
            <a:extLst>
              <a:ext uri="{FF2B5EF4-FFF2-40B4-BE49-F238E27FC236}">
                <a16:creationId xmlns:a16="http://schemas.microsoft.com/office/drawing/2014/main" id="{BE8443B3-D226-7026-90A6-1840E715CDD4}"/>
              </a:ext>
            </a:extLst>
          </p:cNvPr>
          <p:cNvPicPr>
            <a:picLocks noChangeAspect="1"/>
          </p:cNvPicPr>
          <p:nvPr/>
        </p:nvPicPr>
        <p:blipFill>
          <a:blip r:embed="rId9">
            <a:extLst>
              <a:ext uri="{28A0092B-C50C-407E-A947-70E740481C1C}">
                <a14:useLocalDpi xmlns:a14="http://schemas.microsoft.com/office/drawing/2010/main" val="0"/>
              </a:ext>
            </a:extLst>
          </a:blip>
          <a:srcRect l="13496" t="14406" r="10646" b="17887"/>
          <a:stretch/>
        </p:blipFill>
        <p:spPr>
          <a:xfrm>
            <a:off x="22551468" y="25031237"/>
            <a:ext cx="6400800" cy="6403448"/>
          </a:xfrm>
          <a:prstGeom prst="rect">
            <a:avLst/>
          </a:prstGeom>
        </p:spPr>
      </p:pic>
      <p:pic>
        <p:nvPicPr>
          <p:cNvPr id="22" name="Picture 21" descr="A graph of a graph of a person&#10;&#10;AI-generated content may be incorrect.">
            <a:extLst>
              <a:ext uri="{FF2B5EF4-FFF2-40B4-BE49-F238E27FC236}">
                <a16:creationId xmlns:a16="http://schemas.microsoft.com/office/drawing/2014/main" id="{FADDB216-DED0-3C15-5BC4-D867211829C1}"/>
              </a:ext>
            </a:extLst>
          </p:cNvPr>
          <p:cNvPicPr>
            <a:picLocks noChangeAspect="1"/>
          </p:cNvPicPr>
          <p:nvPr/>
        </p:nvPicPr>
        <p:blipFill>
          <a:blip r:embed="rId10" cstate="print">
            <a:extLst>
              <a:ext uri="{28A0092B-C50C-407E-A947-70E740481C1C}">
                <a14:useLocalDpi xmlns:a14="http://schemas.microsoft.com/office/drawing/2010/main" val="0"/>
              </a:ext>
            </a:extLst>
          </a:blip>
          <a:srcRect l="7248" t="18527" r="8528" b="2213"/>
          <a:stretch/>
        </p:blipFill>
        <p:spPr>
          <a:xfrm>
            <a:off x="1488185" y="25528490"/>
            <a:ext cx="10515600" cy="5937382"/>
          </a:xfrm>
          <a:prstGeom prst="rect">
            <a:avLst/>
          </a:prstGeom>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6567678-177D-CE8B-00CB-15F906742221}"/>
                  </a:ext>
                </a:extLst>
              </p:cNvPr>
              <p:cNvSpPr txBox="1"/>
              <p:nvPr/>
            </p:nvSpPr>
            <p:spPr>
              <a:xfrm>
                <a:off x="3419793" y="28589357"/>
                <a:ext cx="1143000" cy="55399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3000" b="0" i="1" smtClean="0">
                              <a:latin typeface="Cambria Math" panose="02040503050406030204" pitchFamily="18" charset="0"/>
                            </a:rPr>
                          </m:ctrlPr>
                        </m:sSubPr>
                        <m:e>
                          <m:r>
                            <a:rPr lang="en-US" altLang="ko-KR" sz="3000" b="0" i="1" smtClean="0">
                              <a:latin typeface="Cambria Math" panose="02040503050406030204" pitchFamily="18" charset="0"/>
                            </a:rPr>
                            <m:t>𝑦</m:t>
                          </m:r>
                        </m:e>
                        <m:sub>
                          <m:r>
                            <a:rPr lang="en-US" altLang="ko-KR" sz="3000" b="0" i="1" smtClean="0">
                              <a:latin typeface="Cambria Math" panose="02040503050406030204" pitchFamily="18" charset="0"/>
                            </a:rPr>
                            <m:t>1</m:t>
                          </m:r>
                        </m:sub>
                      </m:sSub>
                    </m:oMath>
                  </m:oMathPara>
                </a14:m>
                <a:endParaRPr lang="ko-KR" altLang="en-US" sz="3000" dirty="0"/>
              </a:p>
            </p:txBody>
          </p:sp>
        </mc:Choice>
        <mc:Fallback xmlns="">
          <p:sp>
            <p:nvSpPr>
              <p:cNvPr id="23" name="TextBox 22">
                <a:extLst>
                  <a:ext uri="{FF2B5EF4-FFF2-40B4-BE49-F238E27FC236}">
                    <a16:creationId xmlns:a16="http://schemas.microsoft.com/office/drawing/2014/main" id="{F94860FE-7DE4-B99F-8867-2387EBE35D8E}"/>
                  </a:ext>
                </a:extLst>
              </p:cNvPr>
              <p:cNvSpPr txBox="1">
                <a:spLocks noRot="1" noChangeAspect="1" noMove="1" noResize="1" noEditPoints="1" noAdjustHandles="1" noChangeArrowheads="1" noChangeShapeType="1" noTextEdit="1"/>
              </p:cNvSpPr>
              <p:nvPr/>
            </p:nvSpPr>
            <p:spPr>
              <a:xfrm>
                <a:off x="3419793" y="28589357"/>
                <a:ext cx="1143000" cy="553998"/>
              </a:xfrm>
              <a:prstGeom prst="rect">
                <a:avLst/>
              </a:prstGeom>
              <a:blipFill>
                <a:blip r:embed="rId1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E3173A7-6139-B83D-8C24-8EC90178FBF1}"/>
                  </a:ext>
                </a:extLst>
              </p:cNvPr>
              <p:cNvSpPr txBox="1"/>
              <p:nvPr/>
            </p:nvSpPr>
            <p:spPr>
              <a:xfrm>
                <a:off x="7159943" y="28336051"/>
                <a:ext cx="1257300" cy="55399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3000" b="0" i="1" smtClean="0">
                              <a:latin typeface="Cambria Math" panose="02040503050406030204" pitchFamily="18" charset="0"/>
                            </a:rPr>
                          </m:ctrlPr>
                        </m:sSubPr>
                        <m:e>
                          <m:r>
                            <a:rPr lang="en-US" altLang="ko-KR" sz="3000" b="0" i="1" smtClean="0">
                              <a:latin typeface="Cambria Math" panose="02040503050406030204" pitchFamily="18" charset="0"/>
                            </a:rPr>
                            <m:t>𝑦</m:t>
                          </m:r>
                        </m:e>
                        <m:sub>
                          <m:r>
                            <a:rPr lang="en-US" altLang="ko-KR" sz="3000" b="0" i="1" smtClean="0">
                              <a:latin typeface="Cambria Math" panose="02040503050406030204" pitchFamily="18" charset="0"/>
                            </a:rPr>
                            <m:t>2</m:t>
                          </m:r>
                        </m:sub>
                      </m:sSub>
                    </m:oMath>
                  </m:oMathPara>
                </a14:m>
                <a:endParaRPr lang="ko-KR" altLang="en-US" sz="3000" dirty="0"/>
              </a:p>
            </p:txBody>
          </p:sp>
        </mc:Choice>
        <mc:Fallback xmlns="">
          <p:sp>
            <p:nvSpPr>
              <p:cNvPr id="24" name="TextBox 23">
                <a:extLst>
                  <a:ext uri="{FF2B5EF4-FFF2-40B4-BE49-F238E27FC236}">
                    <a16:creationId xmlns:a16="http://schemas.microsoft.com/office/drawing/2014/main" id="{749D54F7-C5F5-D3DC-529D-C919E6B45A77}"/>
                  </a:ext>
                </a:extLst>
              </p:cNvPr>
              <p:cNvSpPr txBox="1">
                <a:spLocks noRot="1" noChangeAspect="1" noMove="1" noResize="1" noEditPoints="1" noAdjustHandles="1" noChangeArrowheads="1" noChangeShapeType="1" noTextEdit="1"/>
              </p:cNvSpPr>
              <p:nvPr/>
            </p:nvSpPr>
            <p:spPr>
              <a:xfrm>
                <a:off x="7159943" y="28336051"/>
                <a:ext cx="1257300" cy="553998"/>
              </a:xfrm>
              <a:prstGeom prst="rect">
                <a:avLst/>
              </a:prstGeom>
              <a:blipFill>
                <a:blip r:embed="rId18"/>
                <a:stretch>
                  <a:fillRect/>
                </a:stretch>
              </a:blipFill>
            </p:spPr>
            <p:txBody>
              <a:bodyPr/>
              <a:lstStyle/>
              <a:p>
                <a:r>
                  <a:rPr lang="ko-KR" altLang="en-US">
                    <a:noFill/>
                  </a:rPr>
                  <a:t> </a:t>
                </a:r>
              </a:p>
            </p:txBody>
          </p:sp>
        </mc:Fallback>
      </mc:AlternateContent>
      <p:cxnSp>
        <p:nvCxnSpPr>
          <p:cNvPr id="25" name="Straight Connector 24">
            <a:extLst>
              <a:ext uri="{FF2B5EF4-FFF2-40B4-BE49-F238E27FC236}">
                <a16:creationId xmlns:a16="http://schemas.microsoft.com/office/drawing/2014/main" id="{74637975-0575-C936-70E3-57F54AC5D542}"/>
              </a:ext>
            </a:extLst>
          </p:cNvPr>
          <p:cNvCxnSpPr>
            <a:cxnSpLocks/>
          </p:cNvCxnSpPr>
          <p:nvPr/>
        </p:nvCxnSpPr>
        <p:spPr bwMode="auto">
          <a:xfrm flipV="1">
            <a:off x="3419793" y="25999021"/>
            <a:ext cx="7248207" cy="1162360"/>
          </a:xfrm>
          <a:prstGeom prst="line">
            <a:avLst/>
          </a:prstGeom>
          <a:solidFill>
            <a:schemeClr val="accent1"/>
          </a:solidFill>
          <a:ln w="25400" cap="flat" cmpd="sng" algn="ctr">
            <a:solidFill>
              <a:schemeClr val="tx1"/>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9AA288C-32DC-4D5F-9835-5E9C9E1B45AA}"/>
                  </a:ext>
                </a:extLst>
              </p:cNvPr>
              <p:cNvSpPr txBox="1"/>
              <p:nvPr/>
            </p:nvSpPr>
            <p:spPr>
              <a:xfrm>
                <a:off x="5105400" y="25921484"/>
                <a:ext cx="1257300" cy="55399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3000" b="0" i="1" smtClean="0">
                              <a:latin typeface="Cambria Math" panose="02040503050406030204" pitchFamily="18" charset="0"/>
                            </a:rPr>
                          </m:ctrlPr>
                        </m:sSubPr>
                        <m:e>
                          <m:r>
                            <a:rPr lang="en-US" altLang="ko-KR" sz="3000" b="0" i="1" smtClean="0">
                              <a:latin typeface="Cambria Math" panose="02040503050406030204" pitchFamily="18" charset="0"/>
                            </a:rPr>
                            <m:t>𝑟</m:t>
                          </m:r>
                        </m:e>
                        <m:sub>
                          <m:r>
                            <a:rPr lang="en-US" altLang="ko-KR" sz="3000" b="0" i="1" smtClean="0">
                              <a:latin typeface="Cambria Math" panose="02040503050406030204" pitchFamily="18" charset="0"/>
                            </a:rPr>
                            <m:t>3</m:t>
                          </m:r>
                        </m:sub>
                      </m:sSub>
                    </m:oMath>
                  </m:oMathPara>
                </a14:m>
                <a:endParaRPr lang="ko-KR" altLang="en-US" sz="3000" dirty="0"/>
              </a:p>
            </p:txBody>
          </p:sp>
        </mc:Choice>
        <mc:Fallback xmlns="">
          <p:sp>
            <p:nvSpPr>
              <p:cNvPr id="26" name="TextBox 25">
                <a:extLst>
                  <a:ext uri="{FF2B5EF4-FFF2-40B4-BE49-F238E27FC236}">
                    <a16:creationId xmlns:a16="http://schemas.microsoft.com/office/drawing/2014/main" id="{48AA8030-9C27-E703-07BD-330530B98F8A}"/>
                  </a:ext>
                </a:extLst>
              </p:cNvPr>
              <p:cNvSpPr txBox="1">
                <a:spLocks noRot="1" noChangeAspect="1" noMove="1" noResize="1" noEditPoints="1" noAdjustHandles="1" noChangeArrowheads="1" noChangeShapeType="1" noTextEdit="1"/>
              </p:cNvSpPr>
              <p:nvPr/>
            </p:nvSpPr>
            <p:spPr>
              <a:xfrm>
                <a:off x="5105400" y="25921484"/>
                <a:ext cx="1257300" cy="553998"/>
              </a:xfrm>
              <a:prstGeom prst="rect">
                <a:avLst/>
              </a:prstGeom>
              <a:blipFill>
                <a:blip r:embed="rId19"/>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60F1C18-DE0B-E4DF-E267-7951CCC24F0F}"/>
                  </a:ext>
                </a:extLst>
              </p:cNvPr>
              <p:cNvSpPr txBox="1"/>
              <p:nvPr/>
            </p:nvSpPr>
            <p:spPr>
              <a:xfrm>
                <a:off x="17228187" y="12906505"/>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𝛾</m:t>
                      </m:r>
                    </m:oMath>
                  </m:oMathPara>
                </a14:m>
                <a:endParaRPr lang="en-US" altLang="ko-KR" b="0" dirty="0"/>
              </a:p>
            </p:txBody>
          </p:sp>
        </mc:Choice>
        <mc:Fallback xmlns="">
          <p:sp>
            <p:nvSpPr>
              <p:cNvPr id="18" name="TextBox 17">
                <a:extLst>
                  <a:ext uri="{FF2B5EF4-FFF2-40B4-BE49-F238E27FC236}">
                    <a16:creationId xmlns:a16="http://schemas.microsoft.com/office/drawing/2014/main" id="{5EC1D405-D2CC-500A-19DF-082873B16008}"/>
                  </a:ext>
                </a:extLst>
              </p:cNvPr>
              <p:cNvSpPr txBox="1">
                <a:spLocks noRot="1" noChangeAspect="1" noMove="1" noResize="1" noEditPoints="1" noAdjustHandles="1" noChangeArrowheads="1" noChangeShapeType="1" noTextEdit="1"/>
              </p:cNvSpPr>
              <p:nvPr/>
            </p:nvSpPr>
            <p:spPr>
              <a:xfrm>
                <a:off x="17228187" y="12906505"/>
                <a:ext cx="1143000" cy="461665"/>
              </a:xfrm>
              <a:prstGeom prst="rect">
                <a:avLst/>
              </a:prstGeom>
              <a:blipFill>
                <a:blip r:embed="rId20"/>
                <a:stretch>
                  <a:fillRect b="-921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4C05032-F34F-C3E4-DB77-35FF5EABEB69}"/>
                  </a:ext>
                </a:extLst>
              </p:cNvPr>
              <p:cNvSpPr txBox="1"/>
              <p:nvPr/>
            </p:nvSpPr>
            <p:spPr>
              <a:xfrm>
                <a:off x="21470492" y="13170907"/>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𝜙</m:t>
                      </m:r>
                    </m:oMath>
                  </m:oMathPara>
                </a14:m>
                <a:endParaRPr lang="ko-KR" altLang="en-US" dirty="0"/>
              </a:p>
            </p:txBody>
          </p:sp>
        </mc:Choice>
        <mc:Fallback xmlns="">
          <p:sp>
            <p:nvSpPr>
              <p:cNvPr id="19" name="TextBox 18">
                <a:extLst>
                  <a:ext uri="{FF2B5EF4-FFF2-40B4-BE49-F238E27FC236}">
                    <a16:creationId xmlns:a16="http://schemas.microsoft.com/office/drawing/2014/main" id="{FDCA66A7-C7F5-F642-B6E6-21E38D7F218F}"/>
                  </a:ext>
                </a:extLst>
              </p:cNvPr>
              <p:cNvSpPr txBox="1">
                <a:spLocks noRot="1" noChangeAspect="1" noMove="1" noResize="1" noEditPoints="1" noAdjustHandles="1" noChangeArrowheads="1" noChangeShapeType="1" noTextEdit="1"/>
              </p:cNvSpPr>
              <p:nvPr/>
            </p:nvSpPr>
            <p:spPr>
              <a:xfrm>
                <a:off x="21470492" y="13170907"/>
                <a:ext cx="1143000" cy="461665"/>
              </a:xfrm>
              <a:prstGeom prst="rect">
                <a:avLst/>
              </a:prstGeom>
              <a:blipFill>
                <a:blip r:embed="rId21"/>
                <a:stretch>
                  <a:fillRect b="-1866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63EBD25-F9C9-818B-C382-7010684AC8B5}"/>
                  </a:ext>
                </a:extLst>
              </p:cNvPr>
              <p:cNvSpPr txBox="1"/>
              <p:nvPr/>
            </p:nvSpPr>
            <p:spPr>
              <a:xfrm>
                <a:off x="21930868" y="13002111"/>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𝛾</m:t>
                      </m:r>
                    </m:oMath>
                  </m:oMathPara>
                </a14:m>
                <a:endParaRPr lang="en-US" altLang="ko-KR" b="0" dirty="0"/>
              </a:p>
            </p:txBody>
          </p:sp>
        </mc:Choice>
        <mc:Fallback xmlns="">
          <p:sp>
            <p:nvSpPr>
              <p:cNvPr id="20" name="TextBox 19">
                <a:extLst>
                  <a:ext uri="{FF2B5EF4-FFF2-40B4-BE49-F238E27FC236}">
                    <a16:creationId xmlns:a16="http://schemas.microsoft.com/office/drawing/2014/main" id="{AAF278EA-878B-A644-89BE-57297A97B407}"/>
                  </a:ext>
                </a:extLst>
              </p:cNvPr>
              <p:cNvSpPr txBox="1">
                <a:spLocks noRot="1" noChangeAspect="1" noMove="1" noResize="1" noEditPoints="1" noAdjustHandles="1" noChangeArrowheads="1" noChangeShapeType="1" noTextEdit="1"/>
              </p:cNvSpPr>
              <p:nvPr/>
            </p:nvSpPr>
            <p:spPr>
              <a:xfrm>
                <a:off x="21930868" y="13002111"/>
                <a:ext cx="1143000" cy="461665"/>
              </a:xfrm>
              <a:prstGeom prst="rect">
                <a:avLst/>
              </a:prstGeom>
              <a:blipFill>
                <a:blip r:embed="rId22"/>
                <a:stretch>
                  <a:fillRect b="-921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B8F824A-AEEA-EEE3-8E01-C1DFCD0F3D46}"/>
                  </a:ext>
                </a:extLst>
              </p:cNvPr>
              <p:cNvSpPr txBox="1"/>
              <p:nvPr/>
            </p:nvSpPr>
            <p:spPr>
              <a:xfrm>
                <a:off x="26287473" y="13436807"/>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𝜙</m:t>
                      </m:r>
                    </m:oMath>
                  </m:oMathPara>
                </a14:m>
                <a:endParaRPr lang="ko-KR" altLang="en-US" dirty="0"/>
              </a:p>
            </p:txBody>
          </p:sp>
        </mc:Choice>
        <mc:Fallback xmlns="">
          <p:sp>
            <p:nvSpPr>
              <p:cNvPr id="21" name="TextBox 20">
                <a:extLst>
                  <a:ext uri="{FF2B5EF4-FFF2-40B4-BE49-F238E27FC236}">
                    <a16:creationId xmlns:a16="http://schemas.microsoft.com/office/drawing/2014/main" id="{00EEF309-FBE9-C0BB-9EC7-10A8F1D50224}"/>
                  </a:ext>
                </a:extLst>
              </p:cNvPr>
              <p:cNvSpPr txBox="1">
                <a:spLocks noRot="1" noChangeAspect="1" noMove="1" noResize="1" noEditPoints="1" noAdjustHandles="1" noChangeArrowheads="1" noChangeShapeType="1" noTextEdit="1"/>
              </p:cNvSpPr>
              <p:nvPr/>
            </p:nvSpPr>
            <p:spPr>
              <a:xfrm>
                <a:off x="26287473" y="13436807"/>
                <a:ext cx="1143000" cy="461665"/>
              </a:xfrm>
              <a:prstGeom prst="rect">
                <a:avLst/>
              </a:prstGeom>
              <a:blipFill>
                <a:blip r:embed="rId23"/>
                <a:stretch>
                  <a:fillRect b="-1842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0D721EC-4710-99CC-F774-424983F0101E}"/>
                  </a:ext>
                </a:extLst>
              </p:cNvPr>
              <p:cNvSpPr txBox="1"/>
              <p:nvPr/>
            </p:nvSpPr>
            <p:spPr>
              <a:xfrm>
                <a:off x="26345765" y="12902904"/>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𝛾</m:t>
                      </m:r>
                    </m:oMath>
                  </m:oMathPara>
                </a14:m>
                <a:endParaRPr lang="en-US" altLang="ko-KR" b="0" dirty="0"/>
              </a:p>
            </p:txBody>
          </p:sp>
        </mc:Choice>
        <mc:Fallback xmlns="">
          <p:sp>
            <p:nvSpPr>
              <p:cNvPr id="27" name="TextBox 26">
                <a:extLst>
                  <a:ext uri="{FF2B5EF4-FFF2-40B4-BE49-F238E27FC236}">
                    <a16:creationId xmlns:a16="http://schemas.microsoft.com/office/drawing/2014/main" id="{D938EE09-26A3-50B3-4841-CB067715B4A4}"/>
                  </a:ext>
                </a:extLst>
              </p:cNvPr>
              <p:cNvSpPr txBox="1">
                <a:spLocks noRot="1" noChangeAspect="1" noMove="1" noResize="1" noEditPoints="1" noAdjustHandles="1" noChangeArrowheads="1" noChangeShapeType="1" noTextEdit="1"/>
              </p:cNvSpPr>
              <p:nvPr/>
            </p:nvSpPr>
            <p:spPr>
              <a:xfrm>
                <a:off x="26345765" y="12902904"/>
                <a:ext cx="1143000" cy="461665"/>
              </a:xfrm>
              <a:prstGeom prst="rect">
                <a:avLst/>
              </a:prstGeom>
              <a:blipFill>
                <a:blip r:embed="rId24"/>
                <a:stretch>
                  <a:fillRect b="-1066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EAD04AC-FDD1-EE4E-C091-855CE07DCC9F}"/>
                  </a:ext>
                </a:extLst>
              </p:cNvPr>
              <p:cNvSpPr txBox="1"/>
              <p:nvPr/>
            </p:nvSpPr>
            <p:spPr>
              <a:xfrm>
                <a:off x="17046258" y="17116299"/>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𝜙</m:t>
                      </m:r>
                    </m:oMath>
                  </m:oMathPara>
                </a14:m>
                <a:endParaRPr lang="ko-KR" altLang="en-US" dirty="0"/>
              </a:p>
            </p:txBody>
          </p:sp>
        </mc:Choice>
        <mc:Fallback xmlns="">
          <p:sp>
            <p:nvSpPr>
              <p:cNvPr id="28" name="TextBox 27">
                <a:extLst>
                  <a:ext uri="{FF2B5EF4-FFF2-40B4-BE49-F238E27FC236}">
                    <a16:creationId xmlns:a16="http://schemas.microsoft.com/office/drawing/2014/main" id="{69FC3D0B-75B4-F7B6-A8CE-754E4E539DD6}"/>
                  </a:ext>
                </a:extLst>
              </p:cNvPr>
              <p:cNvSpPr txBox="1">
                <a:spLocks noRot="1" noChangeAspect="1" noMove="1" noResize="1" noEditPoints="1" noAdjustHandles="1" noChangeArrowheads="1" noChangeShapeType="1" noTextEdit="1"/>
              </p:cNvSpPr>
              <p:nvPr/>
            </p:nvSpPr>
            <p:spPr>
              <a:xfrm>
                <a:off x="17046258" y="17116299"/>
                <a:ext cx="1143000" cy="461665"/>
              </a:xfrm>
              <a:prstGeom prst="rect">
                <a:avLst/>
              </a:prstGeom>
              <a:blipFill>
                <a:blip r:embed="rId25"/>
                <a:stretch>
                  <a:fillRect b="-1710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A21C76C-71A9-1D4E-BB79-BFE28438D8FD}"/>
                  </a:ext>
                </a:extLst>
              </p:cNvPr>
              <p:cNvSpPr txBox="1"/>
              <p:nvPr/>
            </p:nvSpPr>
            <p:spPr>
              <a:xfrm>
                <a:off x="21963639" y="17068800"/>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𝜙</m:t>
                      </m:r>
                    </m:oMath>
                  </m:oMathPara>
                </a14:m>
                <a:endParaRPr lang="ko-KR" altLang="en-US" dirty="0"/>
              </a:p>
            </p:txBody>
          </p:sp>
        </mc:Choice>
        <mc:Fallback xmlns="">
          <p:sp>
            <p:nvSpPr>
              <p:cNvPr id="29" name="TextBox 28">
                <a:extLst>
                  <a:ext uri="{FF2B5EF4-FFF2-40B4-BE49-F238E27FC236}">
                    <a16:creationId xmlns:a16="http://schemas.microsoft.com/office/drawing/2014/main" id="{B847F73E-3005-65F0-3C93-43E8145C000D}"/>
                  </a:ext>
                </a:extLst>
              </p:cNvPr>
              <p:cNvSpPr txBox="1">
                <a:spLocks noRot="1" noChangeAspect="1" noMove="1" noResize="1" noEditPoints="1" noAdjustHandles="1" noChangeArrowheads="1" noChangeShapeType="1" noTextEdit="1"/>
              </p:cNvSpPr>
              <p:nvPr/>
            </p:nvSpPr>
            <p:spPr>
              <a:xfrm>
                <a:off x="21963639" y="17068800"/>
                <a:ext cx="1143000" cy="461665"/>
              </a:xfrm>
              <a:prstGeom prst="rect">
                <a:avLst/>
              </a:prstGeom>
              <a:blipFill>
                <a:blip r:embed="rId26"/>
                <a:stretch>
                  <a:fillRect b="-1710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862B2BE-3AAC-5FD1-5375-E4D76F983BF8}"/>
                  </a:ext>
                </a:extLst>
              </p:cNvPr>
              <p:cNvSpPr txBox="1"/>
              <p:nvPr/>
            </p:nvSpPr>
            <p:spPr>
              <a:xfrm>
                <a:off x="21602700" y="16732071"/>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𝛾</m:t>
                      </m:r>
                    </m:oMath>
                  </m:oMathPara>
                </a14:m>
                <a:endParaRPr lang="en-US" altLang="ko-KR" b="0" dirty="0"/>
              </a:p>
            </p:txBody>
          </p:sp>
        </mc:Choice>
        <mc:Fallback xmlns="">
          <p:sp>
            <p:nvSpPr>
              <p:cNvPr id="30" name="TextBox 29">
                <a:extLst>
                  <a:ext uri="{FF2B5EF4-FFF2-40B4-BE49-F238E27FC236}">
                    <a16:creationId xmlns:a16="http://schemas.microsoft.com/office/drawing/2014/main" id="{A3C0F34A-7F6A-2C5B-5776-953AEFC034F1}"/>
                  </a:ext>
                </a:extLst>
              </p:cNvPr>
              <p:cNvSpPr txBox="1">
                <a:spLocks noRot="1" noChangeAspect="1" noMove="1" noResize="1" noEditPoints="1" noAdjustHandles="1" noChangeArrowheads="1" noChangeShapeType="1" noTextEdit="1"/>
              </p:cNvSpPr>
              <p:nvPr/>
            </p:nvSpPr>
            <p:spPr>
              <a:xfrm>
                <a:off x="21602700" y="16732071"/>
                <a:ext cx="1143000" cy="461665"/>
              </a:xfrm>
              <a:prstGeom prst="rect">
                <a:avLst/>
              </a:prstGeom>
              <a:blipFill>
                <a:blip r:embed="rId27"/>
                <a:stretch>
                  <a:fillRect b="-1066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9C7DC1B-82E5-611F-0DC9-FB62C2857B49}"/>
                  </a:ext>
                </a:extLst>
              </p:cNvPr>
              <p:cNvSpPr txBox="1"/>
              <p:nvPr/>
            </p:nvSpPr>
            <p:spPr>
              <a:xfrm>
                <a:off x="26735330" y="17261097"/>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𝜙</m:t>
                      </m:r>
                    </m:oMath>
                  </m:oMathPara>
                </a14:m>
                <a:endParaRPr lang="ko-KR" altLang="en-US" dirty="0"/>
              </a:p>
            </p:txBody>
          </p:sp>
        </mc:Choice>
        <mc:Fallback xmlns="">
          <p:sp>
            <p:nvSpPr>
              <p:cNvPr id="31" name="TextBox 30">
                <a:extLst>
                  <a:ext uri="{FF2B5EF4-FFF2-40B4-BE49-F238E27FC236}">
                    <a16:creationId xmlns:a16="http://schemas.microsoft.com/office/drawing/2014/main" id="{5B536732-AE6F-7D10-614D-51EFCCDE0B83}"/>
                  </a:ext>
                </a:extLst>
              </p:cNvPr>
              <p:cNvSpPr txBox="1">
                <a:spLocks noRot="1" noChangeAspect="1" noMove="1" noResize="1" noEditPoints="1" noAdjustHandles="1" noChangeArrowheads="1" noChangeShapeType="1" noTextEdit="1"/>
              </p:cNvSpPr>
              <p:nvPr/>
            </p:nvSpPr>
            <p:spPr>
              <a:xfrm>
                <a:off x="26735330" y="17261097"/>
                <a:ext cx="1143000" cy="461665"/>
              </a:xfrm>
              <a:prstGeom prst="rect">
                <a:avLst/>
              </a:prstGeom>
              <a:blipFill>
                <a:blip r:embed="rId28"/>
                <a:stretch>
                  <a:fillRect b="-1866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975CAC1-B84A-5BC3-2F6A-46EE1FADD1FE}"/>
                  </a:ext>
                </a:extLst>
              </p:cNvPr>
              <p:cNvSpPr txBox="1"/>
              <p:nvPr/>
            </p:nvSpPr>
            <p:spPr>
              <a:xfrm>
                <a:off x="26278639" y="16810724"/>
                <a:ext cx="11430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𝛾</m:t>
                      </m:r>
                    </m:oMath>
                  </m:oMathPara>
                </a14:m>
                <a:endParaRPr lang="en-US" altLang="ko-KR" b="0" dirty="0"/>
              </a:p>
            </p:txBody>
          </p:sp>
        </mc:Choice>
        <mc:Fallback xmlns="">
          <p:sp>
            <p:nvSpPr>
              <p:cNvPr id="32" name="TextBox 31">
                <a:extLst>
                  <a:ext uri="{FF2B5EF4-FFF2-40B4-BE49-F238E27FC236}">
                    <a16:creationId xmlns:a16="http://schemas.microsoft.com/office/drawing/2014/main" id="{B11D1662-97E9-05E9-8C76-33421701FC46}"/>
                  </a:ext>
                </a:extLst>
              </p:cNvPr>
              <p:cNvSpPr txBox="1">
                <a:spLocks noRot="1" noChangeAspect="1" noMove="1" noResize="1" noEditPoints="1" noAdjustHandles="1" noChangeArrowheads="1" noChangeShapeType="1" noTextEdit="1"/>
              </p:cNvSpPr>
              <p:nvPr/>
            </p:nvSpPr>
            <p:spPr>
              <a:xfrm>
                <a:off x="26278639" y="16810724"/>
                <a:ext cx="1143000" cy="461665"/>
              </a:xfrm>
              <a:prstGeom prst="rect">
                <a:avLst/>
              </a:prstGeom>
              <a:blipFill>
                <a:blip r:embed="rId29"/>
                <a:stretch>
                  <a:fillRect b="-10667"/>
                </a:stretch>
              </a:blipFill>
            </p:spPr>
            <p:txBody>
              <a:bodyPr/>
              <a:lstStyle/>
              <a:p>
                <a:r>
                  <a:rPr lang="ko-KR" altLang="en-US">
                    <a:noFill/>
                  </a:rPr>
                  <a:t> </a:t>
                </a:r>
              </a:p>
            </p:txBody>
          </p:sp>
        </mc:Fallback>
      </mc:AlternateContent>
      <p:pic>
        <p:nvPicPr>
          <p:cNvPr id="33" name="Picture 32" descr="A diagram of a sun&#10;&#10;AI-generated content may be incorrect.">
            <a:extLst>
              <a:ext uri="{FF2B5EF4-FFF2-40B4-BE49-F238E27FC236}">
                <a16:creationId xmlns:a16="http://schemas.microsoft.com/office/drawing/2014/main" id="{6FC5C73F-D560-61D5-662E-FACED3404CBA}"/>
              </a:ext>
            </a:extLst>
          </p:cNvPr>
          <p:cNvPicPr>
            <a:picLocks noChangeAspect="1"/>
          </p:cNvPicPr>
          <p:nvPr/>
        </p:nvPicPr>
        <p:blipFill>
          <a:blip r:embed="rId30" cstate="print">
            <a:extLst>
              <a:ext uri="{28A0092B-C50C-407E-A947-70E740481C1C}">
                <a14:useLocalDpi xmlns:a14="http://schemas.microsoft.com/office/drawing/2010/main" val="0"/>
              </a:ext>
            </a:extLst>
          </a:blip>
          <a:srcRect l="6221" t="1898" r="8979" b="2956"/>
          <a:stretch/>
        </p:blipFill>
        <p:spPr>
          <a:xfrm>
            <a:off x="36673978" y="7389910"/>
            <a:ext cx="6869795" cy="5780997"/>
          </a:xfrm>
          <a:prstGeom prst="rect">
            <a:avLst/>
          </a:prstGeom>
        </p:spPr>
      </p:pic>
      <mc:AlternateContent xmlns:mc="http://schemas.openxmlformats.org/markup-compatibility/2006" xmlns:a14="http://schemas.microsoft.com/office/drawing/2010/main">
        <mc:Choice Requires="a14">
          <p:sp>
            <p:nvSpPr>
              <p:cNvPr id="34" name="Text Box 18">
                <a:extLst>
                  <a:ext uri="{FF2B5EF4-FFF2-40B4-BE49-F238E27FC236}">
                    <a16:creationId xmlns:a16="http://schemas.microsoft.com/office/drawing/2014/main" id="{104E43B1-297B-4B1E-0063-C002782B190E}"/>
                  </a:ext>
                </a:extLst>
              </p:cNvPr>
              <p:cNvSpPr txBox="1">
                <a:spLocks noChangeArrowheads="1"/>
              </p:cNvSpPr>
              <p:nvPr/>
            </p:nvSpPr>
            <p:spPr bwMode="auto">
              <a:xfrm>
                <a:off x="29359983" y="13170907"/>
                <a:ext cx="14183789" cy="5954387"/>
              </a:xfrm>
              <a:prstGeom prst="rect">
                <a:avLst/>
              </a:prstGeom>
              <a:noFill/>
              <a:ln w="9525">
                <a:noFill/>
                <a:miter lim="800000"/>
                <a:headEnd/>
                <a:tailEnd/>
              </a:ln>
              <a:effectLst/>
            </p:spPr>
            <p:txBody>
              <a:bodyPr wrap="square">
                <a:spAutoFit/>
              </a:bodyPr>
              <a:lstStyle/>
              <a:p>
                <a:pPr algn="l">
                  <a:spcBef>
                    <a:spcPct val="50000"/>
                  </a:spcBef>
                </a:pPr>
                <a:r>
                  <a:rPr lang="en-US" dirty="0"/>
                  <a:t>this configuration, the measured angles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𝛼</m:t>
                        </m:r>
                      </m:e>
                      <m:sup>
                        <m:r>
                          <a:rPr lang="en-US" b="0" i="1" smtClean="0">
                            <a:latin typeface="Cambria Math" panose="02040503050406030204" pitchFamily="18" charset="0"/>
                          </a:rPr>
                          <m:t>𝑎</m:t>
                        </m:r>
                      </m:sup>
                    </m:sSup>
                  </m:oMath>
                </a14:m>
                <a:r>
                  <a:rPr lang="en-US" dirty="0"/>
                  <a:t> and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𝛼</m:t>
                        </m:r>
                      </m:e>
                      <m:sup>
                        <m:r>
                          <a:rPr lang="en-US" b="0" i="1" smtClean="0">
                            <a:latin typeface="Cambria Math" panose="02040503050406030204" pitchFamily="18" charset="0"/>
                          </a:rPr>
                          <m:t>𝑏</m:t>
                        </m:r>
                      </m:sup>
                    </m:sSup>
                  </m:oMath>
                </a14:m>
                <a:r>
                  <a:rPr lang="en-US" dirty="0"/>
                  <a:t> are identical, as they subtend the same arc between the Sun and Planet 1 on the circumcircle. Additionally, the spacecraft’s distance from the Sun is the same in both cases: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𝑠</m:t>
                        </m:r>
                      </m:sub>
                    </m:sSub>
                  </m:oMath>
                </a14:m>
                <a:r>
                  <a:rPr lang="en-US" dirty="0"/>
                  <a:t> = 1.0816 AU. Because the circumcircle’s radius is constant, the angle γ also remains unchanged between the two cases. However, the angles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𝑎</m:t>
                        </m:r>
                      </m:sup>
                    </m:sSup>
                  </m:oMath>
                </a14:m>
                <a:r>
                  <a:rPr lang="en-US" dirty="0"/>
                  <a:t> and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𝑏</m:t>
                        </m:r>
                      </m:sup>
                    </m:sSup>
                  </m:oMath>
                </a14:m>
                <a:r>
                  <a:rPr lang="en-US" dirty="0"/>
                  <a:t>, shown in blue and green respectively, differ only in sign. That is, the difference lies in the sign of </a:t>
                </a:r>
                <a14:m>
                  <m:oMath xmlns:m="http://schemas.openxmlformats.org/officeDocument/2006/math">
                    <m:r>
                      <a:rPr lang="en-US" b="0" i="1" smtClean="0">
                        <a:latin typeface="Cambria Math" panose="02040503050406030204" pitchFamily="18" charset="0"/>
                      </a:rPr>
                      <m:t>𝜙</m:t>
                    </m:r>
                  </m:oMath>
                </a14:m>
                <a:r>
                  <a:rPr lang="en-US" dirty="0"/>
                  <a:t>, denoted by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𝑎</m:t>
                            </m:r>
                          </m:sup>
                        </m:sSup>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𝑏</m:t>
                            </m:r>
                          </m:sup>
                        </m:sSup>
                      </m:sub>
                    </m:sSub>
                  </m:oMath>
                </a14:m>
                <a:r>
                  <a:rPr lang="en-US" dirty="0"/>
                  <a:t>. In </a:t>
                </a:r>
                <a:r>
                  <a:rPr lang="en-US" i="1" dirty="0"/>
                  <a:t>Case a</a:t>
                </a:r>
                <a:r>
                  <a:rPr lang="en-US" dirty="0"/>
                  <a:t>, the total angle is given by </a:t>
                </a:r>
                <a14:m>
                  <m:oMath xmlns:m="http://schemas.openxmlformats.org/officeDocument/2006/math">
                    <m:r>
                      <a:rPr lang="en-US" b="0" i="1" smtClean="0">
                        <a:latin typeface="Cambria Math" panose="02040503050406030204" pitchFamily="18" charset="0"/>
                      </a:rPr>
                      <m:t>𝛿</m:t>
                    </m:r>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m:t>
                    </m:r>
                    <m:r>
                      <a:rPr lang="en-US" b="0" i="1" smtClean="0">
                        <a:latin typeface="Cambria Math" panose="02040503050406030204" pitchFamily="18" charset="0"/>
                      </a:rPr>
                      <m:t>𝜙</m:t>
                    </m:r>
                  </m:oMath>
                </a14:m>
                <a:r>
                  <a:rPr lang="en-US" dirty="0"/>
                  <a:t>, while in </a:t>
                </a:r>
                <a:r>
                  <a:rPr lang="en-US" i="1" dirty="0"/>
                  <a:t>Case b</a:t>
                </a:r>
                <a:r>
                  <a:rPr lang="en-US" dirty="0"/>
                  <a:t>, it becomes </a:t>
                </a:r>
                <a14:m>
                  <m:oMath xmlns:m="http://schemas.openxmlformats.org/officeDocument/2006/math">
                    <m:r>
                      <a:rPr lang="en-US" b="0" i="1" smtClean="0">
                        <a:latin typeface="Cambria Math" panose="02040503050406030204" pitchFamily="18" charset="0"/>
                      </a:rPr>
                      <m:t>𝛿</m:t>
                    </m:r>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m:t>
                    </m:r>
                    <m:r>
                      <a:rPr lang="en-US" b="0" i="1" smtClean="0">
                        <a:latin typeface="Cambria Math" panose="02040503050406030204" pitchFamily="18" charset="0"/>
                      </a:rPr>
                      <m:t>𝜙</m:t>
                    </m:r>
                  </m:oMath>
                </a14:m>
                <a:r>
                  <a:rPr lang="en-US" dirty="0"/>
                  <a:t>.</a:t>
                </a:r>
              </a:p>
              <a:p>
                <a:pPr indent="457200" algn="l">
                  <a:spcBef>
                    <a:spcPct val="50000"/>
                  </a:spcBef>
                </a:pPr>
                <a:r>
                  <a:rPr lang="en-US" dirty="0"/>
                  <a:t>To resolve the sign ambiguity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𝜙</m:t>
                        </m:r>
                      </m:sub>
                    </m:sSub>
                  </m:oMath>
                </a14:m>
                <a:r>
                  <a:rPr lang="en-US" dirty="0"/>
                  <a:t>, examining a single geometry is not sufficient. Instead, we utilize measurements from both planets and refer back to the initial configuration. The angle between Planet 1–spacecraft–Planet 2, denoted α₃, can be directly computed from the measurements. Once </a:t>
                </a:r>
                <a14:m>
                  <m:oMath xmlns:m="http://schemas.openxmlformats.org/officeDocument/2006/math">
                    <m:r>
                      <a:rPr lang="en-US" b="0" i="1" smtClean="0">
                        <a:latin typeface="Cambria Math" panose="02040503050406030204" pitchFamily="18" charset="0"/>
                      </a:rPr>
                      <m:t>𝛿</m:t>
                    </m:r>
                  </m:oMath>
                </a14:m>
                <a:r>
                  <a:rPr lang="en-US" dirty="0"/>
                  <a:t> is known, the distances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oMath>
                </a14:m>
                <a:r>
                  <a:rPr lang="en-US" dirty="0"/>
                  <a:t> (from the spacecraft to each planet) can be determined using the Law of Sines. According to the Law of Cosines, the following relationship must hold: </a:t>
                </a:r>
                <a14:m>
                  <m:oMath xmlns:m="http://schemas.openxmlformats.org/officeDocument/2006/math">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𝑦</m:t>
                        </m:r>
                      </m:e>
                      <m:sub>
                        <m:r>
                          <a:rPr lang="en-US" altLang="ko-KR" i="1">
                            <a:latin typeface="Cambria Math" panose="02040503050406030204" pitchFamily="18" charset="0"/>
                          </a:rPr>
                          <m:t>1</m:t>
                        </m:r>
                      </m:sub>
                      <m:sup>
                        <m:r>
                          <a:rPr lang="en-US" altLang="ko-KR" i="1">
                            <a:latin typeface="Cambria Math" panose="02040503050406030204" pitchFamily="18" charset="0"/>
                          </a:rPr>
                          <m:t>2</m:t>
                        </m:r>
                      </m:sup>
                    </m:sSubSup>
                    <m:r>
                      <a:rPr lang="en-US" altLang="ko-KR" i="1">
                        <a:latin typeface="Cambria Math" panose="02040503050406030204" pitchFamily="18" charset="0"/>
                      </a:rPr>
                      <m: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𝑦</m:t>
                        </m:r>
                      </m:e>
                      <m:sub>
                        <m:r>
                          <a:rPr lang="en-US" altLang="ko-KR" i="1">
                            <a:latin typeface="Cambria Math" panose="02040503050406030204" pitchFamily="18" charset="0"/>
                          </a:rPr>
                          <m:t>2</m:t>
                        </m:r>
                      </m:sub>
                      <m:sup>
                        <m:r>
                          <a:rPr lang="en-US" altLang="ko-KR" i="1">
                            <a:latin typeface="Cambria Math" panose="02040503050406030204" pitchFamily="18" charset="0"/>
                          </a:rPr>
                          <m:t>2</m:t>
                        </m:r>
                      </m:sup>
                    </m:sSubSup>
                    <m:r>
                      <a:rPr lang="en-US" altLang="ko-KR" i="1">
                        <a:latin typeface="Cambria Math" panose="02040503050406030204" pitchFamily="18" charset="0"/>
                      </a:rPr>
                      <m:t>−2</m:t>
                    </m:r>
                    <m:sSub>
                      <m:sSubPr>
                        <m:ctrlPr>
                          <a:rPr lang="en-US" altLang="ko-KR" i="1">
                            <a:latin typeface="Cambria Math" panose="02040503050406030204" pitchFamily="18" charset="0"/>
                          </a:rPr>
                        </m:ctrlPr>
                      </m:sSubPr>
                      <m:e>
                        <m:r>
                          <a:rPr lang="en-US" altLang="ko-KR" i="1">
                            <a:latin typeface="Cambria Math" panose="02040503050406030204" pitchFamily="18" charset="0"/>
                          </a:rPr>
                          <m:t>𝑦</m:t>
                        </m:r>
                      </m:e>
                      <m:sub>
                        <m:r>
                          <a:rPr lang="en-US" altLang="ko-KR" i="1">
                            <a:latin typeface="Cambria Math" panose="02040503050406030204" pitchFamily="18" charset="0"/>
                          </a:rPr>
                          <m:t>1</m:t>
                        </m:r>
                      </m:sub>
                    </m:sSub>
                    <m:sSub>
                      <m:sSubPr>
                        <m:ctrlPr>
                          <a:rPr lang="en-US" altLang="ko-KR" i="1">
                            <a:latin typeface="Cambria Math" panose="02040503050406030204" pitchFamily="18" charset="0"/>
                          </a:rPr>
                        </m:ctrlPr>
                      </m:sSubPr>
                      <m:e>
                        <m:r>
                          <a:rPr lang="en-US" altLang="ko-KR" i="1">
                            <a:latin typeface="Cambria Math" panose="02040503050406030204" pitchFamily="18" charset="0"/>
                          </a:rPr>
                          <m:t>𝑦</m:t>
                        </m:r>
                      </m:e>
                      <m:sub>
                        <m:r>
                          <a:rPr lang="en-US" altLang="ko-KR" i="1">
                            <a:latin typeface="Cambria Math" panose="02040503050406030204" pitchFamily="18" charset="0"/>
                          </a:rPr>
                          <m:t>2</m:t>
                        </m:r>
                      </m:sub>
                    </m:sSub>
                    <m:func>
                      <m:funcPr>
                        <m:ctrlPr>
                          <a:rPr lang="en-US" altLang="ko-KR" i="1">
                            <a:latin typeface="Cambria Math" panose="02040503050406030204" pitchFamily="18" charset="0"/>
                          </a:rPr>
                        </m:ctrlPr>
                      </m:funcPr>
                      <m:fName>
                        <m:r>
                          <m:rPr>
                            <m:sty m:val="p"/>
                          </m:rPr>
                          <a:rPr lang="en-US" altLang="ko-KR">
                            <a:latin typeface="Cambria Math" panose="02040503050406030204" pitchFamily="18" charset="0"/>
                          </a:rPr>
                          <m:t>cos</m:t>
                        </m:r>
                      </m:fName>
                      <m:e>
                        <m:sSub>
                          <m:sSubPr>
                            <m:ctrlPr>
                              <a:rPr lang="en-US" altLang="ko-KR" i="1">
                                <a:latin typeface="Cambria Math" panose="02040503050406030204" pitchFamily="18" charset="0"/>
                              </a:rPr>
                            </m:ctrlPr>
                          </m:sSubPr>
                          <m:e>
                            <m:r>
                              <a:rPr lang="en-US" altLang="ko-KR" i="1">
                                <a:latin typeface="Cambria Math" panose="02040503050406030204" pitchFamily="18" charset="0"/>
                              </a:rPr>
                              <m:t>𝛼</m:t>
                            </m:r>
                          </m:e>
                          <m:sub>
                            <m:r>
                              <a:rPr lang="en-US" altLang="ko-KR" i="1">
                                <a:latin typeface="Cambria Math" panose="02040503050406030204" pitchFamily="18" charset="0"/>
                              </a:rPr>
                              <m:t>3</m:t>
                            </m:r>
                          </m:sub>
                        </m:sSub>
                      </m:e>
                    </m:func>
                    <m:r>
                      <a:rPr lang="en-US" altLang="ko-KR" i="1">
                        <a:latin typeface="Cambria Math" panose="02040503050406030204" pitchFamily="18" charset="0"/>
                      </a:rPr>
                      <m: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𝑟</m:t>
                        </m:r>
                      </m:e>
                      <m:sub>
                        <m:r>
                          <a:rPr lang="en-US" altLang="ko-KR" i="1">
                            <a:latin typeface="Cambria Math" panose="02040503050406030204" pitchFamily="18" charset="0"/>
                          </a:rPr>
                          <m:t>3</m:t>
                        </m:r>
                      </m:sub>
                      <m:sup>
                        <m:r>
                          <a:rPr lang="en-US" altLang="ko-KR" i="1">
                            <a:latin typeface="Cambria Math" panose="02040503050406030204" pitchFamily="18" charset="0"/>
                          </a:rPr>
                          <m:t>2</m:t>
                        </m:r>
                      </m:sup>
                    </m:sSubSup>
                  </m:oMath>
                </a14:m>
                <a:r>
                  <a:rPr lang="en-US" dirty="0"/>
                  <a:t>. We define a determinant function </a:t>
                </a:r>
                <a:r>
                  <a:rPr lang="en-US" i="1" dirty="0"/>
                  <a:t>D</a:t>
                </a:r>
                <a:r>
                  <a:rPr lang="en-US" dirty="0"/>
                  <a:t> as the absolute error between the left- and right-hand sides of this equation. For each planetary geometry, up to two possible values of </a:t>
                </a:r>
                <a14:m>
                  <m:oMath xmlns:m="http://schemas.openxmlformats.org/officeDocument/2006/math">
                    <m:r>
                      <a:rPr lang="en-US" b="0" i="1" smtClean="0">
                        <a:latin typeface="Cambria Math" panose="02040503050406030204" pitchFamily="18" charset="0"/>
                      </a:rPr>
                      <m:t>𝛿</m:t>
                    </m:r>
                  </m:oMath>
                </a14:m>
                <a:r>
                  <a:rPr lang="en-US" dirty="0"/>
                  <a:t> may exist, leading to four total combinations of sign choices. Among these, we select the combination that yields the smallest value of </a:t>
                </a:r>
                <a:r>
                  <a:rPr lang="en-US" i="1" dirty="0"/>
                  <a:t>D</a:t>
                </a:r>
                <a:r>
                  <a:rPr lang="en-US" dirty="0"/>
                  <a:t>. Through this iterative process, the correct signs of </a:t>
                </a:r>
                <a14:m>
                  <m:oMath xmlns:m="http://schemas.openxmlformats.org/officeDocument/2006/math">
                    <m:r>
                      <a:rPr lang="en-US" b="0" i="1" smtClean="0">
                        <a:latin typeface="Cambria Math" panose="02040503050406030204" pitchFamily="18" charset="0"/>
                      </a:rPr>
                      <m:t>𝜙</m:t>
                    </m:r>
                  </m:oMath>
                </a14:m>
                <a:r>
                  <a:rPr lang="en-US" dirty="0"/>
                  <a:t> can be determined at each step.</a:t>
                </a:r>
              </a:p>
            </p:txBody>
          </p:sp>
        </mc:Choice>
        <mc:Fallback xmlns="">
          <p:sp>
            <p:nvSpPr>
              <p:cNvPr id="34" name="Text Box 18">
                <a:extLst>
                  <a:ext uri="{FF2B5EF4-FFF2-40B4-BE49-F238E27FC236}">
                    <a16:creationId xmlns:a16="http://schemas.microsoft.com/office/drawing/2014/main" id="{92552E79-1C46-FF5A-09AF-1236AFE19809}"/>
                  </a:ext>
                </a:extLst>
              </p:cNvPr>
              <p:cNvSpPr txBox="1">
                <a:spLocks noRot="1" noChangeAspect="1" noMove="1" noResize="1" noEditPoints="1" noAdjustHandles="1" noChangeArrowheads="1" noChangeShapeType="1" noTextEdit="1"/>
              </p:cNvSpPr>
              <p:nvPr/>
            </p:nvSpPr>
            <p:spPr bwMode="auto">
              <a:xfrm>
                <a:off x="29359983" y="13170907"/>
                <a:ext cx="14183789" cy="5954387"/>
              </a:xfrm>
              <a:prstGeom prst="rect">
                <a:avLst/>
              </a:prstGeom>
              <a:blipFill>
                <a:blip r:embed="rId31"/>
                <a:stretch>
                  <a:fillRect l="-645" t="-717" r="-859" b="-1537"/>
                </a:stretch>
              </a:blipFill>
              <a:ln w="9525">
                <a:noFill/>
                <a:miter lim="800000"/>
                <a:headEnd/>
                <a:tailEn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graphicFrame>
            <p:nvGraphicFramePr>
              <p:cNvPr id="35" name="Table 34">
                <a:extLst>
                  <a:ext uri="{FF2B5EF4-FFF2-40B4-BE49-F238E27FC236}">
                    <a16:creationId xmlns:a16="http://schemas.microsoft.com/office/drawing/2014/main" id="{C7D59888-0CDD-6A7A-5B7D-F7BCA24729DB}"/>
                  </a:ext>
                </a:extLst>
              </p:cNvPr>
              <p:cNvGraphicFramePr>
                <a:graphicFrameLocks noGrp="1"/>
              </p:cNvGraphicFramePr>
              <p:nvPr/>
            </p:nvGraphicFramePr>
            <p:xfrm>
              <a:off x="22783800" y="18897600"/>
              <a:ext cx="6118984" cy="3679317"/>
            </p:xfrm>
            <a:graphic>
              <a:graphicData uri="http://schemas.openxmlformats.org/drawingml/2006/table">
                <a:tbl>
                  <a:tblPr firstRow="1" bandRow="1">
                    <a:tableStyleId>{5C22544A-7EE6-4342-B048-85BDC9FD1C3A}</a:tableStyleId>
                  </a:tblPr>
                  <a:tblGrid>
                    <a:gridCol w="1529746">
                      <a:extLst>
                        <a:ext uri="{9D8B030D-6E8A-4147-A177-3AD203B41FA5}">
                          <a16:colId xmlns:a16="http://schemas.microsoft.com/office/drawing/2014/main" val="3408067011"/>
                        </a:ext>
                      </a:extLst>
                    </a:gridCol>
                    <a:gridCol w="1529746">
                      <a:extLst>
                        <a:ext uri="{9D8B030D-6E8A-4147-A177-3AD203B41FA5}">
                          <a16:colId xmlns:a16="http://schemas.microsoft.com/office/drawing/2014/main" val="2848599497"/>
                        </a:ext>
                      </a:extLst>
                    </a:gridCol>
                    <a:gridCol w="1529746">
                      <a:extLst>
                        <a:ext uri="{9D8B030D-6E8A-4147-A177-3AD203B41FA5}">
                          <a16:colId xmlns:a16="http://schemas.microsoft.com/office/drawing/2014/main" val="666132706"/>
                        </a:ext>
                      </a:extLst>
                    </a:gridCol>
                    <a:gridCol w="1529746">
                      <a:extLst>
                        <a:ext uri="{9D8B030D-6E8A-4147-A177-3AD203B41FA5}">
                          <a16:colId xmlns:a16="http://schemas.microsoft.com/office/drawing/2014/main" val="2074557388"/>
                        </a:ext>
                      </a:extLst>
                    </a:gridCol>
                  </a:tblGrid>
                  <a:tr h="0">
                    <a:tc>
                      <a:txBody>
                        <a:bodyPr/>
                        <a:lstStyle/>
                        <a:p>
                          <a:pPr algn="ctr" latinLnBrk="1"/>
                          <a:r>
                            <a:rPr lang="en-US" altLang="ko-KR" sz="1800" dirty="0"/>
                            <a:t>Parameters</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1</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2</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extLst>
                      <a:ext uri="{0D108BD9-81ED-4DB2-BD59-A6C34878D82A}">
                        <a16:rowId xmlns:a16="http://schemas.microsoft.com/office/drawing/2014/main" val="3048101084"/>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14:m>
                            <m:oMath xmlns:m="http://schemas.openxmlformats.org/officeDocument/2006/math">
                              <m:sSub>
                                <m:sSubPr>
                                  <m:ctrlPr>
                                    <a:rPr lang="en-US" altLang="ko-KR" sz="1800" b="0" i="1" smtClean="0">
                                      <a:latin typeface="Cambria Math" panose="02040503050406030204" pitchFamily="18" charset="0"/>
                                    </a:rPr>
                                  </m:ctrlPr>
                                </m:sSubPr>
                                <m:e>
                                  <m:r>
                                    <a:rPr lang="en-US" altLang="ko-KR" sz="1800" b="0" i="1" smtClean="0">
                                      <a:latin typeface="Cambria Math" panose="02040503050406030204" pitchFamily="18" charset="0"/>
                                    </a:rPr>
                                    <m:t>𝑃</m:t>
                                  </m:r>
                                </m:e>
                                <m:sub>
                                  <m:r>
                                    <a:rPr lang="en-US" altLang="ko-KR" sz="1800" b="0" i="1" smtClean="0">
                                      <a:latin typeface="Cambria Math" panose="02040503050406030204" pitchFamily="18" charset="0"/>
                                    </a:rPr>
                                    <m:t>𝑥</m:t>
                                  </m:r>
                                </m:sub>
                              </m:sSub>
                            </m:oMath>
                          </a14:m>
                          <a:r>
                            <a:rPr lang="ko-KR" altLang="en-US" sz="1800" dirty="0"/>
                            <a:t> </a:t>
                          </a:r>
                          <a:r>
                            <a:rPr lang="en-US" altLang="ko-KR" sz="1800" dirty="0"/>
                            <a:t>(AU)</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-1.3484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4.5648</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 (S/C)</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506114"/>
                      </a:ext>
                    </a:extLst>
                  </a:tr>
                  <a:tr h="0">
                    <a:tc>
                      <a:txBody>
                        <a:bodyPr/>
                        <a:lstStyle/>
                        <a:p>
                          <a:pPr algn="ctr" latinLnBrk="1"/>
                          <a14:m>
                            <m:oMath xmlns:m="http://schemas.openxmlformats.org/officeDocument/2006/math">
                              <m:sSub>
                                <m:sSubPr>
                                  <m:ctrlPr>
                                    <a:rPr lang="en-US" altLang="ko-KR" sz="1800" b="0" i="1" smtClean="0">
                                      <a:latin typeface="Cambria Math" panose="02040503050406030204" pitchFamily="18" charset="0"/>
                                    </a:rPr>
                                  </m:ctrlPr>
                                </m:sSubPr>
                                <m:e>
                                  <m:r>
                                    <a:rPr lang="en-US" altLang="ko-KR" sz="1800" b="0" i="1" smtClean="0">
                                      <a:latin typeface="Cambria Math" panose="02040503050406030204" pitchFamily="18" charset="0"/>
                                    </a:rPr>
                                    <m:t>𝑃</m:t>
                                  </m:r>
                                </m:e>
                                <m:sub>
                                  <m:r>
                                    <a:rPr lang="en-US" altLang="ko-KR" sz="1800" b="0" i="1" smtClean="0">
                                      <a:latin typeface="Cambria Math" panose="02040503050406030204" pitchFamily="18" charset="0"/>
                                    </a:rPr>
                                    <m:t>𝑦</m:t>
                                  </m:r>
                                </m:sub>
                              </m:sSub>
                            </m:oMath>
                          </a14:m>
                          <a:r>
                            <a:rPr lang="ko-KR" altLang="en-US" sz="1800" dirty="0"/>
                            <a:t> </a:t>
                          </a:r>
                          <a:r>
                            <a:rPr lang="en-US" altLang="ko-KR" sz="1800" dirty="0"/>
                            <a:t>(AU)</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0.9816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1.9726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-1.3423 (S/C)</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526537"/>
                      </a:ext>
                    </a:extLst>
                  </a:tr>
                  <a:tr h="0">
                    <a:tc>
                      <a:txBody>
                        <a:bodyPr/>
                        <a:lstStyle/>
                        <a:p>
                          <a:pPr algn="ctr" latinLnBrk="1"/>
                          <a14:m>
                            <m:oMath xmlns:m="http://schemas.openxmlformats.org/officeDocument/2006/math">
                              <m:sSub>
                                <m:sSubPr>
                                  <m:ctrlPr>
                                    <a:rPr lang="en-US" altLang="ko-KR" sz="1800" b="0" i="1" smtClean="0">
                                      <a:latin typeface="Cambria Math" panose="02040503050406030204" pitchFamily="18" charset="0"/>
                                    </a:rPr>
                                  </m:ctrlPr>
                                </m:sSubPr>
                                <m:e>
                                  <m:r>
                                    <a:rPr lang="en-US" altLang="ko-KR" sz="1800" b="0" i="1" smtClean="0">
                                      <a:latin typeface="Cambria Math" panose="02040503050406030204" pitchFamily="18" charset="0"/>
                                    </a:rPr>
                                    <m:t>𝑃</m:t>
                                  </m:r>
                                </m:e>
                                <m:sub>
                                  <m:r>
                                    <a:rPr lang="en-US" altLang="ko-KR" sz="1800" b="0" i="1" smtClean="0">
                                      <a:latin typeface="Cambria Math" panose="02040503050406030204" pitchFamily="18" charset="0"/>
                                    </a:rPr>
                                    <m:t>𝑧</m:t>
                                  </m:r>
                                </m:sub>
                              </m:sSub>
                            </m:oMath>
                          </a14:m>
                          <a:r>
                            <a:rPr lang="ko-KR" altLang="en-US" sz="1800" dirty="0"/>
                            <a:t> </a:t>
                          </a:r>
                          <a:r>
                            <a:rPr lang="en-US" altLang="ko-KR" sz="1800" dirty="0"/>
                            <a:t>(AU)</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0.0536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-0.1103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 (S/C)</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4292524"/>
                      </a:ext>
                    </a:extLst>
                  </a:tr>
                  <a:tr h="0">
                    <a:tc>
                      <a:txBody>
                        <a:bodyPr/>
                        <a:lstStyle/>
                        <a:p>
                          <a:pPr algn="ctr" latinLnBrk="1"/>
                          <a:r>
                            <a:rPr lang="en-US" altLang="ko-KR" sz="1800" dirty="0"/>
                            <a:t>r (AU)</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1.6687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4.974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5.9979</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4401372"/>
                      </a:ext>
                    </a:extLst>
                  </a:tr>
                  <a:tr h="0">
                    <a:tc>
                      <a:txBody>
                        <a:bodyPr/>
                        <a:lstStyle/>
                        <a:p>
                          <a:pPr algn="ctr" latinLnBrk="1"/>
                          <a14:m>
                            <m:oMath xmlns:m="http://schemas.openxmlformats.org/officeDocument/2006/math">
                              <m:r>
                                <a:rPr lang="en-US" altLang="ko-KR" sz="1800" b="0" i="1" smtClean="0">
                                  <a:latin typeface="Cambria Math" panose="02040503050406030204" pitchFamily="18" charset="0"/>
                                </a:rPr>
                                <m:t>𝛼</m:t>
                              </m:r>
                              <m:r>
                                <a:rPr lang="en-US" altLang="ko-KR" sz="1800" b="0" i="1" smtClean="0">
                                  <a:latin typeface="Cambria Math" panose="02040503050406030204" pitchFamily="18" charset="0"/>
                                </a:rPr>
                                <m:t> (°)</m:t>
                              </m:r>
                            </m:oMath>
                          </a14:m>
                          <a:r>
                            <a:rPr lang="ko-KR" altLang="en-US" sz="1800"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30.143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54.021</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84.162</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846426"/>
                      </a:ext>
                    </a:extLst>
                  </a:tr>
                  <a:tr h="0">
                    <a:tc>
                      <a:txBody>
                        <a:bodyPr/>
                        <a:lstStyle/>
                        <a:p>
                          <a:pPr algn="ctr" latinLnBrk="1"/>
                          <a14:m>
                            <m:oMath xmlns:m="http://schemas.openxmlformats.org/officeDocument/2006/math">
                              <m:r>
                                <a:rPr lang="en-US" altLang="ko-KR" sz="1800" b="0" i="1" smtClean="0">
                                  <a:latin typeface="Cambria Math" panose="02040503050406030204" pitchFamily="18" charset="0"/>
                                </a:rPr>
                                <m:t>𝑅</m:t>
                              </m:r>
                            </m:oMath>
                          </a14:m>
                          <a:r>
                            <a:rPr lang="ko-KR" altLang="en-US" sz="1800" dirty="0"/>
                            <a:t> </a:t>
                          </a:r>
                          <a:r>
                            <a:rPr lang="en-US" altLang="ko-KR" sz="1800" dirty="0"/>
                            <a:t>(AU)</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1.6615</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3.0733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N/A</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2241181"/>
                      </a:ext>
                    </a:extLst>
                  </a:tr>
                  <a:tr h="0">
                    <a:tc>
                      <a:txBody>
                        <a:bodyPr/>
                        <a:lstStyle/>
                        <a:p>
                          <a:pPr algn="ctr" latinLnBrk="1"/>
                          <a14:m>
                            <m:oMathPara xmlns:m="http://schemas.openxmlformats.org/officeDocument/2006/math">
                              <m:oMathParaPr>
                                <m:jc m:val="centerGroup"/>
                              </m:oMathParaPr>
                              <m:oMath xmlns:m="http://schemas.openxmlformats.org/officeDocument/2006/math">
                                <m:r>
                                  <a:rPr lang="en-US" altLang="ko-KR" sz="1800" b="0" i="1" smtClean="0">
                                    <a:latin typeface="Cambria Math" panose="02040503050406030204" pitchFamily="18" charset="0"/>
                                  </a:rPr>
                                  <m:t>𝜙</m:t>
                                </m:r>
                                <m:r>
                                  <a:rPr lang="en-US" altLang="ko-KR" sz="1800" b="0" i="1" smtClean="0">
                                    <a:latin typeface="Cambria Math" panose="02040503050406030204" pitchFamily="18" charset="0"/>
                                  </a:rPr>
                                  <m:t> </m:t>
                                </m:r>
                                <m:d>
                                  <m:dPr>
                                    <m:ctrlPr>
                                      <a:rPr lang="en-US" altLang="ko-KR" sz="1800" b="0" i="1" smtClean="0">
                                        <a:latin typeface="Cambria Math" panose="02040503050406030204" pitchFamily="18" charset="0"/>
                                      </a:rPr>
                                    </m:ctrlPr>
                                  </m:dPr>
                                  <m:e>
                                    <m:r>
                                      <a:rPr lang="en-US" altLang="ko-KR" sz="1800" b="0" i="1" smtClean="0">
                                        <a:latin typeface="Cambria Math" panose="02040503050406030204" pitchFamily="18" charset="0"/>
                                      </a:rPr>
                                      <m:t>°</m:t>
                                    </m:r>
                                  </m:e>
                                </m:d>
                              </m:oMath>
                            </m:oMathPara>
                          </a14:m>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60.175</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77.386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N/A</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259998"/>
                      </a:ext>
                    </a:extLst>
                  </a:tr>
                  <a:tr h="0">
                    <a:tc>
                      <a:txBody>
                        <a:bodyPr/>
                        <a:lstStyle/>
                        <a:p>
                          <a:pPr algn="ctr" latinLnBrk="1"/>
                          <a14:m>
                            <m:oMathPara xmlns:m="http://schemas.openxmlformats.org/officeDocument/2006/math">
                              <m:oMathParaPr>
                                <m:jc m:val="centerGroup"/>
                              </m:oMathParaPr>
                              <m:oMath xmlns:m="http://schemas.openxmlformats.org/officeDocument/2006/math">
                                <m:r>
                                  <a:rPr lang="en-US" altLang="ko-KR" sz="1800" b="0" i="1" smtClean="0">
                                    <a:latin typeface="Cambria Math" panose="02040503050406030204" pitchFamily="18" charset="0"/>
                                  </a:rPr>
                                  <m:t>𝛾</m:t>
                                </m:r>
                                <m:r>
                                  <a:rPr lang="en-US" altLang="ko-KR" sz="1800" b="0" i="1" smtClean="0">
                                    <a:latin typeface="Cambria Math" panose="02040503050406030204" pitchFamily="18" charset="0"/>
                                  </a:rPr>
                                  <m:t> </m:t>
                                </m:r>
                                <m:d>
                                  <m:dPr>
                                    <m:ctrlPr>
                                      <a:rPr lang="en-US" altLang="ko-KR" sz="1800" b="0" i="1" smtClean="0">
                                        <a:latin typeface="Cambria Math" panose="02040503050406030204" pitchFamily="18" charset="0"/>
                                      </a:rPr>
                                    </m:ctrlPr>
                                  </m:dPr>
                                  <m:e>
                                    <m:r>
                                      <a:rPr lang="en-US" altLang="ko-KR" sz="1800" b="0" i="1" smtClean="0">
                                        <a:latin typeface="Cambria Math" panose="02040503050406030204" pitchFamily="18" charset="0"/>
                                      </a:rPr>
                                      <m:t>°</m:t>
                                    </m:r>
                                  </m:e>
                                </m:d>
                              </m:oMath>
                            </m:oMathPara>
                          </a14:m>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59.857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35.979</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N/A</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848500"/>
                      </a:ext>
                    </a:extLst>
                  </a:tr>
                  <a:tr h="0">
                    <a:tc>
                      <a:txBody>
                        <a:bodyPr/>
                        <a:lstStyle/>
                        <a:p>
                          <a:pPr algn="ctr" latinLnBrk="1"/>
                          <a14:m>
                            <m:oMath xmlns:m="http://schemas.openxmlformats.org/officeDocument/2006/math">
                              <m:r>
                                <a:rPr lang="en-US" altLang="ko-KR" sz="1800" b="0" i="1" smtClean="0">
                                  <a:latin typeface="Cambria Math" panose="02040503050406030204" pitchFamily="18" charset="0"/>
                                </a:rPr>
                                <m:t>𝑦</m:t>
                              </m:r>
                            </m:oMath>
                          </a14:m>
                          <a:r>
                            <a:rPr lang="ko-KR" altLang="en-US" sz="1800" dirty="0"/>
                            <a:t> </a:t>
                          </a:r>
                          <a:r>
                            <a:rPr lang="en-US" altLang="ko-KR" sz="1800" dirty="0"/>
                            <a:t>(AU)</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2.6873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5.6425</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1.4323 (</a:t>
                          </a:r>
                          <a14:m>
                            <m:oMath xmlns:m="http://schemas.openxmlformats.org/officeDocument/2006/math">
                              <m:sSub>
                                <m:sSubPr>
                                  <m:ctrlPr>
                                    <a:rPr lang="en-US" altLang="ko-KR" sz="1800" b="0" i="1" dirty="0" smtClean="0">
                                      <a:latin typeface="Cambria Math" panose="02040503050406030204" pitchFamily="18" charset="0"/>
                                    </a:rPr>
                                  </m:ctrlPr>
                                </m:sSubPr>
                                <m:e>
                                  <m:r>
                                    <a:rPr lang="en-US" altLang="ko-KR" sz="1800" b="0" i="1" dirty="0" smtClean="0">
                                      <a:latin typeface="Cambria Math" panose="02040503050406030204" pitchFamily="18" charset="0"/>
                                    </a:rPr>
                                    <m:t>𝑦</m:t>
                                  </m:r>
                                </m:e>
                                <m:sub>
                                  <m:r>
                                    <a:rPr lang="en-US" altLang="ko-KR" sz="1800" b="0" i="1" dirty="0" smtClean="0">
                                      <a:latin typeface="Cambria Math" panose="02040503050406030204" pitchFamily="18" charset="0"/>
                                    </a:rPr>
                                    <m:t>𝑠</m:t>
                                  </m:r>
                                </m:sub>
                              </m:sSub>
                            </m:oMath>
                          </a14:m>
                          <a:r>
                            <a:rPr lang="en-US" altLang="ko-KR" sz="1800" dirty="0"/>
                            <a:t>)</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4378928"/>
                      </a:ext>
                    </a:extLst>
                  </a:tr>
                </a:tbl>
              </a:graphicData>
            </a:graphic>
          </p:graphicFrame>
        </mc:Choice>
        <mc:Fallback xmlns="">
          <p:graphicFrame>
            <p:nvGraphicFramePr>
              <p:cNvPr id="35" name="Table 34">
                <a:extLst>
                  <a:ext uri="{FF2B5EF4-FFF2-40B4-BE49-F238E27FC236}">
                    <a16:creationId xmlns:a16="http://schemas.microsoft.com/office/drawing/2014/main" id="{1E2F21BB-5FC1-F9A8-2D3A-AC5B0DA2A8C2}"/>
                  </a:ext>
                </a:extLst>
              </p:cNvPr>
              <p:cNvGraphicFramePr>
                <a:graphicFrameLocks noGrp="1"/>
              </p:cNvGraphicFramePr>
              <p:nvPr>
                <p:extLst>
                  <p:ext uri="{D42A27DB-BD31-4B8C-83A1-F6EECF244321}">
                    <p14:modId xmlns:p14="http://schemas.microsoft.com/office/powerpoint/2010/main" val="76481155"/>
                  </p:ext>
                </p:extLst>
              </p:nvPr>
            </p:nvGraphicFramePr>
            <p:xfrm>
              <a:off x="22783800" y="18897600"/>
              <a:ext cx="6118984" cy="3679317"/>
            </p:xfrm>
            <a:graphic>
              <a:graphicData uri="http://schemas.openxmlformats.org/drawingml/2006/table">
                <a:tbl>
                  <a:tblPr firstRow="1" bandRow="1">
                    <a:tableStyleId>{5C22544A-7EE6-4342-B048-85BDC9FD1C3A}</a:tableStyleId>
                  </a:tblPr>
                  <a:tblGrid>
                    <a:gridCol w="1529746">
                      <a:extLst>
                        <a:ext uri="{9D8B030D-6E8A-4147-A177-3AD203B41FA5}">
                          <a16:colId xmlns:a16="http://schemas.microsoft.com/office/drawing/2014/main" val="3408067011"/>
                        </a:ext>
                      </a:extLst>
                    </a:gridCol>
                    <a:gridCol w="1529746">
                      <a:extLst>
                        <a:ext uri="{9D8B030D-6E8A-4147-A177-3AD203B41FA5}">
                          <a16:colId xmlns:a16="http://schemas.microsoft.com/office/drawing/2014/main" val="2848599497"/>
                        </a:ext>
                      </a:extLst>
                    </a:gridCol>
                    <a:gridCol w="1529746">
                      <a:extLst>
                        <a:ext uri="{9D8B030D-6E8A-4147-A177-3AD203B41FA5}">
                          <a16:colId xmlns:a16="http://schemas.microsoft.com/office/drawing/2014/main" val="666132706"/>
                        </a:ext>
                      </a:extLst>
                    </a:gridCol>
                    <a:gridCol w="1529746">
                      <a:extLst>
                        <a:ext uri="{9D8B030D-6E8A-4147-A177-3AD203B41FA5}">
                          <a16:colId xmlns:a16="http://schemas.microsoft.com/office/drawing/2014/main" val="2074557388"/>
                        </a:ext>
                      </a:extLst>
                    </a:gridCol>
                  </a:tblGrid>
                  <a:tr h="365760">
                    <a:tc>
                      <a:txBody>
                        <a:bodyPr/>
                        <a:lstStyle/>
                        <a:p>
                          <a:pPr algn="ctr" latinLnBrk="1"/>
                          <a:r>
                            <a:rPr lang="en-US" altLang="ko-KR" sz="1800" dirty="0"/>
                            <a:t>Parameters</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1</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2</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extLst>
                      <a:ext uri="{0D108BD9-81ED-4DB2-BD59-A6C34878D82A}">
                        <a16:rowId xmlns:a16="http://schemas.microsoft.com/office/drawing/2014/main" val="3048101084"/>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2"/>
                          <a:stretch>
                            <a:fillRect l="-398" t="-108333" r="-301195" b="-833333"/>
                          </a:stretch>
                        </a:blipFill>
                      </a:tcPr>
                    </a:tc>
                    <a:tc>
                      <a:txBody>
                        <a:bodyPr/>
                        <a:lstStyle/>
                        <a:p>
                          <a:pPr algn="ctr" latinLnBrk="1"/>
                          <a:r>
                            <a:rPr lang="en-US" altLang="ko-KR" sz="1800" dirty="0"/>
                            <a:t>-1.3484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4.5648</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 (S/C)</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506114"/>
                      </a:ext>
                    </a:extLst>
                  </a:tr>
                  <a:tr h="387477">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2"/>
                          <a:stretch>
                            <a:fillRect l="-398" t="-195313" r="-301195" b="-681250"/>
                          </a:stretch>
                        </a:blipFill>
                      </a:tcPr>
                    </a:tc>
                    <a:tc>
                      <a:txBody>
                        <a:bodyPr/>
                        <a:lstStyle/>
                        <a:p>
                          <a:pPr algn="ctr" latinLnBrk="1"/>
                          <a:r>
                            <a:rPr lang="en-US" altLang="ko-KR" sz="1800" dirty="0"/>
                            <a:t>0.9816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1.9726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-1.3423 (S/C)</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526537"/>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2"/>
                          <a:stretch>
                            <a:fillRect l="-398" t="-315000" r="-301195" b="-626667"/>
                          </a:stretch>
                        </a:blipFill>
                      </a:tcPr>
                    </a:tc>
                    <a:tc>
                      <a:txBody>
                        <a:bodyPr/>
                        <a:lstStyle/>
                        <a:p>
                          <a:pPr algn="ctr" latinLnBrk="1"/>
                          <a:r>
                            <a:rPr lang="en-US" altLang="ko-KR" sz="1800" dirty="0"/>
                            <a:t>0.0536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-0.1103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 (S/C)</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4292524"/>
                      </a:ext>
                    </a:extLst>
                  </a:tr>
                  <a:tr h="365760">
                    <a:tc>
                      <a:txBody>
                        <a:bodyPr/>
                        <a:lstStyle/>
                        <a:p>
                          <a:pPr algn="ctr" latinLnBrk="1"/>
                          <a:r>
                            <a:rPr lang="en-US" altLang="ko-KR" sz="1800" dirty="0"/>
                            <a:t>r (AU)</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1.6687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4.974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5.9979</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4401372"/>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2"/>
                          <a:stretch>
                            <a:fillRect l="-398" t="-515000" r="-301195" b="-426667"/>
                          </a:stretch>
                        </a:blipFill>
                      </a:tcPr>
                    </a:tc>
                    <a:tc>
                      <a:txBody>
                        <a:bodyPr/>
                        <a:lstStyle/>
                        <a:p>
                          <a:pPr algn="ctr" latinLnBrk="1"/>
                          <a:r>
                            <a:rPr lang="en-US" altLang="ko-KR" sz="1800" dirty="0"/>
                            <a:t>30.143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54.021</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84.162</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846426"/>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2"/>
                          <a:stretch>
                            <a:fillRect l="-398" t="-615000" r="-301195" b="-326667"/>
                          </a:stretch>
                        </a:blipFill>
                      </a:tcPr>
                    </a:tc>
                    <a:tc>
                      <a:txBody>
                        <a:bodyPr/>
                        <a:lstStyle/>
                        <a:p>
                          <a:pPr algn="ctr" latinLnBrk="1"/>
                          <a:r>
                            <a:rPr lang="en-US" altLang="ko-KR" sz="1800" dirty="0"/>
                            <a:t>1.6615</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3.0733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N/A</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2241181"/>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2"/>
                          <a:stretch>
                            <a:fillRect l="-398" t="-715000" r="-301195" b="-226667"/>
                          </a:stretch>
                        </a:blipFill>
                      </a:tcPr>
                    </a:tc>
                    <a:tc>
                      <a:txBody>
                        <a:bodyPr/>
                        <a:lstStyle/>
                        <a:p>
                          <a:pPr algn="ctr" latinLnBrk="1"/>
                          <a:r>
                            <a:rPr lang="en-US" altLang="ko-KR" sz="1800" dirty="0"/>
                            <a:t>60.175</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77.386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N/A</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259998"/>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2"/>
                          <a:stretch>
                            <a:fillRect l="-398" t="-815000" r="-301195" b="-126667"/>
                          </a:stretch>
                        </a:blipFill>
                      </a:tcPr>
                    </a:tc>
                    <a:tc>
                      <a:txBody>
                        <a:bodyPr/>
                        <a:lstStyle/>
                        <a:p>
                          <a:pPr algn="ctr" latinLnBrk="1"/>
                          <a:r>
                            <a:rPr lang="en-US" altLang="ko-KR" sz="1800" dirty="0"/>
                            <a:t>59.857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35.979</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N/A</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848500"/>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2"/>
                          <a:stretch>
                            <a:fillRect l="-398" t="-915000" r="-301195" b="-26667"/>
                          </a:stretch>
                        </a:blipFill>
                      </a:tcPr>
                    </a:tc>
                    <a:tc>
                      <a:txBody>
                        <a:bodyPr/>
                        <a:lstStyle/>
                        <a:p>
                          <a:pPr algn="ctr" latinLnBrk="1"/>
                          <a:r>
                            <a:rPr lang="en-US" altLang="ko-KR" sz="1800" dirty="0"/>
                            <a:t>2.6873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5.6425</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2"/>
                          <a:stretch>
                            <a:fillRect l="-300797" t="-915000" r="-797" b="-26667"/>
                          </a:stretch>
                        </a:blipFill>
                      </a:tcPr>
                    </a:tc>
                    <a:extLst>
                      <a:ext uri="{0D108BD9-81ED-4DB2-BD59-A6C34878D82A}">
                        <a16:rowId xmlns:a16="http://schemas.microsoft.com/office/drawing/2014/main" val="198437892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6" name="Table 35">
                <a:extLst>
                  <a:ext uri="{FF2B5EF4-FFF2-40B4-BE49-F238E27FC236}">
                    <a16:creationId xmlns:a16="http://schemas.microsoft.com/office/drawing/2014/main" id="{A0D4FE9D-5D17-6FF4-ACCF-EEA76C818741}"/>
                  </a:ext>
                </a:extLst>
              </p:cNvPr>
              <p:cNvGraphicFramePr>
                <a:graphicFrameLocks noGrp="1"/>
              </p:cNvGraphicFramePr>
              <p:nvPr/>
            </p:nvGraphicFramePr>
            <p:xfrm>
              <a:off x="22783802" y="22827708"/>
              <a:ext cx="6118985" cy="2249805"/>
            </p:xfrm>
            <a:graphic>
              <a:graphicData uri="http://schemas.openxmlformats.org/drawingml/2006/table">
                <a:tbl>
                  <a:tblPr firstRow="1" bandRow="1">
                    <a:tableStyleId>{5C22544A-7EE6-4342-B048-85BDC9FD1C3A}</a:tableStyleId>
                  </a:tblPr>
                  <a:tblGrid>
                    <a:gridCol w="1223797">
                      <a:extLst>
                        <a:ext uri="{9D8B030D-6E8A-4147-A177-3AD203B41FA5}">
                          <a16:colId xmlns:a16="http://schemas.microsoft.com/office/drawing/2014/main" val="3408067011"/>
                        </a:ext>
                      </a:extLst>
                    </a:gridCol>
                    <a:gridCol w="1223797">
                      <a:extLst>
                        <a:ext uri="{9D8B030D-6E8A-4147-A177-3AD203B41FA5}">
                          <a16:colId xmlns:a16="http://schemas.microsoft.com/office/drawing/2014/main" val="2848599497"/>
                        </a:ext>
                      </a:extLst>
                    </a:gridCol>
                    <a:gridCol w="1223797">
                      <a:extLst>
                        <a:ext uri="{9D8B030D-6E8A-4147-A177-3AD203B41FA5}">
                          <a16:colId xmlns:a16="http://schemas.microsoft.com/office/drawing/2014/main" val="666132706"/>
                        </a:ext>
                      </a:extLst>
                    </a:gridCol>
                    <a:gridCol w="1223797">
                      <a:extLst>
                        <a:ext uri="{9D8B030D-6E8A-4147-A177-3AD203B41FA5}">
                          <a16:colId xmlns:a16="http://schemas.microsoft.com/office/drawing/2014/main" val="2074557388"/>
                        </a:ext>
                      </a:extLst>
                    </a:gridCol>
                    <a:gridCol w="1223797">
                      <a:extLst>
                        <a:ext uri="{9D8B030D-6E8A-4147-A177-3AD203B41FA5}">
                          <a16:colId xmlns:a16="http://schemas.microsoft.com/office/drawing/2014/main" val="972478851"/>
                        </a:ext>
                      </a:extLst>
                    </a:gridCol>
                  </a:tblGrid>
                  <a:tr h="0">
                    <a:tc>
                      <a:txBody>
                        <a:bodyPr/>
                        <a:lstStyle/>
                        <a:p>
                          <a:pPr algn="ctr" latinLnBrk="1"/>
                          <a14:m>
                            <m:oMathPara xmlns:m="http://schemas.openxmlformats.org/officeDocument/2006/math">
                              <m:oMathParaPr>
                                <m:jc m:val="centerGroup"/>
                              </m:oMathParaPr>
                              <m:oMath xmlns:m="http://schemas.openxmlformats.org/officeDocument/2006/math">
                                <m:sSubSup>
                                  <m:sSubSupPr>
                                    <m:ctrlPr>
                                      <a:rPr lang="en-US" altLang="ko-KR" sz="1800" b="1" i="1" smtClean="0">
                                        <a:latin typeface="Cambria Math" panose="02040503050406030204" pitchFamily="18" charset="0"/>
                                      </a:rPr>
                                    </m:ctrlPr>
                                  </m:sSubSupPr>
                                  <m:e>
                                    <m:r>
                                      <a:rPr lang="en-US" altLang="ko-KR" sz="1800" b="1" i="1" smtClean="0">
                                        <a:latin typeface="Cambria Math" panose="02040503050406030204" pitchFamily="18" charset="0"/>
                                      </a:rPr>
                                      <m:t>𝒔</m:t>
                                    </m:r>
                                  </m:e>
                                  <m:sub>
                                    <m:r>
                                      <a:rPr lang="en-US" altLang="ko-KR" sz="1800" b="1" i="1" smtClean="0">
                                        <a:latin typeface="Cambria Math" panose="02040503050406030204" pitchFamily="18" charset="0"/>
                                      </a:rPr>
                                      <m:t>𝝓</m:t>
                                    </m:r>
                                  </m:sub>
                                  <m:sup>
                                    <m:r>
                                      <a:rPr lang="en-US" altLang="ko-KR" sz="1800" b="1" i="1" smtClean="0">
                                        <a:latin typeface="Cambria Math" panose="02040503050406030204" pitchFamily="18" charset="0"/>
                                      </a:rPr>
                                      <m:t>𝟏</m:t>
                                    </m:r>
                                  </m:sup>
                                </m:sSubSup>
                                <m:sSubSup>
                                  <m:sSubSupPr>
                                    <m:ctrlPr>
                                      <a:rPr lang="en-US" altLang="ko-KR" sz="1800" b="1" i="1" smtClean="0">
                                        <a:latin typeface="Cambria Math" panose="02040503050406030204" pitchFamily="18" charset="0"/>
                                      </a:rPr>
                                    </m:ctrlPr>
                                  </m:sSubSupPr>
                                  <m:e>
                                    <m:r>
                                      <a:rPr lang="en-US" altLang="ko-KR" sz="1800" b="1" i="1" smtClean="0">
                                        <a:latin typeface="Cambria Math" panose="02040503050406030204" pitchFamily="18" charset="0"/>
                                      </a:rPr>
                                      <m:t>𝒔</m:t>
                                    </m:r>
                                  </m:e>
                                  <m:sub>
                                    <m:r>
                                      <a:rPr lang="en-US" altLang="ko-KR" sz="1800" b="1" i="1" smtClean="0">
                                        <a:latin typeface="Cambria Math" panose="02040503050406030204" pitchFamily="18" charset="0"/>
                                      </a:rPr>
                                      <m:t>𝝓</m:t>
                                    </m:r>
                                  </m:sub>
                                  <m:sup>
                                    <m:r>
                                      <a:rPr lang="en-US" altLang="ko-KR" sz="1800" b="1" i="1" smtClean="0">
                                        <a:latin typeface="Cambria Math" panose="02040503050406030204" pitchFamily="18" charset="0"/>
                                      </a:rPr>
                                      <m:t>𝟐</m:t>
                                    </m:r>
                                  </m:sup>
                                </m:sSubSup>
                                <m:sSubSup>
                                  <m:sSubSupPr>
                                    <m:ctrlPr>
                                      <a:rPr lang="en-US" altLang="ko-KR" sz="1800" b="1" i="1" smtClean="0">
                                        <a:latin typeface="Cambria Math" panose="02040503050406030204" pitchFamily="18" charset="0"/>
                                      </a:rPr>
                                    </m:ctrlPr>
                                  </m:sSubSupPr>
                                  <m:e>
                                    <m:r>
                                      <a:rPr lang="en-US" altLang="ko-KR" sz="1800" b="1" i="1" smtClean="0">
                                        <a:latin typeface="Cambria Math" panose="02040503050406030204" pitchFamily="18" charset="0"/>
                                      </a:rPr>
                                      <m:t>𝒔</m:t>
                                    </m:r>
                                  </m:e>
                                  <m:sub>
                                    <m:r>
                                      <a:rPr lang="en-US" altLang="ko-KR" sz="1800" b="1" i="1" smtClean="0">
                                        <a:latin typeface="Cambria Math" panose="02040503050406030204" pitchFamily="18" charset="0"/>
                                      </a:rPr>
                                      <m:t>𝜸</m:t>
                                    </m:r>
                                  </m:sub>
                                  <m:sup>
                                    <m:r>
                                      <a:rPr lang="en-US" altLang="ko-KR" sz="1800" b="1" i="1" smtClean="0">
                                        <a:latin typeface="Cambria Math" panose="02040503050406030204" pitchFamily="18" charset="0"/>
                                      </a:rPr>
                                      <m:t>𝟏</m:t>
                                    </m:r>
                                  </m:sup>
                                </m:sSubSup>
                                <m:sSubSup>
                                  <m:sSubSupPr>
                                    <m:ctrlPr>
                                      <a:rPr lang="en-US" altLang="ko-KR" sz="1800" b="1" i="1" smtClean="0">
                                        <a:latin typeface="Cambria Math" panose="02040503050406030204" pitchFamily="18" charset="0"/>
                                      </a:rPr>
                                    </m:ctrlPr>
                                  </m:sSubSupPr>
                                  <m:e>
                                    <m:r>
                                      <a:rPr lang="en-US" altLang="ko-KR" sz="1800" b="1" i="1" smtClean="0">
                                        <a:latin typeface="Cambria Math" panose="02040503050406030204" pitchFamily="18" charset="0"/>
                                      </a:rPr>
                                      <m:t>𝒔</m:t>
                                    </m:r>
                                  </m:e>
                                  <m:sub>
                                    <m:r>
                                      <a:rPr lang="en-US" altLang="ko-KR" sz="1800" b="1" i="1" smtClean="0">
                                        <a:latin typeface="Cambria Math" panose="02040503050406030204" pitchFamily="18" charset="0"/>
                                      </a:rPr>
                                      <m:t>𝜸</m:t>
                                    </m:r>
                                  </m:sub>
                                  <m:sup>
                                    <m:r>
                                      <a:rPr lang="en-US" altLang="ko-KR" sz="1800" b="1" i="1" smtClean="0">
                                        <a:latin typeface="Cambria Math" panose="02040503050406030204" pitchFamily="18" charset="0"/>
                                      </a:rPr>
                                      <m:t>𝟐</m:t>
                                    </m:r>
                                  </m:sup>
                                </m:sSubSup>
                              </m:oMath>
                            </m:oMathPara>
                          </a14:m>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 -, +, +</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 -, +, +</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 +, +, +</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b="1" dirty="0"/>
                            <a:t>+, +, +, +</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extLst>
                      <a:ext uri="{0D108BD9-81ED-4DB2-BD59-A6C34878D82A}">
                        <a16:rowId xmlns:a16="http://schemas.microsoft.com/office/drawing/2014/main" val="3048101084"/>
                      </a:ext>
                    </a:extLst>
                  </a:tr>
                  <a:tr h="0">
                    <a:tc>
                      <a:txBody>
                        <a:bodyPr/>
                        <a:lstStyle/>
                        <a:p>
                          <a:pPr algn="ctr" latinLnBrk="1"/>
                          <a14:m>
                            <m:oMathPara xmlns:m="http://schemas.openxmlformats.org/officeDocument/2006/math">
                              <m:oMathParaPr>
                                <m:jc m:val="centerGroup"/>
                              </m:oMathParaPr>
                              <m:oMath xmlns:m="http://schemas.openxmlformats.org/officeDocument/2006/math">
                                <m:sSub>
                                  <m:sSubPr>
                                    <m:ctrlPr>
                                      <a:rPr lang="en-US" altLang="ko-KR" sz="1800" b="0" i="1" smtClean="0">
                                        <a:latin typeface="Cambria Math" panose="02040503050406030204" pitchFamily="18" charset="0"/>
                                      </a:rPr>
                                    </m:ctrlPr>
                                  </m:sSubPr>
                                  <m:e>
                                    <m:r>
                                      <a:rPr lang="en-US" altLang="ko-KR" sz="1800" b="0" i="1" smtClean="0">
                                        <a:latin typeface="Cambria Math" panose="02040503050406030204" pitchFamily="18" charset="0"/>
                                      </a:rPr>
                                      <m:t>𝛿</m:t>
                                    </m:r>
                                  </m:e>
                                  <m:sub>
                                    <m:r>
                                      <a:rPr lang="en-US" altLang="ko-KR" sz="1800" b="0" i="1" smtClean="0">
                                        <a:latin typeface="Cambria Math" panose="02040503050406030204" pitchFamily="18" charset="0"/>
                                      </a:rPr>
                                      <m:t>1</m:t>
                                    </m:r>
                                  </m:sub>
                                </m:sSub>
                                <m:r>
                                  <a:rPr lang="en-US" altLang="ko-KR" sz="1800" b="0" i="1" smtClean="0">
                                    <a:latin typeface="Cambria Math" panose="02040503050406030204" pitchFamily="18" charset="0"/>
                                  </a:rPr>
                                  <m:t> </m:t>
                                </m:r>
                                <m:d>
                                  <m:dPr>
                                    <m:ctrlPr>
                                      <a:rPr lang="en-US" altLang="ko-KR" sz="1800" b="0" i="1" smtClean="0">
                                        <a:latin typeface="Cambria Math" panose="02040503050406030204" pitchFamily="18" charset="0"/>
                                      </a:rPr>
                                    </m:ctrlPr>
                                  </m:dPr>
                                  <m:e>
                                    <m:r>
                                      <a:rPr lang="en-US" altLang="ko-KR" sz="1800" b="0" i="1" smtClean="0">
                                        <a:latin typeface="Cambria Math" panose="02040503050406030204" pitchFamily="18" charset="0"/>
                                      </a:rPr>
                                      <m:t>°</m:t>
                                    </m:r>
                                  </m:e>
                                </m:d>
                              </m:oMath>
                            </m:oMathPara>
                          </a14:m>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-6.3187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126.03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-6.3187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b="1" dirty="0"/>
                            <a:t>126.03</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506114"/>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ko-KR" sz="1800" b="0" i="1" smtClean="0">
                                        <a:latin typeface="Cambria Math" panose="02040503050406030204" pitchFamily="18" charset="0"/>
                                      </a:rPr>
                                    </m:ctrlPr>
                                  </m:sSubPr>
                                  <m:e>
                                    <m:r>
                                      <a:rPr lang="en-US" altLang="ko-KR" sz="1800" b="0" i="1" smtClean="0">
                                        <a:latin typeface="Cambria Math" panose="02040503050406030204" pitchFamily="18" charset="0"/>
                                      </a:rPr>
                                      <m:t>𝛿</m:t>
                                    </m:r>
                                  </m:e>
                                  <m:sub>
                                    <m:r>
                                      <a:rPr lang="en-US" altLang="ko-KR" sz="1800" b="0" i="1" smtClean="0">
                                        <a:latin typeface="Cambria Math" panose="02040503050406030204" pitchFamily="18" charset="0"/>
                                      </a:rPr>
                                      <m:t>2</m:t>
                                    </m:r>
                                  </m:sub>
                                </m:sSub>
                                <m:r>
                                  <a:rPr lang="en-US" altLang="ko-KR" sz="1800" b="0" i="1" smtClean="0">
                                    <a:latin typeface="Cambria Math" panose="02040503050406030204" pitchFamily="18" charset="0"/>
                                  </a:rPr>
                                  <m:t> </m:t>
                                </m:r>
                                <m:d>
                                  <m:dPr>
                                    <m:ctrlPr>
                                      <a:rPr lang="en-US" altLang="ko-KR" sz="1800" b="0" i="1" smtClean="0">
                                        <a:latin typeface="Cambria Math" panose="02040503050406030204" pitchFamily="18" charset="0"/>
                                      </a:rPr>
                                    </m:ctrlPr>
                                  </m:dPr>
                                  <m:e>
                                    <m:r>
                                      <a:rPr lang="en-US" altLang="ko-KR" sz="1800" b="0" i="1" smtClean="0">
                                        <a:latin typeface="Cambria Math" panose="02040503050406030204" pitchFamily="18" charset="0"/>
                                      </a:rPr>
                                      <m:t>°</m:t>
                                    </m:r>
                                  </m:e>
                                </m:d>
                              </m:oMath>
                            </m:oMathPara>
                          </a14:m>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-41.407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113.36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-41.407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b="1" dirty="0"/>
                            <a:t>113.36</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4401372"/>
                      </a:ext>
                    </a:extLst>
                  </a:tr>
                  <a:tr h="0">
                    <a:tc>
                      <a:txBody>
                        <a:bodyPr/>
                        <a:lstStyle/>
                        <a:p>
                          <a:pPr algn="ctr" latinLnBrk="1"/>
                          <a14:m>
                            <m:oMath xmlns:m="http://schemas.openxmlformats.org/officeDocument/2006/math">
                              <m:sSub>
                                <m:sSubPr>
                                  <m:ctrlPr>
                                    <a:rPr lang="en-US" altLang="ko-KR" sz="1800" b="0" i="1" smtClean="0">
                                      <a:latin typeface="Cambria Math" panose="02040503050406030204" pitchFamily="18" charset="0"/>
                                    </a:rPr>
                                  </m:ctrlPr>
                                </m:sSubPr>
                                <m:e>
                                  <m:r>
                                    <a:rPr lang="en-US" altLang="ko-KR" sz="1800" b="0" i="1" smtClean="0">
                                      <a:latin typeface="Cambria Math" panose="02040503050406030204" pitchFamily="18" charset="0"/>
                                    </a:rPr>
                                    <m:t>𝑦</m:t>
                                  </m:r>
                                </m:e>
                                <m:sub>
                                  <m:r>
                                    <a:rPr lang="en-US" altLang="ko-KR" sz="1800" b="0" i="1" smtClean="0">
                                      <a:latin typeface="Cambria Math" panose="02040503050406030204" pitchFamily="18" charset="0"/>
                                    </a:rPr>
                                    <m:t>1</m:t>
                                  </m:r>
                                </m:sub>
                              </m:sSub>
                            </m:oMath>
                          </a14:m>
                          <a:r>
                            <a:rPr lang="ko-KR" altLang="en-US" sz="1800" dirty="0"/>
                            <a:t> </a:t>
                          </a:r>
                          <a:r>
                            <a:rPr lang="en-US" altLang="ko-KR" sz="1800" dirty="0"/>
                            <a:t>(AU)</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-0.3657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dirty="0"/>
                            <a:t>2.6873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-0.3657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b="1" dirty="0"/>
                            <a:t>2.6873</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84642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14:m>
                            <m:oMath xmlns:m="http://schemas.openxmlformats.org/officeDocument/2006/math">
                              <m:sSub>
                                <m:sSubPr>
                                  <m:ctrlPr>
                                    <a:rPr lang="en-US" altLang="ko-KR" sz="1800" b="0" i="1" smtClean="0">
                                      <a:latin typeface="Cambria Math" panose="02040503050406030204" pitchFamily="18" charset="0"/>
                                    </a:rPr>
                                  </m:ctrlPr>
                                </m:sSubPr>
                                <m:e>
                                  <m:r>
                                    <a:rPr lang="en-US" altLang="ko-KR" sz="1800" b="0" i="1" smtClean="0">
                                      <a:latin typeface="Cambria Math" panose="02040503050406030204" pitchFamily="18" charset="0"/>
                                    </a:rPr>
                                    <m:t>𝑦</m:t>
                                  </m:r>
                                </m:e>
                                <m:sub>
                                  <m:r>
                                    <a:rPr lang="en-US" altLang="ko-KR" sz="1800" b="0" i="1" smtClean="0">
                                      <a:latin typeface="Cambria Math" panose="02040503050406030204" pitchFamily="18" charset="0"/>
                                    </a:rPr>
                                    <m:t>2</m:t>
                                  </m:r>
                                </m:sub>
                              </m:sSub>
                            </m:oMath>
                          </a14:m>
                          <a:r>
                            <a:rPr lang="ko-KR" altLang="en-US" sz="1800" dirty="0"/>
                            <a:t> </a:t>
                          </a:r>
                          <a:r>
                            <a:rPr lang="en-US" altLang="ko-KR" sz="1800" dirty="0"/>
                            <a:t>(AU)</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-4.0654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dirty="0"/>
                            <a:t>-4.0654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5.6425</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b="1" dirty="0"/>
                            <a:t>5.6425</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2241181"/>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ko-KR" sz="1800" b="0" i="1" smtClean="0">
                                    <a:latin typeface="Cambria Math" panose="02040503050406030204" pitchFamily="18" charset="0"/>
                                  </a:rPr>
                                  <m:t>𝐷</m:t>
                                </m:r>
                              </m:oMath>
                            </m:oMathPara>
                          </a14:m>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 -19.616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-10.004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-3.5832</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b="1" dirty="0"/>
                            <a:t>-3.55e-14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259998"/>
                      </a:ext>
                    </a:extLst>
                  </a:tr>
                </a:tbl>
              </a:graphicData>
            </a:graphic>
          </p:graphicFrame>
        </mc:Choice>
        <mc:Fallback xmlns="">
          <p:graphicFrame>
            <p:nvGraphicFramePr>
              <p:cNvPr id="36" name="Table 35">
                <a:extLst>
                  <a:ext uri="{FF2B5EF4-FFF2-40B4-BE49-F238E27FC236}">
                    <a16:creationId xmlns:a16="http://schemas.microsoft.com/office/drawing/2014/main" id="{5831351C-7D01-A1FB-C18C-5905C896FB16}"/>
                  </a:ext>
                </a:extLst>
              </p:cNvPr>
              <p:cNvGraphicFramePr>
                <a:graphicFrameLocks noGrp="1"/>
              </p:cNvGraphicFramePr>
              <p:nvPr>
                <p:extLst>
                  <p:ext uri="{D42A27DB-BD31-4B8C-83A1-F6EECF244321}">
                    <p14:modId xmlns:p14="http://schemas.microsoft.com/office/powerpoint/2010/main" val="4145816911"/>
                  </p:ext>
                </p:extLst>
              </p:nvPr>
            </p:nvGraphicFramePr>
            <p:xfrm>
              <a:off x="22783802" y="22827708"/>
              <a:ext cx="6118985" cy="2249805"/>
            </p:xfrm>
            <a:graphic>
              <a:graphicData uri="http://schemas.openxmlformats.org/drawingml/2006/table">
                <a:tbl>
                  <a:tblPr firstRow="1" bandRow="1">
                    <a:tableStyleId>{5C22544A-7EE6-4342-B048-85BDC9FD1C3A}</a:tableStyleId>
                  </a:tblPr>
                  <a:tblGrid>
                    <a:gridCol w="1223797">
                      <a:extLst>
                        <a:ext uri="{9D8B030D-6E8A-4147-A177-3AD203B41FA5}">
                          <a16:colId xmlns:a16="http://schemas.microsoft.com/office/drawing/2014/main" val="3408067011"/>
                        </a:ext>
                      </a:extLst>
                    </a:gridCol>
                    <a:gridCol w="1223797">
                      <a:extLst>
                        <a:ext uri="{9D8B030D-6E8A-4147-A177-3AD203B41FA5}">
                          <a16:colId xmlns:a16="http://schemas.microsoft.com/office/drawing/2014/main" val="2848599497"/>
                        </a:ext>
                      </a:extLst>
                    </a:gridCol>
                    <a:gridCol w="1223797">
                      <a:extLst>
                        <a:ext uri="{9D8B030D-6E8A-4147-A177-3AD203B41FA5}">
                          <a16:colId xmlns:a16="http://schemas.microsoft.com/office/drawing/2014/main" val="666132706"/>
                        </a:ext>
                      </a:extLst>
                    </a:gridCol>
                    <a:gridCol w="1223797">
                      <a:extLst>
                        <a:ext uri="{9D8B030D-6E8A-4147-A177-3AD203B41FA5}">
                          <a16:colId xmlns:a16="http://schemas.microsoft.com/office/drawing/2014/main" val="2074557388"/>
                        </a:ext>
                      </a:extLst>
                    </a:gridCol>
                    <a:gridCol w="1223797">
                      <a:extLst>
                        <a:ext uri="{9D8B030D-6E8A-4147-A177-3AD203B41FA5}">
                          <a16:colId xmlns:a16="http://schemas.microsoft.com/office/drawing/2014/main" val="972478851"/>
                        </a:ext>
                      </a:extLst>
                    </a:gridCol>
                  </a:tblGrid>
                  <a:tr h="421005">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3"/>
                          <a:stretch>
                            <a:fillRect l="-498" t="-1449" r="-400995" b="-459420"/>
                          </a:stretch>
                        </a:blipFill>
                      </a:tcPr>
                    </a:tc>
                    <a:tc>
                      <a:txBody>
                        <a:bodyPr/>
                        <a:lstStyle/>
                        <a:p>
                          <a:pPr algn="ctr" latinLnBrk="1"/>
                          <a:r>
                            <a:rPr lang="en-US" altLang="ko-KR" sz="1800" dirty="0"/>
                            <a:t>-, -, +, +</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 -, +, +</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dirty="0"/>
                            <a:t>-, +, +, +</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tc>
                      <a:txBody>
                        <a:bodyPr/>
                        <a:lstStyle/>
                        <a:p>
                          <a:pPr algn="ctr" latinLnBrk="1"/>
                          <a:r>
                            <a:rPr lang="en-US" altLang="ko-KR" sz="1800" b="1" dirty="0"/>
                            <a:t>+, +, +, +</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102E"/>
                        </a:solidFill>
                      </a:tcPr>
                    </a:tc>
                    <a:extLst>
                      <a:ext uri="{0D108BD9-81ED-4DB2-BD59-A6C34878D82A}">
                        <a16:rowId xmlns:a16="http://schemas.microsoft.com/office/drawing/2014/main" val="3048101084"/>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3"/>
                          <a:stretch>
                            <a:fillRect l="-498" t="-116667" r="-400995" b="-428333"/>
                          </a:stretch>
                        </a:blipFill>
                      </a:tcPr>
                    </a:tc>
                    <a:tc>
                      <a:txBody>
                        <a:bodyPr/>
                        <a:lstStyle/>
                        <a:p>
                          <a:pPr algn="ctr" latinLnBrk="1"/>
                          <a:r>
                            <a:rPr lang="en-US" altLang="ko-KR" sz="1800" dirty="0"/>
                            <a:t>-6.3187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126.03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-6.3187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b="1" dirty="0"/>
                            <a:t>126.03</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506114"/>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3"/>
                          <a:stretch>
                            <a:fillRect l="-498" t="-213115" r="-400995" b="-321311"/>
                          </a:stretch>
                        </a:blipFill>
                      </a:tcPr>
                    </a:tc>
                    <a:tc>
                      <a:txBody>
                        <a:bodyPr/>
                        <a:lstStyle/>
                        <a:p>
                          <a:pPr algn="ctr" latinLnBrk="1"/>
                          <a:r>
                            <a:rPr lang="en-US" altLang="ko-KR" sz="1800" dirty="0"/>
                            <a:t>-41.407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113.36</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-41.407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b="1" dirty="0"/>
                            <a:t>113.36</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4401372"/>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3"/>
                          <a:stretch>
                            <a:fillRect l="-498" t="-318333" r="-400995" b="-226667"/>
                          </a:stretch>
                        </a:blipFill>
                      </a:tcPr>
                    </a:tc>
                    <a:tc>
                      <a:txBody>
                        <a:bodyPr/>
                        <a:lstStyle/>
                        <a:p>
                          <a:pPr algn="ctr" latinLnBrk="1"/>
                          <a:r>
                            <a:rPr lang="en-US" altLang="ko-KR" sz="1800" dirty="0"/>
                            <a:t>-0.3657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dirty="0"/>
                            <a:t>2.6873</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-0.3657</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b="1" dirty="0"/>
                            <a:t>2.6873</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846426"/>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3"/>
                          <a:stretch>
                            <a:fillRect l="-498" t="-418333" r="-400995" b="-126667"/>
                          </a:stretch>
                        </a:blipFill>
                      </a:tcPr>
                    </a:tc>
                    <a:tc>
                      <a:txBody>
                        <a:bodyPr/>
                        <a:lstStyle/>
                        <a:p>
                          <a:pPr algn="ctr" latinLnBrk="1"/>
                          <a:r>
                            <a:rPr lang="en-US" altLang="ko-KR" sz="1800" dirty="0"/>
                            <a:t>-4.0654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dirty="0"/>
                            <a:t>-4.0654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5.6425</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b="1" dirty="0"/>
                            <a:t>5.6425</a:t>
                          </a:r>
                          <a:endParaRPr lang="ko-KR" altLang="en-US" sz="1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2241181"/>
                      </a:ext>
                    </a:extLst>
                  </a:tr>
                  <a:tr h="365760">
                    <a:tc>
                      <a:txBody>
                        <a:bodyPr/>
                        <a:lstStyle/>
                        <a:p>
                          <a:endParaRPr lang="ko-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3"/>
                          <a:stretch>
                            <a:fillRect l="-498" t="-518333" r="-400995" b="-26667"/>
                          </a:stretch>
                        </a:blipFill>
                      </a:tcPr>
                    </a:tc>
                    <a:tc>
                      <a:txBody>
                        <a:bodyPr/>
                        <a:lstStyle/>
                        <a:p>
                          <a:pPr algn="ctr" latinLnBrk="1"/>
                          <a:r>
                            <a:rPr lang="en-US" altLang="ko-KR" sz="1800" dirty="0"/>
                            <a:t> -19.616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-10.004</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dirty="0"/>
                            <a:t>-3.5832</a:t>
                          </a:r>
                          <a:endParaRPr lang="ko-KR"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800" b="1" dirty="0"/>
                            <a:t>-3.55e-14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259998"/>
                      </a:ext>
                    </a:extLst>
                  </a:tr>
                </a:tbl>
              </a:graphicData>
            </a:graphic>
          </p:graphicFrame>
        </mc:Fallback>
      </mc:AlternateContent>
      <mc:AlternateContent xmlns:mc="http://schemas.openxmlformats.org/markup-compatibility/2006" xmlns:a14="http://schemas.microsoft.com/office/drawing/2010/main">
        <mc:Choice Requires="a14">
          <p:sp>
            <p:nvSpPr>
              <p:cNvPr id="37" name="Text Box 18">
                <a:extLst>
                  <a:ext uri="{FF2B5EF4-FFF2-40B4-BE49-F238E27FC236}">
                    <a16:creationId xmlns:a16="http://schemas.microsoft.com/office/drawing/2014/main" id="{B5119E4D-3498-AB74-76BF-7EA26E40744D}"/>
                  </a:ext>
                </a:extLst>
              </p:cNvPr>
              <p:cNvSpPr txBox="1">
                <a:spLocks noChangeArrowheads="1"/>
              </p:cNvSpPr>
              <p:nvPr/>
            </p:nvSpPr>
            <p:spPr bwMode="auto">
              <a:xfrm>
                <a:off x="15453360" y="18983402"/>
                <a:ext cx="7280959" cy="6381234"/>
              </a:xfrm>
              <a:prstGeom prst="rect">
                <a:avLst/>
              </a:prstGeom>
              <a:noFill/>
              <a:ln w="9525">
                <a:noFill/>
                <a:miter lim="800000"/>
                <a:headEnd/>
                <a:tailEnd/>
              </a:ln>
              <a:effectLst/>
            </p:spPr>
            <p:txBody>
              <a:bodyPr wrap="square">
                <a:spAutoFit/>
              </a:bodyPr>
              <a:lstStyle/>
              <a:p>
                <a:pPr algn="l">
                  <a:spcBef>
                    <a:spcPct val="50000"/>
                  </a:spcBef>
                </a:pPr>
                <a:r>
                  <a:rPr lang="en-US" altLang="ko-KR" sz="4000" b="1" i="1" dirty="0"/>
                  <a:t>Test Case</a:t>
                </a:r>
              </a:p>
              <a:p>
                <a:pPr indent="457200" algn="l">
                  <a:spcBef>
                    <a:spcPct val="50000"/>
                  </a:spcBef>
                </a:pPr>
                <a:r>
                  <a:rPr lang="en-US" altLang="ko-KR" dirty="0"/>
                  <a:t>A test case is presented in the upper table. The indices 1, 2, and 3 refer to the subscripts of each parameter.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𝑃</m:t>
                        </m:r>
                      </m:e>
                      <m:sub>
                        <m:r>
                          <a:rPr lang="en-US" altLang="ko-KR" b="0" i="1" smtClean="0">
                            <a:latin typeface="Cambria Math" panose="02040503050406030204" pitchFamily="18" charset="0"/>
                          </a:rPr>
                          <m:t>𝑥</m:t>
                        </m:r>
                      </m:sub>
                    </m:sSub>
                    <m:r>
                      <a:rPr lang="en-US" altLang="ko-KR" b="0" i="1" smtClean="0">
                        <a:latin typeface="Cambria Math" panose="02040503050406030204" pitchFamily="18" charset="0"/>
                      </a:rPr>
                      <m:t>, </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𝑃</m:t>
                        </m:r>
                      </m:e>
                      <m:sub>
                        <m:r>
                          <a:rPr lang="en-US" altLang="ko-KR" b="0" i="1" smtClean="0">
                            <a:latin typeface="Cambria Math" panose="02040503050406030204" pitchFamily="18" charset="0"/>
                          </a:rPr>
                          <m:t>𝑦</m:t>
                        </m:r>
                      </m:sub>
                    </m:sSub>
                  </m:oMath>
                </a14:m>
                <a:r>
                  <a:rPr lang="en-US" altLang="ko-KR" dirty="0"/>
                  <a:t> and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𝑃</m:t>
                        </m:r>
                      </m:e>
                      <m:sub>
                        <m:r>
                          <a:rPr lang="en-US" altLang="ko-KR" b="0" i="1" smtClean="0">
                            <a:latin typeface="Cambria Math" panose="02040503050406030204" pitchFamily="18" charset="0"/>
                          </a:rPr>
                          <m:t>𝑧</m:t>
                        </m:r>
                      </m:sub>
                    </m:sSub>
                  </m:oMath>
                </a14:m>
                <a:r>
                  <a:rPr lang="en-US" altLang="ko-KR" dirty="0"/>
                  <a:t> represent the x-, y-, and z-components of the position vector, respectively. In this case, Mars and Jupiter are selected as the two reference planets. The variable</a:t>
                </a:r>
                <a14:m>
                  <m:oMath xmlns:m="http://schemas.openxmlformats.org/officeDocument/2006/math">
                    <m:r>
                      <a:rPr lang="en-US" altLang="ko-KR" b="0" i="0" smtClean="0">
                        <a:latin typeface="Cambria Math" panose="02040503050406030204" pitchFamily="18" charset="0"/>
                      </a:rPr>
                      <m:t> </m:t>
                    </m:r>
                    <m:r>
                      <a:rPr lang="en-US" altLang="ko-KR" b="0" i="1" smtClean="0">
                        <a:latin typeface="Cambria Math" panose="02040503050406030204" pitchFamily="18" charset="0"/>
                      </a:rPr>
                      <m:t>𝑟</m:t>
                    </m:r>
                  </m:oMath>
                </a14:m>
                <a:r>
                  <a:rPr lang="en-US" altLang="ko-KR" dirty="0"/>
                  <a:t> denotes distance, while </a:t>
                </a:r>
                <a14:m>
                  <m:oMath xmlns:m="http://schemas.openxmlformats.org/officeDocument/2006/math">
                    <m:r>
                      <a:rPr lang="en-US" altLang="ko-KR" b="0" i="1" smtClean="0">
                        <a:latin typeface="Cambria Math" panose="02040503050406030204" pitchFamily="18" charset="0"/>
                      </a:rPr>
                      <m:t>𝑅</m:t>
                    </m:r>
                  </m:oMath>
                </a14:m>
                <a:r>
                  <a:rPr lang="en-US" altLang="ko-KR" dirty="0"/>
                  <a:t> refers to the radii of the circumcircles. Ultimately, the computed value of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𝑠</m:t>
                        </m:r>
                      </m:sub>
                    </m:sSub>
                  </m:oMath>
                </a14:m>
                <a:r>
                  <a:rPr lang="en-US" altLang="ko-KR" dirty="0"/>
                  <a:t> is 1.4323 AU, which exactly matches the true distance.</a:t>
                </a:r>
              </a:p>
              <a:p>
                <a:pPr indent="457200" algn="l">
                  <a:spcBef>
                    <a:spcPct val="50000"/>
                  </a:spcBef>
                </a:pPr>
                <a:r>
                  <a:rPr lang="en-US" altLang="ko-KR" dirty="0"/>
                  <a:t>The lower table presents the relevant parameters under different combinations of signs for </a:t>
                </a:r>
                <a14:m>
                  <m:oMath xmlns:m="http://schemas.openxmlformats.org/officeDocument/2006/math">
                    <m:sSubSup>
                      <m:sSubSupPr>
                        <m:ctrlPr>
                          <a:rPr lang="en-US" altLang="ko-KR" b="0" i="1" smtClean="0">
                            <a:latin typeface="Cambria Math" panose="02040503050406030204" pitchFamily="18" charset="0"/>
                          </a:rPr>
                        </m:ctrlPr>
                      </m:sSubSupPr>
                      <m:e>
                        <m:r>
                          <a:rPr lang="en-US" altLang="ko-KR" b="0" i="1" smtClean="0">
                            <a:latin typeface="Cambria Math" panose="02040503050406030204" pitchFamily="18" charset="0"/>
                          </a:rPr>
                          <m:t>𝑠</m:t>
                        </m:r>
                      </m:e>
                      <m:sub>
                        <m:r>
                          <a:rPr lang="en-US" altLang="ko-KR" b="0" i="1" smtClean="0">
                            <a:latin typeface="Cambria Math" panose="02040503050406030204" pitchFamily="18" charset="0"/>
                          </a:rPr>
                          <m:t>𝜙</m:t>
                        </m:r>
                      </m:sub>
                      <m:sup>
                        <m:r>
                          <a:rPr lang="en-US" altLang="ko-KR" b="0" i="1" smtClean="0">
                            <a:latin typeface="Cambria Math" panose="02040503050406030204" pitchFamily="18" charset="0"/>
                          </a:rPr>
                          <m:t>1</m:t>
                        </m:r>
                      </m:sup>
                    </m:sSubSup>
                    <m:r>
                      <a:rPr lang="en-US" altLang="ko-KR" b="0" i="1" smtClean="0">
                        <a:latin typeface="Cambria Math" panose="02040503050406030204" pitchFamily="18" charset="0"/>
                      </a:rPr>
                      <m:t>, </m:t>
                    </m:r>
                    <m:sSubSup>
                      <m:sSubSupPr>
                        <m:ctrlPr>
                          <a:rPr lang="en-US" altLang="ko-KR" b="0" i="1" smtClean="0">
                            <a:latin typeface="Cambria Math" panose="02040503050406030204" pitchFamily="18" charset="0"/>
                          </a:rPr>
                        </m:ctrlPr>
                      </m:sSubSupPr>
                      <m:e>
                        <m:r>
                          <a:rPr lang="en-US" altLang="ko-KR" b="0" i="1" smtClean="0">
                            <a:latin typeface="Cambria Math" panose="02040503050406030204" pitchFamily="18" charset="0"/>
                          </a:rPr>
                          <m:t>𝑠</m:t>
                        </m:r>
                      </m:e>
                      <m:sub>
                        <m:r>
                          <a:rPr lang="en-US" altLang="ko-KR" b="0" i="1" smtClean="0">
                            <a:latin typeface="Cambria Math" panose="02040503050406030204" pitchFamily="18" charset="0"/>
                          </a:rPr>
                          <m:t>𝜙</m:t>
                        </m:r>
                      </m:sub>
                      <m:sup>
                        <m:r>
                          <a:rPr lang="en-US" altLang="ko-KR" b="0" i="1" smtClean="0">
                            <a:latin typeface="Cambria Math" panose="02040503050406030204" pitchFamily="18" charset="0"/>
                          </a:rPr>
                          <m:t>2</m:t>
                        </m:r>
                      </m:sup>
                    </m:sSubSup>
                    <m:r>
                      <a:rPr lang="en-US" altLang="ko-KR" b="0" i="1" smtClean="0">
                        <a:latin typeface="Cambria Math" panose="02040503050406030204" pitchFamily="18" charset="0"/>
                      </a:rPr>
                      <m:t>, </m:t>
                    </m:r>
                    <m:sSubSup>
                      <m:sSubSupPr>
                        <m:ctrlPr>
                          <a:rPr lang="en-US" altLang="ko-KR" b="0" i="1" smtClean="0">
                            <a:latin typeface="Cambria Math" panose="02040503050406030204" pitchFamily="18" charset="0"/>
                          </a:rPr>
                        </m:ctrlPr>
                      </m:sSubSupPr>
                      <m:e>
                        <m:r>
                          <a:rPr lang="en-US" altLang="ko-KR" b="0" i="1" smtClean="0">
                            <a:latin typeface="Cambria Math" panose="02040503050406030204" pitchFamily="18" charset="0"/>
                          </a:rPr>
                          <m:t>𝑠</m:t>
                        </m:r>
                      </m:e>
                      <m:sub>
                        <m:r>
                          <a:rPr lang="en-US" altLang="ko-KR" b="0" i="1" smtClean="0">
                            <a:latin typeface="Cambria Math" panose="02040503050406030204" pitchFamily="18" charset="0"/>
                          </a:rPr>
                          <m:t>𝛾</m:t>
                        </m:r>
                      </m:sub>
                      <m:sup>
                        <m:r>
                          <a:rPr lang="en-US" altLang="ko-KR" b="0" i="1" smtClean="0">
                            <a:latin typeface="Cambria Math" panose="02040503050406030204" pitchFamily="18" charset="0"/>
                          </a:rPr>
                          <m:t>1</m:t>
                        </m:r>
                      </m:sup>
                    </m:sSubSup>
                  </m:oMath>
                </a14:m>
                <a:r>
                  <a:rPr lang="en-US" altLang="ko-KR" dirty="0"/>
                  <a:t> and </a:t>
                </a:r>
                <a14:m>
                  <m:oMath xmlns:m="http://schemas.openxmlformats.org/officeDocument/2006/math">
                    <m:sSubSup>
                      <m:sSubSupPr>
                        <m:ctrlPr>
                          <a:rPr lang="en-US" altLang="ko-KR" b="0" i="1" smtClean="0">
                            <a:latin typeface="Cambria Math" panose="02040503050406030204" pitchFamily="18" charset="0"/>
                          </a:rPr>
                        </m:ctrlPr>
                      </m:sSubSupPr>
                      <m:e>
                        <m:r>
                          <a:rPr lang="en-US" altLang="ko-KR" b="0" i="1" smtClean="0">
                            <a:latin typeface="Cambria Math" panose="02040503050406030204" pitchFamily="18" charset="0"/>
                          </a:rPr>
                          <m:t>𝑠</m:t>
                        </m:r>
                      </m:e>
                      <m:sub>
                        <m:r>
                          <a:rPr lang="en-US" altLang="ko-KR" b="0" i="1" smtClean="0">
                            <a:latin typeface="Cambria Math" panose="02040503050406030204" pitchFamily="18" charset="0"/>
                          </a:rPr>
                          <m:t>𝛾</m:t>
                        </m:r>
                      </m:sub>
                      <m:sup>
                        <m:r>
                          <a:rPr lang="en-US" altLang="ko-KR" b="0" i="1" smtClean="0">
                            <a:latin typeface="Cambria Math" panose="02040503050406030204" pitchFamily="18" charset="0"/>
                          </a:rPr>
                          <m:t>2</m:t>
                        </m:r>
                      </m:sup>
                    </m:sSubSup>
                  </m:oMath>
                </a14:m>
                <a:r>
                  <a:rPr lang="en-US" altLang="ko-KR" dirty="0"/>
                  <a:t>, shown from left to right. Note that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1</m:t>
                        </m:r>
                      </m:sub>
                    </m:sSub>
                    <m:r>
                      <a:rPr lang="en-US" altLang="ko-KR" b="0" i="1" smtClean="0">
                        <a:latin typeface="Cambria Math" panose="02040503050406030204" pitchFamily="18" charset="0"/>
                      </a:rPr>
                      <m:t>, </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2</m:t>
                        </m:r>
                      </m:sub>
                    </m:sSub>
                  </m:oMath>
                </a14:m>
                <a:r>
                  <a:rPr lang="en-US" altLang="ko-KR" dirty="0"/>
                  <a:t> and </a:t>
                </a:r>
                <a14:m>
                  <m:oMath xmlns:m="http://schemas.openxmlformats.org/officeDocument/2006/math">
                    <m:r>
                      <a:rPr lang="en-US" altLang="ko-KR" b="0" i="1" smtClean="0">
                        <a:latin typeface="Cambria Math" panose="02040503050406030204" pitchFamily="18" charset="0"/>
                      </a:rPr>
                      <m:t>𝛿</m:t>
                    </m:r>
                  </m:oMath>
                </a14:m>
                <a:r>
                  <a:rPr lang="en-US" altLang="ko-KR" dirty="0"/>
                  <a:t> must all be positive in the final solution. Among all combinations, the one yields the smallest determinant value </a:t>
                </a:r>
                <a:r>
                  <a:rPr lang="en-US" altLang="ko-KR" i="1" dirty="0"/>
                  <a:t>D</a:t>
                </a:r>
                <a:r>
                  <a:rPr lang="en-US" altLang="ko-KR" dirty="0"/>
                  <a:t>, and is therefore identified as the correct solution</a:t>
                </a:r>
              </a:p>
            </p:txBody>
          </p:sp>
        </mc:Choice>
        <mc:Fallback xmlns="">
          <p:sp>
            <p:nvSpPr>
              <p:cNvPr id="37" name="Text Box 18">
                <a:extLst>
                  <a:ext uri="{FF2B5EF4-FFF2-40B4-BE49-F238E27FC236}">
                    <a16:creationId xmlns:a16="http://schemas.microsoft.com/office/drawing/2014/main" id="{B5119E4D-3498-AB74-76BF-7EA26E40744D}"/>
                  </a:ext>
                </a:extLst>
              </p:cNvPr>
              <p:cNvSpPr txBox="1">
                <a:spLocks noRot="1" noChangeAspect="1" noMove="1" noResize="1" noEditPoints="1" noAdjustHandles="1" noChangeArrowheads="1" noChangeShapeType="1" noTextEdit="1"/>
              </p:cNvSpPr>
              <p:nvPr/>
            </p:nvSpPr>
            <p:spPr bwMode="auto">
              <a:xfrm>
                <a:off x="15453360" y="18983402"/>
                <a:ext cx="7280959" cy="6381234"/>
              </a:xfrm>
              <a:prstGeom prst="rect">
                <a:avLst/>
              </a:prstGeom>
              <a:blipFill>
                <a:blip r:embed="rId34"/>
                <a:stretch>
                  <a:fillRect l="-2931" t="-1719" r="-2010" b="-1242"/>
                </a:stretch>
              </a:blipFill>
              <a:ln w="9525">
                <a:noFill/>
                <a:miter lim="800000"/>
                <a:headEnd/>
                <a:tailEn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8" name="Text Box 18">
                <a:extLst>
                  <a:ext uri="{FF2B5EF4-FFF2-40B4-BE49-F238E27FC236}">
                    <a16:creationId xmlns:a16="http://schemas.microsoft.com/office/drawing/2014/main" id="{A7D65C91-F5DE-C394-36CB-79502CD81A8C}"/>
                  </a:ext>
                </a:extLst>
              </p:cNvPr>
              <p:cNvSpPr txBox="1">
                <a:spLocks noChangeArrowheads="1"/>
              </p:cNvSpPr>
              <p:nvPr/>
            </p:nvSpPr>
            <p:spPr bwMode="auto">
              <a:xfrm>
                <a:off x="29409467" y="19221966"/>
                <a:ext cx="7413344" cy="10158743"/>
              </a:xfrm>
              <a:prstGeom prst="rect">
                <a:avLst/>
              </a:prstGeom>
              <a:noFill/>
              <a:ln w="9525">
                <a:noFill/>
                <a:miter lim="800000"/>
                <a:headEnd/>
                <a:tailEnd/>
              </a:ln>
              <a:effectLst/>
            </p:spPr>
            <p:txBody>
              <a:bodyPr wrap="square">
                <a:spAutoFit/>
              </a:bodyPr>
              <a:lstStyle/>
              <a:p>
                <a:pPr algn="just">
                  <a:spcBef>
                    <a:spcPct val="50000"/>
                  </a:spcBef>
                </a:pPr>
                <a:r>
                  <a:rPr lang="en-US" altLang="ko-KR" sz="4000" b="1" i="1" dirty="0"/>
                  <a:t>Conclusion</a:t>
                </a:r>
              </a:p>
              <a:p>
                <a:pPr indent="457200" algn="just">
                  <a:spcBef>
                    <a:spcPct val="50000"/>
                  </a:spcBef>
                </a:pPr>
                <a:r>
                  <a:rPr lang="en-US" altLang="ko-KR" dirty="0"/>
                  <a:t>The entire process is summarized in the right flow chart. Starting with inputs (ephemerides, measurements, and an initial guess </a:t>
                </a:r>
                <a14:m>
                  <m:oMath xmlns:m="http://schemas.openxmlformats.org/officeDocument/2006/math">
                    <m:sSub>
                      <m:sSubPr>
                        <m:ctrlPr>
                          <a:rPr lang="en-US" altLang="ko-KR" i="1" dirty="0" smtClean="0">
                            <a:latin typeface="Cambria Math" panose="02040503050406030204" pitchFamily="18" charset="0"/>
                          </a:rPr>
                        </m:ctrlPr>
                      </m:sSubPr>
                      <m:e>
                        <m:acc>
                          <m:accPr>
                            <m:chr m:val="̂"/>
                            <m:ctrlPr>
                              <a:rPr lang="en-US" altLang="ko-KR" i="1" smtClean="0">
                                <a:latin typeface="Cambria Math" panose="02040503050406030204" pitchFamily="18" charset="0"/>
                              </a:rPr>
                            </m:ctrlPr>
                          </m:accPr>
                          <m:e>
                            <m:r>
                              <a:rPr lang="en-US" altLang="ko-KR" b="0" i="1" smtClean="0">
                                <a:latin typeface="Cambria Math" panose="02040503050406030204" pitchFamily="18" charset="0"/>
                              </a:rPr>
                              <m:t>𝑦</m:t>
                            </m:r>
                          </m:e>
                        </m:acc>
                      </m:e>
                      <m:sub>
                        <m:r>
                          <a:rPr lang="en-US" altLang="ko-KR" b="0" i="1" dirty="0" smtClean="0">
                            <a:latin typeface="Cambria Math" panose="02040503050406030204" pitchFamily="18" charset="0"/>
                          </a:rPr>
                          <m:t>𝑠</m:t>
                        </m:r>
                      </m:sub>
                    </m:sSub>
                  </m:oMath>
                </a14:m>
                <a:r>
                  <a:rPr lang="en-US" altLang="ko-KR" dirty="0"/>
                  <a:t>), we compute the intermediate parameters. When the measurement angle </a:t>
                </a:r>
                <a14:m>
                  <m:oMath xmlns:m="http://schemas.openxmlformats.org/officeDocument/2006/math">
                    <m:r>
                      <a:rPr lang="en-US" altLang="ko-KR" b="0" i="1" smtClean="0">
                        <a:latin typeface="Cambria Math" panose="02040503050406030204" pitchFamily="18" charset="0"/>
                      </a:rPr>
                      <m:t>𝛼</m:t>
                    </m:r>
                  </m:oMath>
                </a14:m>
                <a:r>
                  <a:rPr lang="en-US" altLang="ko-KR" dirty="0"/>
                  <a:t> is greater than 90°, we set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𝑠</m:t>
                        </m:r>
                      </m:e>
                      <m:sub>
                        <m:r>
                          <a:rPr lang="en-US" altLang="ko-KR" i="1">
                            <a:latin typeface="Cambria Math" panose="02040503050406030204" pitchFamily="18" charset="0"/>
                          </a:rPr>
                          <m:t>𝛾</m:t>
                        </m:r>
                      </m:sub>
                    </m:sSub>
                    <m:r>
                      <a:rPr lang="en-US" altLang="ko-KR" i="1">
                        <a:latin typeface="Cambria Math" panose="02040503050406030204" pitchFamily="18" charset="0"/>
                      </a:rPr>
                      <m:t>=−1</m:t>
                    </m:r>
                  </m:oMath>
                </a14:m>
                <a:r>
                  <a:rPr lang="en-US" altLang="ko-KR" dirty="0"/>
                  <a:t> and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𝑠</m:t>
                        </m:r>
                      </m:e>
                      <m:sub>
                        <m:r>
                          <a:rPr lang="en-US" altLang="ko-KR" i="1">
                            <a:latin typeface="Cambria Math" panose="02040503050406030204" pitchFamily="18" charset="0"/>
                          </a:rPr>
                          <m:t>𝜙</m:t>
                        </m:r>
                      </m:sub>
                    </m:sSub>
                    <m:r>
                      <a:rPr lang="en-US" altLang="ko-KR" i="1">
                        <a:latin typeface="Cambria Math" panose="02040503050406030204" pitchFamily="18" charset="0"/>
                      </a:rPr>
                      <m:t>=+1</m:t>
                    </m:r>
                  </m:oMath>
                </a14:m>
                <a:r>
                  <a:rPr lang="en-US" altLang="ko-KR" dirty="0"/>
                  <a:t>; otherwise,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𝑠</m:t>
                        </m:r>
                      </m:e>
                      <m:sub>
                        <m:r>
                          <a:rPr lang="en-US" altLang="ko-KR" i="1">
                            <a:latin typeface="Cambria Math" panose="02040503050406030204" pitchFamily="18" charset="0"/>
                          </a:rPr>
                          <m:t>𝛾</m:t>
                        </m:r>
                      </m:sub>
                    </m:sSub>
                    <m:r>
                      <a:rPr lang="en-US" altLang="ko-KR" i="1">
                        <a:latin typeface="Cambria Math" panose="02040503050406030204" pitchFamily="18" charset="0"/>
                      </a:rPr>
                      <m:t>=1</m:t>
                    </m:r>
                  </m:oMath>
                </a14:m>
                <a:r>
                  <a:rPr lang="en-US" altLang="ko-KR" dirty="0"/>
                  <a:t>. If sign ambiguities still remain, we evaluate the determinant (</a:t>
                </a:r>
                <a:r>
                  <a:rPr lang="en-US" altLang="ko-KR" i="1" dirty="0"/>
                  <a:t>D</a:t>
                </a:r>
                <a:r>
                  <a:rPr lang="en-US" altLang="ko-KR" dirty="0"/>
                  <a:t>) and select the sign combination that results in the smallest </a:t>
                </a:r>
                <a:r>
                  <a:rPr lang="en-US" altLang="ko-KR" i="1" dirty="0"/>
                  <a:t>D</a:t>
                </a:r>
                <a:r>
                  <a:rPr lang="en-US" altLang="ko-KR" dirty="0"/>
                  <a:t>. Finally, we solve the root-finding problem iteratively, updating </a:t>
                </a:r>
                <a14:m>
                  <m:oMath xmlns:m="http://schemas.openxmlformats.org/officeDocument/2006/math">
                    <m:sSub>
                      <m:sSubPr>
                        <m:ctrlPr>
                          <a:rPr lang="en-US" altLang="ko-KR" i="1" dirty="0" smtClean="0">
                            <a:latin typeface="Cambria Math" panose="02040503050406030204" pitchFamily="18" charset="0"/>
                          </a:rPr>
                        </m:ctrlPr>
                      </m:sSubPr>
                      <m:e>
                        <m:acc>
                          <m:accPr>
                            <m:chr m:val="̂"/>
                            <m:ctrlPr>
                              <a:rPr lang="en-US" altLang="ko-KR" i="1" smtClean="0">
                                <a:latin typeface="Cambria Math" panose="02040503050406030204" pitchFamily="18" charset="0"/>
                              </a:rPr>
                            </m:ctrlPr>
                          </m:accPr>
                          <m:e>
                            <m:r>
                              <a:rPr lang="en-US" altLang="ko-KR" b="0" i="1" smtClean="0">
                                <a:latin typeface="Cambria Math" panose="02040503050406030204" pitchFamily="18" charset="0"/>
                              </a:rPr>
                              <m:t>𝑦</m:t>
                            </m:r>
                          </m:e>
                        </m:acc>
                      </m:e>
                      <m:sub>
                        <m:r>
                          <a:rPr lang="en-US" altLang="ko-KR" b="0" i="1" dirty="0" smtClean="0">
                            <a:latin typeface="Cambria Math" panose="02040503050406030204" pitchFamily="18" charset="0"/>
                          </a:rPr>
                          <m:t>𝑠</m:t>
                        </m:r>
                      </m:sub>
                    </m:sSub>
                  </m:oMath>
                </a14:m>
                <a:r>
                  <a:rPr lang="en-US" altLang="ko-KR" dirty="0"/>
                  <a:t> until convergence is achieved.</a:t>
                </a:r>
              </a:p>
              <a:p>
                <a:pPr indent="457200" algn="just">
                  <a:spcBef>
                    <a:spcPct val="50000"/>
                  </a:spcBef>
                </a:pPr>
                <a:r>
                  <a:rPr lang="en-US" altLang="ko-KR" dirty="0"/>
                  <a:t>In our test case, the proposed method demonstrates robustness with respect to the initial guess of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𝑠</m:t>
                        </m:r>
                      </m:sub>
                    </m:sSub>
                  </m:oMath>
                </a14:m>
                <a:r>
                  <a:rPr lang="en-US" altLang="ko-KR" dirty="0"/>
                  <a:t>. Typically, a reliable initial guess can be derived from prior information, such as a reference trajectory. However, even when a poor initial guess was used, with an error of about 10% in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𝑠</m:t>
                        </m:r>
                      </m:sub>
                    </m:sSub>
                  </m:oMath>
                </a14:m>
                <a:r>
                  <a:rPr lang="en-US" altLang="ko-KR" dirty="0"/>
                  <a:t>, the method was still able to successfully converge to the correct solution without any issues.</a:t>
                </a:r>
              </a:p>
              <a:p>
                <a:pPr indent="457200" algn="just">
                  <a:spcBef>
                    <a:spcPct val="50000"/>
                  </a:spcBef>
                </a:pPr>
                <a:r>
                  <a:rPr lang="en-US" altLang="ko-KR" dirty="0"/>
                  <a:t>As the next step, we aim to evaluate the performance of the proposed method under measurement uncertainties. In practice, sensors introduce errors when measuring the unit vectors of planets or the Sun. To assess the impact of these uncertainties, we plan to conduct a Monte Carlo simulation and analyze the resulting accuracy of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𝑠</m:t>
                        </m:r>
                      </m:sub>
                    </m:sSub>
                  </m:oMath>
                </a14:m>
                <a:r>
                  <a:rPr lang="en-US" altLang="ko-KR" dirty="0"/>
                  <a:t>. This resulted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𝑦</m:t>
                        </m:r>
                      </m:e>
                      <m:sub>
                        <m:r>
                          <a:rPr lang="en-US" altLang="ko-KR" b="0" i="1" smtClean="0">
                            <a:latin typeface="Cambria Math" panose="02040503050406030204" pitchFamily="18" charset="0"/>
                          </a:rPr>
                          <m:t>𝑠</m:t>
                        </m:r>
                      </m:sub>
                    </m:sSub>
                  </m:oMath>
                </a14:m>
                <a:r>
                  <a:rPr lang="en-US" altLang="ko-KR" dirty="0"/>
                  <a:t> error can later be mitigated through filtering techniques within the same project framework.</a:t>
                </a:r>
              </a:p>
            </p:txBody>
          </p:sp>
        </mc:Choice>
        <mc:Fallback xmlns="">
          <p:sp>
            <p:nvSpPr>
              <p:cNvPr id="38" name="Text Box 18">
                <a:extLst>
                  <a:ext uri="{FF2B5EF4-FFF2-40B4-BE49-F238E27FC236}">
                    <a16:creationId xmlns:a16="http://schemas.microsoft.com/office/drawing/2014/main" id="{685650C3-41FF-B915-2EBF-273AD448EE94}"/>
                  </a:ext>
                </a:extLst>
              </p:cNvPr>
              <p:cNvSpPr txBox="1">
                <a:spLocks noRot="1" noChangeAspect="1" noMove="1" noResize="1" noEditPoints="1" noAdjustHandles="1" noChangeArrowheads="1" noChangeShapeType="1" noTextEdit="1"/>
              </p:cNvSpPr>
              <p:nvPr/>
            </p:nvSpPr>
            <p:spPr bwMode="auto">
              <a:xfrm>
                <a:off x="29409467" y="19221966"/>
                <a:ext cx="7413344" cy="10158743"/>
              </a:xfrm>
              <a:prstGeom prst="rect">
                <a:avLst/>
              </a:prstGeom>
              <a:blipFill>
                <a:blip r:embed="rId35"/>
                <a:stretch>
                  <a:fillRect l="-2878" t="-1080" r="-2467" b="-420"/>
                </a:stretch>
              </a:blipFill>
              <a:ln w="9525">
                <a:noFill/>
                <a:miter lim="800000"/>
                <a:headEnd/>
                <a:tailEn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 name="Parallelogram 6">
                <a:extLst>
                  <a:ext uri="{FF2B5EF4-FFF2-40B4-BE49-F238E27FC236}">
                    <a16:creationId xmlns:a16="http://schemas.microsoft.com/office/drawing/2014/main" id="{4CA43780-77A4-46B6-EA44-5DEFCC3DBC4F}"/>
                  </a:ext>
                </a:extLst>
              </p:cNvPr>
              <p:cNvSpPr/>
              <p:nvPr/>
            </p:nvSpPr>
            <p:spPr bwMode="auto">
              <a:xfrm>
                <a:off x="37426697" y="19120862"/>
                <a:ext cx="5364356" cy="552681"/>
              </a:xfrm>
              <a:prstGeom prst="parallelogram">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kumimoji="0" lang="en-US" altLang="ko-KR" sz="2400" b="0" i="0" u="none" strike="noStrike" cap="none" normalizeH="0" baseline="0" dirty="0">
                    <a:ln>
                      <a:noFill/>
                    </a:ln>
                    <a:solidFill>
                      <a:schemeClr val="tx1"/>
                    </a:solidFill>
                    <a:effectLst/>
                    <a:latin typeface="Times" charset="0"/>
                  </a:rPr>
                  <a:t>Inputs: </a:t>
                </a:r>
                <a14:m>
                  <m:oMath xmlns:m="http://schemas.openxmlformats.org/officeDocument/2006/math">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𝑅</m:t>
                        </m:r>
                      </m:e>
                      <m:sub>
                        <m:r>
                          <a:rPr kumimoji="0" lang="en-US" altLang="ko-KR" sz="2400" b="0" i="1" u="none" strike="noStrike" cap="none" normalizeH="0" baseline="0" smtClean="0">
                            <a:ln>
                              <a:noFill/>
                            </a:ln>
                            <a:solidFill>
                              <a:schemeClr val="tx1"/>
                            </a:solidFill>
                            <a:effectLst/>
                            <a:latin typeface="Cambria Math" panose="02040503050406030204" pitchFamily="18" charset="0"/>
                          </a:rPr>
                          <m:t>1</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 </m:t>
                    </m:r>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𝑅</m:t>
                        </m:r>
                      </m:e>
                      <m:sub>
                        <m:r>
                          <a:rPr kumimoji="0" lang="en-US" altLang="ko-KR" sz="2400" b="0" i="1" u="none" strike="noStrike" cap="none" normalizeH="0" baseline="0" smtClean="0">
                            <a:ln>
                              <a:noFill/>
                            </a:ln>
                            <a:solidFill>
                              <a:schemeClr val="tx1"/>
                            </a:solidFill>
                            <a:effectLst/>
                            <a:latin typeface="Cambria Math" panose="02040503050406030204" pitchFamily="18" charset="0"/>
                          </a:rPr>
                          <m:t>2</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  </m:t>
                    </m:r>
                    <m:sSub>
                      <m:sSubPr>
                        <m:ctrlPr>
                          <a:rPr lang="en-US" altLang="ko-KR" i="1" dirty="0">
                            <a:latin typeface="Cambria Math" panose="02040503050406030204" pitchFamily="18" charset="0"/>
                          </a:rPr>
                        </m:ctrlPr>
                      </m:sSubPr>
                      <m:e>
                        <m:acc>
                          <m:accPr>
                            <m:chr m:val="̂"/>
                            <m:ctrlPr>
                              <a:rPr lang="en-US" altLang="ko-KR" i="1">
                                <a:latin typeface="Cambria Math" panose="02040503050406030204" pitchFamily="18" charset="0"/>
                              </a:rPr>
                            </m:ctrlPr>
                          </m:accPr>
                          <m:e>
                            <m:r>
                              <a:rPr lang="en-US" altLang="ko-KR" i="1">
                                <a:latin typeface="Cambria Math" panose="02040503050406030204" pitchFamily="18" charset="0"/>
                              </a:rPr>
                              <m:t>𝜌</m:t>
                            </m:r>
                          </m:e>
                        </m:acc>
                      </m:e>
                      <m:sub>
                        <m:r>
                          <a:rPr lang="en-US" altLang="ko-KR" dirty="0">
                            <a:latin typeface="Cambria Math" panose="02040503050406030204" pitchFamily="18" charset="0"/>
                          </a:rPr>
                          <m:t>0</m:t>
                        </m:r>
                      </m:sub>
                    </m:sSub>
                    <m:r>
                      <a:rPr lang="en-US" altLang="ko-KR" b="0" i="0" dirty="0" smtClean="0">
                        <a:latin typeface="Cambria Math" panose="02040503050406030204" pitchFamily="18" charset="0"/>
                      </a:rPr>
                      <m:t>,</m:t>
                    </m:r>
                    <m:sSub>
                      <m:sSubPr>
                        <m:ctrlPr>
                          <a:rPr lang="en-US" altLang="ko-KR" i="1" dirty="0">
                            <a:latin typeface="Cambria Math" panose="02040503050406030204" pitchFamily="18" charset="0"/>
                          </a:rPr>
                        </m:ctrlPr>
                      </m:sSubPr>
                      <m:e>
                        <m:acc>
                          <m:accPr>
                            <m:chr m:val="̂"/>
                            <m:ctrlPr>
                              <a:rPr lang="en-US" altLang="ko-KR" i="1">
                                <a:latin typeface="Cambria Math" panose="02040503050406030204" pitchFamily="18" charset="0"/>
                              </a:rPr>
                            </m:ctrlPr>
                          </m:accPr>
                          <m:e>
                            <m:r>
                              <a:rPr lang="en-US" altLang="ko-KR" i="1">
                                <a:latin typeface="Cambria Math" panose="02040503050406030204" pitchFamily="18" charset="0"/>
                              </a:rPr>
                              <m:t>𝜌</m:t>
                            </m:r>
                          </m:e>
                        </m:acc>
                      </m:e>
                      <m:sub>
                        <m:r>
                          <a:rPr lang="en-US" altLang="ko-KR" b="0" i="0" dirty="0" smtClean="0">
                            <a:latin typeface="Cambria Math" panose="02040503050406030204" pitchFamily="18" charset="0"/>
                          </a:rPr>
                          <m:t>1</m:t>
                        </m:r>
                      </m:sub>
                    </m:sSub>
                    <m:r>
                      <a:rPr lang="en-US" altLang="ko-KR" b="0" i="0" dirty="0" smtClean="0">
                        <a:latin typeface="Cambria Math" panose="02040503050406030204" pitchFamily="18" charset="0"/>
                      </a:rPr>
                      <m:t>,</m:t>
                    </m:r>
                    <m:sSub>
                      <m:sSubPr>
                        <m:ctrlPr>
                          <a:rPr lang="en-US" altLang="ko-KR" i="1" dirty="0">
                            <a:latin typeface="Cambria Math" panose="02040503050406030204" pitchFamily="18" charset="0"/>
                          </a:rPr>
                        </m:ctrlPr>
                      </m:sSubPr>
                      <m:e>
                        <m:acc>
                          <m:accPr>
                            <m:chr m:val="̂"/>
                            <m:ctrlPr>
                              <a:rPr lang="en-US" altLang="ko-KR" i="1">
                                <a:latin typeface="Cambria Math" panose="02040503050406030204" pitchFamily="18" charset="0"/>
                              </a:rPr>
                            </m:ctrlPr>
                          </m:accPr>
                          <m:e>
                            <m:r>
                              <a:rPr lang="en-US" altLang="ko-KR" i="1">
                                <a:latin typeface="Cambria Math" panose="02040503050406030204" pitchFamily="18" charset="0"/>
                              </a:rPr>
                              <m:t>𝜌</m:t>
                            </m:r>
                          </m:e>
                        </m:acc>
                      </m:e>
                      <m:sub>
                        <m:r>
                          <a:rPr lang="en-US" altLang="ko-KR" b="0" i="0" dirty="0" smtClean="0">
                            <a:latin typeface="Cambria Math" panose="02040503050406030204" pitchFamily="18" charset="0"/>
                          </a:rPr>
                          <m:t>2</m:t>
                        </m:r>
                      </m:sub>
                    </m:sSub>
                    <m:r>
                      <a:rPr lang="en-US" altLang="ko-KR" b="0" i="0" dirty="0" smtClean="0">
                        <a:latin typeface="Cambria Math" panose="02040503050406030204" pitchFamily="18" charset="0"/>
                      </a:rPr>
                      <m:t>, </m:t>
                    </m:r>
                    <m:sSub>
                      <m:sSubPr>
                        <m:ctrlPr>
                          <a:rPr lang="en-US" altLang="ko-KR" b="0" i="1" dirty="0" smtClean="0">
                            <a:latin typeface="Cambria Math" panose="02040503050406030204" pitchFamily="18" charset="0"/>
                          </a:rPr>
                        </m:ctrlPr>
                      </m:sSubPr>
                      <m:e>
                        <m:acc>
                          <m:accPr>
                            <m:chr m:val="̂"/>
                            <m:ctrlPr>
                              <a:rPr lang="en-US" altLang="ko-KR" b="0" i="1" dirty="0" smtClean="0">
                                <a:latin typeface="Cambria Math" panose="02040503050406030204" pitchFamily="18" charset="0"/>
                              </a:rPr>
                            </m:ctrlPr>
                          </m:accPr>
                          <m:e>
                            <m:r>
                              <m:rPr>
                                <m:sty m:val="p"/>
                              </m:rPr>
                              <a:rPr lang="en-US" altLang="ko-KR" b="0" i="0" dirty="0" smtClean="0">
                                <a:latin typeface="Cambria Math" panose="02040503050406030204" pitchFamily="18" charset="0"/>
                              </a:rPr>
                              <m:t>y</m:t>
                            </m:r>
                          </m:e>
                        </m:acc>
                      </m:e>
                      <m:sub>
                        <m:r>
                          <m:rPr>
                            <m:sty m:val="p"/>
                          </m:rPr>
                          <a:rPr lang="en-US" altLang="ko-KR" b="0" i="0" dirty="0" smtClean="0">
                            <a:latin typeface="Cambria Math" panose="02040503050406030204" pitchFamily="18" charset="0"/>
                          </a:rPr>
                          <m:t>s</m:t>
                        </m:r>
                      </m:sub>
                    </m:sSub>
                  </m:oMath>
                </a14:m>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7" name="Parallelogram 6">
                <a:extLst>
                  <a:ext uri="{FF2B5EF4-FFF2-40B4-BE49-F238E27FC236}">
                    <a16:creationId xmlns:a16="http://schemas.microsoft.com/office/drawing/2014/main" id="{B151092A-D4B6-7B75-0AFF-E8C4E0FBFC1D}"/>
                  </a:ext>
                </a:extLst>
              </p:cNvPr>
              <p:cNvSpPr>
                <a:spLocks noRot="1" noChangeAspect="1" noMove="1" noResize="1" noEditPoints="1" noAdjustHandles="1" noChangeArrowheads="1" noChangeShapeType="1" noTextEdit="1"/>
              </p:cNvSpPr>
              <p:nvPr/>
            </p:nvSpPr>
            <p:spPr bwMode="auto">
              <a:xfrm>
                <a:off x="37426697" y="19120862"/>
                <a:ext cx="5364356" cy="552681"/>
              </a:xfrm>
              <a:prstGeom prst="parallelogram">
                <a:avLst/>
              </a:prstGeom>
              <a:blipFill>
                <a:blip r:embed="rId36"/>
                <a:stretch>
                  <a:fillRect b="-13542"/>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EF917934-A8B9-A2B8-9C7E-5AEAE7584531}"/>
                  </a:ext>
                </a:extLst>
              </p:cNvPr>
              <p:cNvSpPr/>
              <p:nvPr/>
            </p:nvSpPr>
            <p:spPr bwMode="auto">
              <a:xfrm>
                <a:off x="38552216" y="20006645"/>
                <a:ext cx="3108960" cy="522542"/>
              </a:xfrm>
              <a:prstGeom prst="rect">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ko-KR" sz="2400" b="0" i="0" u="none" strike="noStrike" cap="none" normalizeH="0" baseline="0" dirty="0">
                    <a:ln>
                      <a:noFill/>
                    </a:ln>
                    <a:solidFill>
                      <a:schemeClr val="tx1"/>
                    </a:solidFill>
                    <a:effectLst/>
                    <a:latin typeface="Times" charset="0"/>
                  </a:rPr>
                  <a:t>Compute: </a:t>
                </a:r>
                <a14:m>
                  <m:oMath xmlns:m="http://schemas.openxmlformats.org/officeDocument/2006/math">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𝛼</m:t>
                        </m:r>
                      </m:e>
                      <m:sub>
                        <m:r>
                          <a:rPr kumimoji="0" lang="en-US" altLang="ko-KR" sz="2400" b="0" i="1" u="none" strike="noStrike" cap="none" normalizeH="0" baseline="0" smtClean="0">
                            <a:ln>
                              <a:noFill/>
                            </a:ln>
                            <a:solidFill>
                              <a:schemeClr val="tx1"/>
                            </a:solidFill>
                            <a:effectLst/>
                            <a:latin typeface="Cambria Math" panose="02040503050406030204" pitchFamily="18" charset="0"/>
                          </a:rPr>
                          <m:t>𝑖</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 </m:t>
                    </m:r>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𝑅</m:t>
                        </m:r>
                      </m:e>
                      <m:sub>
                        <m:r>
                          <a:rPr kumimoji="0" lang="en-US" altLang="ko-KR" sz="2400" b="0" i="1" u="none" strike="noStrike" cap="none" normalizeH="0" baseline="0" smtClean="0">
                            <a:ln>
                              <a:noFill/>
                            </a:ln>
                            <a:solidFill>
                              <a:schemeClr val="tx1"/>
                            </a:solidFill>
                            <a:effectLst/>
                            <a:latin typeface="Cambria Math" panose="02040503050406030204" pitchFamily="18" charset="0"/>
                          </a:rPr>
                          <m:t>𝑖</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 </m:t>
                    </m:r>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𝑥</m:t>
                        </m:r>
                      </m:e>
                      <m:sub>
                        <m:r>
                          <a:rPr kumimoji="0" lang="en-US" altLang="ko-KR" sz="2400" b="0" i="1" u="none" strike="noStrike" cap="none" normalizeH="0" baseline="0" smtClean="0">
                            <a:ln>
                              <a:noFill/>
                            </a:ln>
                            <a:solidFill>
                              <a:schemeClr val="tx1"/>
                            </a:solidFill>
                            <a:effectLst/>
                            <a:latin typeface="Cambria Math" panose="02040503050406030204" pitchFamily="18" charset="0"/>
                          </a:rPr>
                          <m:t>𝑐</m:t>
                        </m:r>
                        <m:r>
                          <a:rPr kumimoji="0" lang="en-US" altLang="ko-KR" sz="2400" b="0" i="1" u="none" strike="noStrike" cap="none" normalizeH="0" baseline="0" smtClean="0">
                            <a:ln>
                              <a:noFill/>
                            </a:ln>
                            <a:solidFill>
                              <a:schemeClr val="tx1"/>
                            </a:solidFill>
                            <a:effectLst/>
                            <a:latin typeface="Cambria Math" panose="02040503050406030204" pitchFamily="18" charset="0"/>
                          </a:rPr>
                          <m:t>, </m:t>
                        </m:r>
                        <m:r>
                          <a:rPr kumimoji="0" lang="en-US" altLang="ko-KR" sz="2400" b="0" i="1" u="none" strike="noStrike" cap="none" normalizeH="0" baseline="0" smtClean="0">
                            <a:ln>
                              <a:noFill/>
                            </a:ln>
                            <a:solidFill>
                              <a:schemeClr val="tx1"/>
                            </a:solidFill>
                            <a:effectLst/>
                            <a:latin typeface="Cambria Math" panose="02040503050406030204" pitchFamily="18" charset="0"/>
                          </a:rPr>
                          <m:t>𝑖</m:t>
                        </m:r>
                      </m:sub>
                    </m:sSub>
                  </m:oMath>
                </a14:m>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8" name="Rectangle 7">
                <a:extLst>
                  <a:ext uri="{FF2B5EF4-FFF2-40B4-BE49-F238E27FC236}">
                    <a16:creationId xmlns:a16="http://schemas.microsoft.com/office/drawing/2014/main" id="{4D57C08B-8EF4-6B92-3E25-36F35C40D7A9}"/>
                  </a:ext>
                </a:extLst>
              </p:cNvPr>
              <p:cNvSpPr>
                <a:spLocks noRot="1" noChangeAspect="1" noMove="1" noResize="1" noEditPoints="1" noAdjustHandles="1" noChangeArrowheads="1" noChangeShapeType="1" noTextEdit="1"/>
              </p:cNvSpPr>
              <p:nvPr/>
            </p:nvSpPr>
            <p:spPr bwMode="auto">
              <a:xfrm>
                <a:off x="38552216" y="20006645"/>
                <a:ext cx="3108960" cy="522542"/>
              </a:xfrm>
              <a:prstGeom prst="rect">
                <a:avLst/>
              </a:prstGeom>
              <a:blipFill>
                <a:blip r:embed="rId37"/>
                <a:stretch>
                  <a:fillRect t="-5435" b="-9783"/>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402C067A-6519-5839-4047-785252E1CAED}"/>
                  </a:ext>
                </a:extLst>
              </p:cNvPr>
              <p:cNvSpPr/>
              <p:nvPr/>
            </p:nvSpPr>
            <p:spPr bwMode="auto">
              <a:xfrm>
                <a:off x="38554395" y="20862289"/>
                <a:ext cx="3108960" cy="522542"/>
              </a:xfrm>
              <a:prstGeom prst="rect">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ko-KR" sz="2400" b="0" i="0" u="none" strike="noStrike" cap="none" normalizeH="0" baseline="0" dirty="0">
                    <a:ln>
                      <a:noFill/>
                    </a:ln>
                    <a:solidFill>
                      <a:schemeClr val="tx1"/>
                    </a:solidFill>
                    <a:effectLst/>
                    <a:latin typeface="Times" charset="0"/>
                  </a:rPr>
                  <a:t>Compute: </a:t>
                </a:r>
                <a14:m>
                  <m:oMath xmlns:m="http://schemas.openxmlformats.org/officeDocument/2006/math">
                    <m:r>
                      <a:rPr kumimoji="0" lang="en-US" altLang="ko-KR" sz="2400" b="0" i="1" u="none" strike="noStrike" cap="none" normalizeH="0" baseline="0" smtClean="0">
                        <a:ln>
                          <a:noFill/>
                        </a:ln>
                        <a:solidFill>
                          <a:schemeClr val="tx1"/>
                        </a:solidFill>
                        <a:effectLst/>
                        <a:latin typeface="Cambria Math" panose="02040503050406030204" pitchFamily="18" charset="0"/>
                      </a:rPr>
                      <m:t>𝜙</m:t>
                    </m:r>
                    <m:r>
                      <a:rPr kumimoji="0" lang="en-US" altLang="ko-KR" sz="2400" b="0" i="1" u="none" strike="noStrike" cap="none" normalizeH="0" baseline="0" smtClean="0">
                        <a:ln>
                          <a:noFill/>
                        </a:ln>
                        <a:solidFill>
                          <a:schemeClr val="tx1"/>
                        </a:solidFill>
                        <a:effectLst/>
                        <a:latin typeface="Cambria Math" panose="02040503050406030204" pitchFamily="18" charset="0"/>
                      </a:rPr>
                      <m:t>, </m:t>
                    </m:r>
                    <m:r>
                      <a:rPr kumimoji="0" lang="en-US" altLang="ko-KR" sz="2400" b="0" i="1" u="none" strike="noStrike" cap="none" normalizeH="0" baseline="0" smtClean="0">
                        <a:ln>
                          <a:noFill/>
                        </a:ln>
                        <a:solidFill>
                          <a:schemeClr val="tx1"/>
                        </a:solidFill>
                        <a:effectLst/>
                        <a:latin typeface="Cambria Math" panose="02040503050406030204" pitchFamily="18" charset="0"/>
                      </a:rPr>
                      <m:t>𝛾</m:t>
                    </m:r>
                  </m:oMath>
                </a14:m>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9" name="Rectangle 8">
                <a:extLst>
                  <a:ext uri="{FF2B5EF4-FFF2-40B4-BE49-F238E27FC236}">
                    <a16:creationId xmlns:a16="http://schemas.microsoft.com/office/drawing/2014/main" id="{419D75FD-2C63-E683-D0FE-2C1DD67D474D}"/>
                  </a:ext>
                </a:extLst>
              </p:cNvPr>
              <p:cNvSpPr>
                <a:spLocks noRot="1" noChangeAspect="1" noMove="1" noResize="1" noEditPoints="1" noAdjustHandles="1" noChangeArrowheads="1" noChangeShapeType="1" noTextEdit="1"/>
              </p:cNvSpPr>
              <p:nvPr/>
            </p:nvSpPr>
            <p:spPr bwMode="auto">
              <a:xfrm>
                <a:off x="38554395" y="20862289"/>
                <a:ext cx="3108960" cy="522542"/>
              </a:xfrm>
              <a:prstGeom prst="rect">
                <a:avLst/>
              </a:prstGeom>
              <a:blipFill>
                <a:blip r:embed="rId38"/>
                <a:stretch>
                  <a:fillRect t="-5435" b="-9783"/>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 name="Diamond 10">
                <a:extLst>
                  <a:ext uri="{FF2B5EF4-FFF2-40B4-BE49-F238E27FC236}">
                    <a16:creationId xmlns:a16="http://schemas.microsoft.com/office/drawing/2014/main" id="{590585F5-6236-0AFC-BB36-63E0AEF027D9}"/>
                  </a:ext>
                </a:extLst>
              </p:cNvPr>
              <p:cNvSpPr/>
              <p:nvPr/>
            </p:nvSpPr>
            <p:spPr bwMode="auto">
              <a:xfrm>
                <a:off x="38554395" y="21717933"/>
                <a:ext cx="3108960" cy="674942"/>
              </a:xfrm>
              <a:prstGeom prst="diamond">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altLang="ko-KR" sz="2400" b="0" i="1" u="none" strike="noStrike" cap="none" normalizeH="0" baseline="0" smtClean="0">
                          <a:ln>
                            <a:noFill/>
                          </a:ln>
                          <a:solidFill>
                            <a:schemeClr val="tx1"/>
                          </a:solidFill>
                          <a:effectLst/>
                          <a:latin typeface="Cambria Math" panose="02040503050406030204" pitchFamily="18" charset="0"/>
                        </a:rPr>
                        <m:t>𝛼</m:t>
                      </m:r>
                      <m:r>
                        <a:rPr kumimoji="0" lang="en-US" altLang="ko-KR" sz="2400" b="0" i="1" u="none" strike="noStrike" cap="none" normalizeH="0" baseline="0" smtClean="0">
                          <a:ln>
                            <a:noFill/>
                          </a:ln>
                          <a:solidFill>
                            <a:schemeClr val="tx1"/>
                          </a:solidFill>
                          <a:effectLst/>
                          <a:latin typeface="Cambria Math" panose="02040503050406030204" pitchFamily="18" charset="0"/>
                        </a:rPr>
                        <m:t>&gt;90°</m:t>
                      </m:r>
                    </m:oMath>
                  </m:oMathPara>
                </a14:m>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11" name="Diamond 10">
                <a:extLst>
                  <a:ext uri="{FF2B5EF4-FFF2-40B4-BE49-F238E27FC236}">
                    <a16:creationId xmlns:a16="http://schemas.microsoft.com/office/drawing/2014/main" id="{EB4FC238-25B9-9C13-80D4-60EFB6F6D1DC}"/>
                  </a:ext>
                </a:extLst>
              </p:cNvPr>
              <p:cNvSpPr>
                <a:spLocks noRot="1" noChangeAspect="1" noMove="1" noResize="1" noEditPoints="1" noAdjustHandles="1" noChangeArrowheads="1" noChangeShapeType="1" noTextEdit="1"/>
              </p:cNvSpPr>
              <p:nvPr/>
            </p:nvSpPr>
            <p:spPr bwMode="auto">
              <a:xfrm>
                <a:off x="38554395" y="21717933"/>
                <a:ext cx="3108960" cy="674942"/>
              </a:xfrm>
              <a:prstGeom prst="diamond">
                <a:avLst/>
              </a:prstGeom>
              <a:blipFill>
                <a:blip r:embed="rId39"/>
                <a:stretch>
                  <a:fillRect/>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C70361FB-BBD4-C26E-50E9-EEC79664505E}"/>
                  </a:ext>
                </a:extLst>
              </p:cNvPr>
              <p:cNvSpPr/>
              <p:nvPr/>
            </p:nvSpPr>
            <p:spPr bwMode="auto">
              <a:xfrm>
                <a:off x="36822811" y="22713833"/>
                <a:ext cx="3108960" cy="522542"/>
              </a:xfrm>
              <a:prstGeom prst="rect">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𝑠</m:t>
                          </m:r>
                        </m:e>
                        <m:sub>
                          <m:r>
                            <a:rPr kumimoji="0" lang="en-US" altLang="ko-KR" sz="2400" b="0" i="1" u="none" strike="noStrike" cap="none" normalizeH="0" baseline="0" smtClean="0">
                              <a:ln>
                                <a:noFill/>
                              </a:ln>
                              <a:solidFill>
                                <a:schemeClr val="tx1"/>
                              </a:solidFill>
                              <a:effectLst/>
                              <a:latin typeface="Cambria Math" panose="02040503050406030204" pitchFamily="18" charset="0"/>
                            </a:rPr>
                            <m:t>𝛾</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=−1, </m:t>
                      </m:r>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𝑠</m:t>
                          </m:r>
                        </m:e>
                        <m:sub>
                          <m:r>
                            <a:rPr kumimoji="0" lang="en-US" altLang="ko-KR" sz="2400" b="0" i="1" u="none" strike="noStrike" cap="none" normalizeH="0" baseline="0" smtClean="0">
                              <a:ln>
                                <a:noFill/>
                              </a:ln>
                              <a:solidFill>
                                <a:schemeClr val="tx1"/>
                              </a:solidFill>
                              <a:effectLst/>
                              <a:latin typeface="Cambria Math" panose="02040503050406030204" pitchFamily="18" charset="0"/>
                            </a:rPr>
                            <m:t>𝜙</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=+1</m:t>
                      </m:r>
                    </m:oMath>
                  </m:oMathPara>
                </a14:m>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12" name="Rectangle 11">
                <a:extLst>
                  <a:ext uri="{FF2B5EF4-FFF2-40B4-BE49-F238E27FC236}">
                    <a16:creationId xmlns:a16="http://schemas.microsoft.com/office/drawing/2014/main" id="{D9F0ECF2-651B-0C0C-B34C-BD8FB220924C}"/>
                  </a:ext>
                </a:extLst>
              </p:cNvPr>
              <p:cNvSpPr>
                <a:spLocks noRot="1" noChangeAspect="1" noMove="1" noResize="1" noEditPoints="1" noAdjustHandles="1" noChangeArrowheads="1" noChangeShapeType="1" noTextEdit="1"/>
              </p:cNvSpPr>
              <p:nvPr/>
            </p:nvSpPr>
            <p:spPr bwMode="auto">
              <a:xfrm>
                <a:off x="36822811" y="22713833"/>
                <a:ext cx="3108960" cy="522542"/>
              </a:xfrm>
              <a:prstGeom prst="rect">
                <a:avLst/>
              </a:prstGeom>
              <a:blipFill>
                <a:blip r:embed="rId40"/>
                <a:stretch>
                  <a:fillRect b="-2174"/>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DDEEBA-0C6B-5577-C8D9-85A7CBD4CD9A}"/>
                  </a:ext>
                </a:extLst>
              </p:cNvPr>
              <p:cNvSpPr/>
              <p:nvPr/>
            </p:nvSpPr>
            <p:spPr bwMode="auto">
              <a:xfrm>
                <a:off x="40270793" y="22725977"/>
                <a:ext cx="3108960" cy="522542"/>
              </a:xfrm>
              <a:prstGeom prst="rect">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𝑠</m:t>
                          </m:r>
                        </m:e>
                        <m:sub>
                          <m:r>
                            <a:rPr kumimoji="0" lang="en-US" altLang="ko-KR" sz="2400" b="0" i="1" u="none" strike="noStrike" cap="none" normalizeH="0" baseline="0" smtClean="0">
                              <a:ln>
                                <a:noFill/>
                              </a:ln>
                              <a:solidFill>
                                <a:schemeClr val="tx1"/>
                              </a:solidFill>
                              <a:effectLst/>
                              <a:latin typeface="Cambria Math" panose="02040503050406030204" pitchFamily="18" charset="0"/>
                            </a:rPr>
                            <m:t>𝛾</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=1</m:t>
                      </m:r>
                    </m:oMath>
                  </m:oMathPara>
                </a14:m>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13" name="Rectangle 12">
                <a:extLst>
                  <a:ext uri="{FF2B5EF4-FFF2-40B4-BE49-F238E27FC236}">
                    <a16:creationId xmlns:a16="http://schemas.microsoft.com/office/drawing/2014/main" id="{642EACCD-5D03-526F-C143-1D8FC8EC3F37}"/>
                  </a:ext>
                </a:extLst>
              </p:cNvPr>
              <p:cNvSpPr>
                <a:spLocks noRot="1" noChangeAspect="1" noMove="1" noResize="1" noEditPoints="1" noAdjustHandles="1" noChangeArrowheads="1" noChangeShapeType="1" noTextEdit="1"/>
              </p:cNvSpPr>
              <p:nvPr/>
            </p:nvSpPr>
            <p:spPr bwMode="auto">
              <a:xfrm>
                <a:off x="40270793" y="22725977"/>
                <a:ext cx="3108960" cy="522542"/>
              </a:xfrm>
              <a:prstGeom prst="rect">
                <a:avLst/>
              </a:prstGeom>
              <a:blipFill>
                <a:blip r:embed="rId41"/>
                <a:stretch>
                  <a:fillRect/>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6" name="Diamond 15">
                <a:extLst>
                  <a:ext uri="{FF2B5EF4-FFF2-40B4-BE49-F238E27FC236}">
                    <a16:creationId xmlns:a16="http://schemas.microsoft.com/office/drawing/2014/main" id="{7DCD07D8-0301-15C8-67BB-0ABE968F4D13}"/>
                  </a:ext>
                </a:extLst>
              </p:cNvPr>
              <p:cNvSpPr/>
              <p:nvPr/>
            </p:nvSpPr>
            <p:spPr bwMode="auto">
              <a:xfrm>
                <a:off x="38554395" y="23581621"/>
                <a:ext cx="3108960" cy="674942"/>
              </a:xfrm>
              <a:prstGeom prst="diamond">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14:m>
                  <m:oMath xmlns:m="http://schemas.openxmlformats.org/officeDocument/2006/math">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𝑠</m:t>
                        </m:r>
                      </m:e>
                      <m:sub>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𝜙</m:t>
                            </m:r>
                          </m:e>
                          <m:sub>
                            <m:r>
                              <a:rPr kumimoji="0" lang="en-US" altLang="ko-KR" sz="2400" b="0" i="1" u="none" strike="noStrike" cap="none" normalizeH="0" baseline="0" smtClean="0">
                                <a:ln>
                                  <a:noFill/>
                                </a:ln>
                                <a:solidFill>
                                  <a:schemeClr val="tx1"/>
                                </a:solidFill>
                                <a:effectLst/>
                                <a:latin typeface="Cambria Math" panose="02040503050406030204" pitchFamily="18" charset="0"/>
                              </a:rPr>
                              <m:t>𝑖</m:t>
                            </m:r>
                          </m:sub>
                        </m:sSub>
                      </m:sub>
                    </m:sSub>
                  </m:oMath>
                </a14:m>
                <a:r>
                  <a:rPr kumimoji="0" lang="ko-KR" altLang="en-US" sz="2400" b="0" i="0" u="none" strike="noStrike" cap="none" normalizeH="0" baseline="0" dirty="0">
                    <a:ln>
                      <a:noFill/>
                    </a:ln>
                    <a:solidFill>
                      <a:schemeClr val="tx1"/>
                    </a:solidFill>
                    <a:effectLst/>
                    <a:latin typeface="Times" charset="0"/>
                  </a:rPr>
                  <a:t> </a:t>
                </a:r>
                <a:r>
                  <a:rPr kumimoji="0" lang="en-US" altLang="ko-KR" sz="2400" b="0" i="0" u="none" strike="noStrike" cap="none" normalizeH="0" baseline="0" dirty="0">
                    <a:ln>
                      <a:noFill/>
                    </a:ln>
                    <a:solidFill>
                      <a:schemeClr val="tx1"/>
                    </a:solidFill>
                    <a:effectLst/>
                    <a:latin typeface="Times" charset="0"/>
                  </a:rPr>
                  <a:t>fixed?</a:t>
                </a:r>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16" name="Diamond 15">
                <a:extLst>
                  <a:ext uri="{FF2B5EF4-FFF2-40B4-BE49-F238E27FC236}">
                    <a16:creationId xmlns:a16="http://schemas.microsoft.com/office/drawing/2014/main" id="{29870BC0-10E3-2655-D9D6-A0C72B150DC9}"/>
                  </a:ext>
                </a:extLst>
              </p:cNvPr>
              <p:cNvSpPr>
                <a:spLocks noRot="1" noChangeAspect="1" noMove="1" noResize="1" noEditPoints="1" noAdjustHandles="1" noChangeArrowheads="1" noChangeShapeType="1" noTextEdit="1"/>
              </p:cNvSpPr>
              <p:nvPr/>
            </p:nvSpPr>
            <p:spPr bwMode="auto">
              <a:xfrm>
                <a:off x="38554395" y="23581621"/>
                <a:ext cx="3108960" cy="674942"/>
              </a:xfrm>
              <a:prstGeom prst="diamond">
                <a:avLst/>
              </a:prstGeom>
              <a:blipFill>
                <a:blip r:embed="rId42"/>
                <a:stretch>
                  <a:fillRect b="-10256"/>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BCF70652-006E-4EAC-0E1C-167FA09D2038}"/>
                  </a:ext>
                </a:extLst>
              </p:cNvPr>
              <p:cNvSpPr/>
              <p:nvPr/>
            </p:nvSpPr>
            <p:spPr bwMode="auto">
              <a:xfrm>
                <a:off x="40270793" y="24589665"/>
                <a:ext cx="3108960" cy="522542"/>
              </a:xfrm>
              <a:prstGeom prst="rect">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ko-KR" sz="2400" b="0" i="0" u="none" strike="noStrike" cap="none" normalizeH="0" baseline="0" dirty="0">
                    <a:ln>
                      <a:noFill/>
                    </a:ln>
                    <a:solidFill>
                      <a:schemeClr val="tx1"/>
                    </a:solidFill>
                    <a:effectLst/>
                    <a:latin typeface="Times" charset="0"/>
                  </a:rPr>
                  <a:t>Compute: </a:t>
                </a:r>
                <a14:m>
                  <m:oMath xmlns:m="http://schemas.openxmlformats.org/officeDocument/2006/math">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𝑦</m:t>
                        </m:r>
                      </m:e>
                      <m:sub>
                        <m:r>
                          <a:rPr kumimoji="0" lang="en-US" altLang="ko-KR" sz="2400" b="0" i="1" u="none" strike="noStrike" cap="none" normalizeH="0" baseline="0" smtClean="0">
                            <a:ln>
                              <a:noFill/>
                            </a:ln>
                            <a:solidFill>
                              <a:schemeClr val="tx1"/>
                            </a:solidFill>
                            <a:effectLst/>
                            <a:latin typeface="Cambria Math" panose="02040503050406030204" pitchFamily="18" charset="0"/>
                          </a:rPr>
                          <m:t>1</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 </m:t>
                    </m:r>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𝑦</m:t>
                        </m:r>
                      </m:e>
                      <m:sub>
                        <m:r>
                          <a:rPr kumimoji="0" lang="en-US" altLang="ko-KR" sz="2400" b="0" i="1" u="none" strike="noStrike" cap="none" normalizeH="0" baseline="0" smtClean="0">
                            <a:ln>
                              <a:noFill/>
                            </a:ln>
                            <a:solidFill>
                              <a:schemeClr val="tx1"/>
                            </a:solidFill>
                            <a:effectLst/>
                            <a:latin typeface="Cambria Math" panose="02040503050406030204" pitchFamily="18" charset="0"/>
                          </a:rPr>
                          <m:t>2</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 </m:t>
                    </m:r>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𝑟</m:t>
                        </m:r>
                      </m:e>
                      <m:sub>
                        <m:r>
                          <a:rPr kumimoji="0" lang="en-US" altLang="ko-KR" sz="2400" b="0" i="1" u="none" strike="noStrike" cap="none" normalizeH="0" baseline="0" smtClean="0">
                            <a:ln>
                              <a:noFill/>
                            </a:ln>
                            <a:solidFill>
                              <a:schemeClr val="tx1"/>
                            </a:solidFill>
                            <a:effectLst/>
                            <a:latin typeface="Cambria Math" panose="02040503050406030204" pitchFamily="18" charset="0"/>
                          </a:rPr>
                          <m:t>3</m:t>
                        </m:r>
                      </m:sub>
                    </m:sSub>
                    <m:r>
                      <a:rPr kumimoji="0" lang="en-US" altLang="ko-KR" sz="2400" b="0" i="1" u="none" strike="noStrike" cap="none" normalizeH="0" baseline="0" smtClean="0">
                        <a:ln>
                          <a:noFill/>
                        </a:ln>
                        <a:solidFill>
                          <a:schemeClr val="tx1"/>
                        </a:solidFill>
                        <a:effectLst/>
                        <a:latin typeface="Cambria Math" panose="02040503050406030204" pitchFamily="18" charset="0"/>
                      </a:rPr>
                      <m:t>, </m:t>
                    </m:r>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𝛼</m:t>
                        </m:r>
                      </m:e>
                      <m:sub>
                        <m:r>
                          <a:rPr kumimoji="0" lang="en-US" altLang="ko-KR" sz="2400" b="0" i="1" u="none" strike="noStrike" cap="none" normalizeH="0" baseline="0" smtClean="0">
                            <a:ln>
                              <a:noFill/>
                            </a:ln>
                            <a:solidFill>
                              <a:schemeClr val="tx1"/>
                            </a:solidFill>
                            <a:effectLst/>
                            <a:latin typeface="Cambria Math" panose="02040503050406030204" pitchFamily="18" charset="0"/>
                          </a:rPr>
                          <m:t>3</m:t>
                        </m:r>
                      </m:sub>
                    </m:sSub>
                  </m:oMath>
                </a14:m>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17" name="Rectangle 16">
                <a:extLst>
                  <a:ext uri="{FF2B5EF4-FFF2-40B4-BE49-F238E27FC236}">
                    <a16:creationId xmlns:a16="http://schemas.microsoft.com/office/drawing/2014/main" id="{AF8E2A1B-A4D9-60B4-121E-827C1A40E618}"/>
                  </a:ext>
                </a:extLst>
              </p:cNvPr>
              <p:cNvSpPr>
                <a:spLocks noRot="1" noChangeAspect="1" noMove="1" noResize="1" noEditPoints="1" noAdjustHandles="1" noChangeArrowheads="1" noChangeShapeType="1" noTextEdit="1"/>
              </p:cNvSpPr>
              <p:nvPr/>
            </p:nvSpPr>
            <p:spPr bwMode="auto">
              <a:xfrm>
                <a:off x="40270793" y="24589665"/>
                <a:ext cx="3108960" cy="522542"/>
              </a:xfrm>
              <a:prstGeom prst="rect">
                <a:avLst/>
              </a:prstGeom>
              <a:blipFill>
                <a:blip r:embed="rId43"/>
                <a:stretch>
                  <a:fillRect l="-194" t="-5495" b="-10989"/>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CBB8CBF9-E84E-EC28-9016-E11191185A12}"/>
                  </a:ext>
                </a:extLst>
              </p:cNvPr>
              <p:cNvSpPr/>
              <p:nvPr/>
            </p:nvSpPr>
            <p:spPr bwMode="auto">
              <a:xfrm>
                <a:off x="40270793" y="25445309"/>
                <a:ext cx="3108960" cy="522542"/>
              </a:xfrm>
              <a:prstGeom prst="rect">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ko-KR" sz="2400" b="0" i="0" u="none" strike="noStrike" cap="none" normalizeH="0" baseline="0" dirty="0">
                    <a:ln>
                      <a:noFill/>
                    </a:ln>
                    <a:solidFill>
                      <a:schemeClr val="tx1"/>
                    </a:solidFill>
                    <a:effectLst/>
                    <a:latin typeface="Times" charset="0"/>
                  </a:rPr>
                  <a:t>Compute: </a:t>
                </a:r>
                <a14:m>
                  <m:oMath xmlns:m="http://schemas.openxmlformats.org/officeDocument/2006/math">
                    <m:r>
                      <a:rPr kumimoji="0" lang="en-US" altLang="ko-KR" sz="2400" b="0" i="1" u="none" strike="noStrike" cap="none" normalizeH="0" baseline="0" smtClean="0">
                        <a:ln>
                          <a:noFill/>
                        </a:ln>
                        <a:solidFill>
                          <a:schemeClr val="tx1"/>
                        </a:solidFill>
                        <a:effectLst/>
                        <a:latin typeface="Cambria Math" panose="02040503050406030204" pitchFamily="18" charset="0"/>
                      </a:rPr>
                      <m:t>𝐷</m:t>
                    </m:r>
                  </m:oMath>
                </a14:m>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42" name="Rectangle 41">
                <a:extLst>
                  <a:ext uri="{FF2B5EF4-FFF2-40B4-BE49-F238E27FC236}">
                    <a16:creationId xmlns:a16="http://schemas.microsoft.com/office/drawing/2014/main" id="{706DCB68-028E-E276-5286-855A53D6E16F}"/>
                  </a:ext>
                </a:extLst>
              </p:cNvPr>
              <p:cNvSpPr>
                <a:spLocks noRot="1" noChangeAspect="1" noMove="1" noResize="1" noEditPoints="1" noAdjustHandles="1" noChangeArrowheads="1" noChangeShapeType="1" noTextEdit="1"/>
              </p:cNvSpPr>
              <p:nvPr/>
            </p:nvSpPr>
            <p:spPr bwMode="auto">
              <a:xfrm>
                <a:off x="40270793" y="25445309"/>
                <a:ext cx="3108960" cy="522542"/>
              </a:xfrm>
              <a:prstGeom prst="rect">
                <a:avLst/>
              </a:prstGeom>
              <a:blipFill>
                <a:blip r:embed="rId44"/>
                <a:stretch>
                  <a:fillRect t="-5435" b="-9783"/>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p:sp>
        <p:nvSpPr>
          <p:cNvPr id="43" name="Rectangle 42">
            <a:extLst>
              <a:ext uri="{FF2B5EF4-FFF2-40B4-BE49-F238E27FC236}">
                <a16:creationId xmlns:a16="http://schemas.microsoft.com/office/drawing/2014/main" id="{B45BB017-2B46-3734-2FA2-7799FDE2A0EB}"/>
              </a:ext>
            </a:extLst>
          </p:cNvPr>
          <p:cNvSpPr/>
          <p:nvPr/>
        </p:nvSpPr>
        <p:spPr bwMode="auto">
          <a:xfrm>
            <a:off x="40270793" y="26300953"/>
            <a:ext cx="3108960" cy="786950"/>
          </a:xfrm>
          <a:prstGeom prst="rect">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ko-KR" sz="2400" b="0" i="0" u="none" strike="noStrike" cap="none" normalizeH="0" baseline="0" dirty="0">
                <a:ln>
                  <a:noFill/>
                </a:ln>
                <a:solidFill>
                  <a:schemeClr val="tx1"/>
                </a:solidFill>
                <a:effectLst/>
                <a:latin typeface="Times" charset="0"/>
              </a:rPr>
              <a:t>Choose signs to minimize </a:t>
            </a:r>
            <a:r>
              <a:rPr kumimoji="0" lang="en-US" altLang="ko-KR" sz="2400" b="0" i="1" u="none" strike="noStrike" cap="none" normalizeH="0" baseline="0" dirty="0">
                <a:ln>
                  <a:noFill/>
                </a:ln>
                <a:solidFill>
                  <a:schemeClr val="tx1"/>
                </a:solidFill>
                <a:effectLst/>
                <a:latin typeface="Times" charset="0"/>
              </a:rPr>
              <a:t>D</a:t>
            </a:r>
            <a:endParaRPr kumimoji="0" lang="ko-KR" altLang="en-US" sz="2400" b="0" i="1" u="none" strike="noStrike" cap="none" normalizeH="0" baseline="0" dirty="0">
              <a:ln>
                <a:noFill/>
              </a:ln>
              <a:solidFill>
                <a:schemeClr val="tx1"/>
              </a:solidFill>
              <a:effectLst/>
              <a:latin typeface="Times" charset="0"/>
            </a:endParaRPr>
          </a:p>
        </p:txBody>
      </p:sp>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7C9ACC5D-9496-C140-631A-B0343D8A4240}"/>
                  </a:ext>
                </a:extLst>
              </p:cNvPr>
              <p:cNvSpPr/>
              <p:nvPr/>
            </p:nvSpPr>
            <p:spPr bwMode="auto">
              <a:xfrm>
                <a:off x="38552216" y="27421005"/>
                <a:ext cx="3108960" cy="760653"/>
              </a:xfrm>
              <a:prstGeom prst="rect">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ko-KR" sz="2400" b="0" i="0" u="none" strike="noStrike" cap="none" normalizeH="0" baseline="0" dirty="0">
                    <a:ln>
                      <a:noFill/>
                    </a:ln>
                    <a:solidFill>
                      <a:schemeClr val="tx1"/>
                    </a:solidFill>
                    <a:effectLst/>
                    <a:latin typeface="Times" charset="0"/>
                  </a:rPr>
                  <a:t>Solve root-finding</a:t>
                </a:r>
              </a:p>
              <a:p>
                <a:pPr marL="0" marR="0" indent="0" algn="ctr" defTabSz="914400" rtl="0" eaLnBrk="0" fontAlgn="base" latinLnBrk="0" hangingPunct="0">
                  <a:lnSpc>
                    <a:spcPct val="100000"/>
                  </a:lnSpc>
                  <a:spcBef>
                    <a:spcPct val="0"/>
                  </a:spcBef>
                  <a:spcAft>
                    <a:spcPct val="0"/>
                  </a:spcAft>
                  <a:buClrTx/>
                  <a:buSzTx/>
                  <a:buFontTx/>
                  <a:buNone/>
                  <a:tabLst/>
                </a:pPr>
                <a:r>
                  <a:rPr lang="en-US" altLang="ko-KR" dirty="0"/>
                  <a:t>Update: </a:t>
                </a:r>
                <a14:m>
                  <m:oMath xmlns:m="http://schemas.openxmlformats.org/officeDocument/2006/math">
                    <m:sSub>
                      <m:sSubPr>
                        <m:ctrlPr>
                          <a:rPr lang="en-US" altLang="ko-KR" b="0" i="1" dirty="0" smtClean="0">
                            <a:latin typeface="Cambria Math" panose="02040503050406030204" pitchFamily="18" charset="0"/>
                          </a:rPr>
                        </m:ctrlPr>
                      </m:sSubPr>
                      <m:e>
                        <m:acc>
                          <m:accPr>
                            <m:chr m:val="̂"/>
                            <m:ctrlPr>
                              <a:rPr lang="en-US" altLang="ko-KR" b="0" i="1" dirty="0" smtClean="0">
                                <a:latin typeface="Cambria Math" panose="02040503050406030204" pitchFamily="18" charset="0"/>
                              </a:rPr>
                            </m:ctrlPr>
                          </m:accPr>
                          <m:e>
                            <m:r>
                              <m:rPr>
                                <m:sty m:val="p"/>
                              </m:rPr>
                              <a:rPr lang="en-US" altLang="ko-KR" b="0" i="0" dirty="0" smtClean="0">
                                <a:latin typeface="Cambria Math" panose="02040503050406030204" pitchFamily="18" charset="0"/>
                              </a:rPr>
                              <m:t>y</m:t>
                            </m:r>
                          </m:e>
                        </m:acc>
                      </m:e>
                      <m:sub>
                        <m:r>
                          <m:rPr>
                            <m:sty m:val="p"/>
                          </m:rPr>
                          <a:rPr lang="en-US" altLang="ko-KR" b="0" i="0" dirty="0" smtClean="0">
                            <a:latin typeface="Cambria Math" panose="02040503050406030204" pitchFamily="18" charset="0"/>
                          </a:rPr>
                          <m:t>s</m:t>
                        </m:r>
                      </m:sub>
                    </m:sSub>
                  </m:oMath>
                </a14:m>
                <a:r>
                  <a:rPr lang="en-US" altLang="ko-KR" dirty="0"/>
                  <a:t> </a:t>
                </a:r>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44" name="Rectangle 43">
                <a:extLst>
                  <a:ext uri="{FF2B5EF4-FFF2-40B4-BE49-F238E27FC236}">
                    <a16:creationId xmlns:a16="http://schemas.microsoft.com/office/drawing/2014/main" id="{626B450B-2FDE-7E20-3EBF-75B2889ADE99}"/>
                  </a:ext>
                </a:extLst>
              </p:cNvPr>
              <p:cNvSpPr>
                <a:spLocks noRot="1" noChangeAspect="1" noMove="1" noResize="1" noEditPoints="1" noAdjustHandles="1" noChangeArrowheads="1" noChangeShapeType="1" noTextEdit="1"/>
              </p:cNvSpPr>
              <p:nvPr/>
            </p:nvSpPr>
            <p:spPr bwMode="auto">
              <a:xfrm>
                <a:off x="38552216" y="27421005"/>
                <a:ext cx="3108960" cy="760653"/>
              </a:xfrm>
              <a:prstGeom prst="rect">
                <a:avLst/>
              </a:prstGeom>
              <a:blipFill>
                <a:blip r:embed="rId45"/>
                <a:stretch>
                  <a:fillRect t="-3817" b="-22901"/>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p:sp>
        <p:nvSpPr>
          <p:cNvPr id="46" name="Diamond 45">
            <a:extLst>
              <a:ext uri="{FF2B5EF4-FFF2-40B4-BE49-F238E27FC236}">
                <a16:creationId xmlns:a16="http://schemas.microsoft.com/office/drawing/2014/main" id="{81AE69E2-218A-6082-5876-FE5BF8596E91}"/>
              </a:ext>
            </a:extLst>
          </p:cNvPr>
          <p:cNvSpPr/>
          <p:nvPr/>
        </p:nvSpPr>
        <p:spPr bwMode="auto">
          <a:xfrm>
            <a:off x="38552216" y="28514760"/>
            <a:ext cx="3108960" cy="674942"/>
          </a:xfrm>
          <a:prstGeom prst="diamond">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ko-KR" sz="2400" b="0" i="0" u="none" strike="noStrike" cap="none" normalizeH="0" baseline="0" dirty="0">
                <a:ln>
                  <a:noFill/>
                </a:ln>
                <a:solidFill>
                  <a:schemeClr val="tx1"/>
                </a:solidFill>
                <a:effectLst/>
                <a:latin typeface="Times" charset="0"/>
              </a:rPr>
              <a:t>Stop?</a:t>
            </a:r>
            <a:endParaRPr kumimoji="0" lang="ko-KR" altLang="en-US" sz="2400" b="0" i="0" u="none" strike="noStrike" cap="none" normalizeH="0" baseline="0" dirty="0">
              <a:ln>
                <a:noFill/>
              </a:ln>
              <a:solidFill>
                <a:schemeClr val="tx1"/>
              </a:solidFill>
              <a:effectLst/>
              <a:latin typeface="Times" charset="0"/>
            </a:endParaRPr>
          </a:p>
        </p:txBody>
      </p:sp>
      <mc:AlternateContent xmlns:mc="http://schemas.openxmlformats.org/markup-compatibility/2006" xmlns:a14="http://schemas.microsoft.com/office/drawing/2010/main">
        <mc:Choice Requires="a14">
          <p:sp>
            <p:nvSpPr>
              <p:cNvPr id="47" name="Oval 46">
                <a:extLst>
                  <a:ext uri="{FF2B5EF4-FFF2-40B4-BE49-F238E27FC236}">
                    <a16:creationId xmlns:a16="http://schemas.microsoft.com/office/drawing/2014/main" id="{E01A322E-E3F2-93AD-FD55-80CF169841BB}"/>
                  </a:ext>
                </a:extLst>
              </p:cNvPr>
              <p:cNvSpPr/>
              <p:nvPr/>
            </p:nvSpPr>
            <p:spPr bwMode="auto">
              <a:xfrm>
                <a:off x="39152767" y="29522809"/>
                <a:ext cx="1907857" cy="613201"/>
              </a:xfrm>
              <a:prstGeom prst="ellipse">
                <a:avLst/>
              </a:prstGeom>
              <a:noFill/>
              <a:ln w="38100"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ko-KR" sz="2400" b="0" i="0" u="none" strike="noStrike" cap="none" normalizeH="0" baseline="0" dirty="0">
                    <a:ln>
                      <a:noFill/>
                    </a:ln>
                    <a:solidFill>
                      <a:schemeClr val="tx1"/>
                    </a:solidFill>
                    <a:effectLst/>
                    <a:latin typeface="Times" charset="0"/>
                  </a:rPr>
                  <a:t>End: </a:t>
                </a:r>
                <a14:m>
                  <m:oMath xmlns:m="http://schemas.openxmlformats.org/officeDocument/2006/math">
                    <m:sSub>
                      <m:sSubPr>
                        <m:ctrlPr>
                          <a:rPr kumimoji="0" lang="en-US" altLang="ko-KR" sz="2400" b="0" i="1" u="none" strike="noStrike" cap="none" normalizeH="0" baseline="0" smtClean="0">
                            <a:ln>
                              <a:noFill/>
                            </a:ln>
                            <a:solidFill>
                              <a:schemeClr val="tx1"/>
                            </a:solidFill>
                            <a:effectLst/>
                            <a:latin typeface="Cambria Math" panose="02040503050406030204" pitchFamily="18" charset="0"/>
                          </a:rPr>
                        </m:ctrlPr>
                      </m:sSubPr>
                      <m:e>
                        <m:r>
                          <a:rPr kumimoji="0" lang="en-US" altLang="ko-KR" sz="2400" b="0" i="1" u="none" strike="noStrike" cap="none" normalizeH="0" baseline="0" smtClean="0">
                            <a:ln>
                              <a:noFill/>
                            </a:ln>
                            <a:solidFill>
                              <a:schemeClr val="tx1"/>
                            </a:solidFill>
                            <a:effectLst/>
                            <a:latin typeface="Cambria Math" panose="02040503050406030204" pitchFamily="18" charset="0"/>
                          </a:rPr>
                          <m:t>𝑦</m:t>
                        </m:r>
                      </m:e>
                      <m:sub>
                        <m:r>
                          <a:rPr kumimoji="0" lang="en-US" altLang="ko-KR" sz="2400" b="0" i="1" u="none" strike="noStrike" cap="none" normalizeH="0" baseline="0" smtClean="0">
                            <a:ln>
                              <a:noFill/>
                            </a:ln>
                            <a:solidFill>
                              <a:schemeClr val="tx1"/>
                            </a:solidFill>
                            <a:effectLst/>
                            <a:latin typeface="Cambria Math" panose="02040503050406030204" pitchFamily="18" charset="0"/>
                          </a:rPr>
                          <m:t>𝑠</m:t>
                        </m:r>
                      </m:sub>
                    </m:sSub>
                  </m:oMath>
                </a14:m>
                <a:endParaRPr kumimoji="0" lang="ko-KR" altLang="en-US" sz="2400" b="0" i="0" u="none" strike="noStrike" cap="none" normalizeH="0" baseline="0" dirty="0">
                  <a:ln>
                    <a:noFill/>
                  </a:ln>
                  <a:solidFill>
                    <a:schemeClr val="tx1"/>
                  </a:solidFill>
                  <a:effectLst/>
                  <a:latin typeface="Times" charset="0"/>
                </a:endParaRPr>
              </a:p>
            </p:txBody>
          </p:sp>
        </mc:Choice>
        <mc:Fallback xmlns="">
          <p:sp>
            <p:nvSpPr>
              <p:cNvPr id="47" name="Oval 46">
                <a:extLst>
                  <a:ext uri="{FF2B5EF4-FFF2-40B4-BE49-F238E27FC236}">
                    <a16:creationId xmlns:a16="http://schemas.microsoft.com/office/drawing/2014/main" id="{3C935E0A-874F-F5FA-67E8-CE73B5C0D61A}"/>
                  </a:ext>
                </a:extLst>
              </p:cNvPr>
              <p:cNvSpPr>
                <a:spLocks noRot="1" noChangeAspect="1" noMove="1" noResize="1" noEditPoints="1" noAdjustHandles="1" noChangeArrowheads="1" noChangeShapeType="1" noTextEdit="1"/>
              </p:cNvSpPr>
              <p:nvPr/>
            </p:nvSpPr>
            <p:spPr bwMode="auto">
              <a:xfrm>
                <a:off x="39152767" y="29522809"/>
                <a:ext cx="1907857" cy="613201"/>
              </a:xfrm>
              <a:prstGeom prst="ellipse">
                <a:avLst/>
              </a:prstGeom>
              <a:blipFill>
                <a:blip r:embed="rId46"/>
                <a:stretch>
                  <a:fillRect b="-8411"/>
                </a:stretch>
              </a:blipFill>
              <a:ln w="38100" cap="flat" cmpd="sng" algn="ctr">
                <a:solidFill>
                  <a:srgbClr val="C8102E"/>
                </a:solidFill>
                <a:prstDash val="solid"/>
                <a:round/>
                <a:headEnd type="none" w="med" len="med"/>
                <a:tailEnd type="none" w="med" len="med"/>
              </a:ln>
              <a:effectLst/>
            </p:spPr>
            <p:txBody>
              <a:bodyPr/>
              <a:lstStyle/>
              <a:p>
                <a:r>
                  <a:rPr lang="ko-KR" altLang="en-US">
                    <a:noFill/>
                  </a:rPr>
                  <a:t> </a:t>
                </a:r>
              </a:p>
            </p:txBody>
          </p:sp>
        </mc:Fallback>
      </mc:AlternateContent>
      <p:cxnSp>
        <p:nvCxnSpPr>
          <p:cNvPr id="53" name="Straight Arrow Connector 52">
            <a:extLst>
              <a:ext uri="{FF2B5EF4-FFF2-40B4-BE49-F238E27FC236}">
                <a16:creationId xmlns:a16="http://schemas.microsoft.com/office/drawing/2014/main" id="{9518B6D2-1FD6-E695-C046-5EA47F8A487C}"/>
              </a:ext>
            </a:extLst>
          </p:cNvPr>
          <p:cNvCxnSpPr>
            <a:stCxn id="7" idx="4"/>
            <a:endCxn id="8" idx="0"/>
          </p:cNvCxnSpPr>
          <p:nvPr/>
        </p:nvCxnSpPr>
        <p:spPr bwMode="auto">
          <a:xfrm flipH="1">
            <a:off x="40106696" y="19673543"/>
            <a:ext cx="2179" cy="333102"/>
          </a:xfrm>
          <a:prstGeom prst="straightConnector1">
            <a:avLst/>
          </a:prstGeom>
          <a:solidFill>
            <a:schemeClr val="accent1"/>
          </a:solidFill>
          <a:ln w="44450"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6FDEB227-5535-E789-4614-D6AC6697342B}"/>
              </a:ext>
            </a:extLst>
          </p:cNvPr>
          <p:cNvCxnSpPr>
            <a:cxnSpLocks/>
            <a:stCxn id="8" idx="2"/>
            <a:endCxn id="9" idx="0"/>
          </p:cNvCxnSpPr>
          <p:nvPr/>
        </p:nvCxnSpPr>
        <p:spPr bwMode="auto">
          <a:xfrm>
            <a:off x="40106696" y="20529187"/>
            <a:ext cx="2179" cy="333102"/>
          </a:xfrm>
          <a:prstGeom prst="straightConnector1">
            <a:avLst/>
          </a:prstGeom>
          <a:solidFill>
            <a:schemeClr val="accent1"/>
          </a:solidFill>
          <a:ln w="44450" cap="flat" cmpd="sng" algn="ctr">
            <a:solidFill>
              <a:schemeClr val="tx1"/>
            </a:solidFill>
            <a:prstDash val="solid"/>
            <a:round/>
            <a:headEnd type="none" w="med" len="med"/>
            <a:tailEnd type="triangle"/>
          </a:ln>
          <a:effectLst/>
        </p:spPr>
      </p:cxnSp>
      <p:cxnSp>
        <p:nvCxnSpPr>
          <p:cNvPr id="57" name="Straight Arrow Connector 56">
            <a:extLst>
              <a:ext uri="{FF2B5EF4-FFF2-40B4-BE49-F238E27FC236}">
                <a16:creationId xmlns:a16="http://schemas.microsoft.com/office/drawing/2014/main" id="{28E8BEE4-1E4E-757D-D26D-2EEE3866E5C0}"/>
              </a:ext>
            </a:extLst>
          </p:cNvPr>
          <p:cNvCxnSpPr>
            <a:cxnSpLocks/>
            <a:stCxn id="9" idx="2"/>
            <a:endCxn id="11" idx="0"/>
          </p:cNvCxnSpPr>
          <p:nvPr/>
        </p:nvCxnSpPr>
        <p:spPr bwMode="auto">
          <a:xfrm>
            <a:off x="40108875" y="21384831"/>
            <a:ext cx="0" cy="333102"/>
          </a:xfrm>
          <a:prstGeom prst="straightConnector1">
            <a:avLst/>
          </a:prstGeom>
          <a:solidFill>
            <a:schemeClr val="accent1"/>
          </a:solidFill>
          <a:ln w="44450" cap="flat" cmpd="sng" algn="ctr">
            <a:solidFill>
              <a:schemeClr val="tx1"/>
            </a:solidFill>
            <a:prstDash val="solid"/>
            <a:round/>
            <a:headEnd type="none" w="med" len="med"/>
            <a:tailEnd type="triangle"/>
          </a:ln>
          <a:effectLst/>
        </p:spPr>
      </p:cxnSp>
      <p:cxnSp>
        <p:nvCxnSpPr>
          <p:cNvPr id="61" name="Connector: Elbow 60">
            <a:extLst>
              <a:ext uri="{FF2B5EF4-FFF2-40B4-BE49-F238E27FC236}">
                <a16:creationId xmlns:a16="http://schemas.microsoft.com/office/drawing/2014/main" id="{ACCCD4A9-0159-5924-06E7-635B46324290}"/>
              </a:ext>
            </a:extLst>
          </p:cNvPr>
          <p:cNvCxnSpPr>
            <a:stCxn id="11" idx="3"/>
            <a:endCxn id="13" idx="0"/>
          </p:cNvCxnSpPr>
          <p:nvPr/>
        </p:nvCxnSpPr>
        <p:spPr bwMode="auto">
          <a:xfrm>
            <a:off x="41663355" y="22055404"/>
            <a:ext cx="161918" cy="670573"/>
          </a:xfrm>
          <a:prstGeom prst="bentConnector2">
            <a:avLst/>
          </a:prstGeom>
          <a:solidFill>
            <a:schemeClr val="accent1"/>
          </a:solidFill>
          <a:ln w="44450" cap="flat" cmpd="sng" algn="ctr">
            <a:solidFill>
              <a:schemeClr val="tx1"/>
            </a:solidFill>
            <a:prstDash val="solid"/>
            <a:round/>
            <a:headEnd type="none" w="med" len="med"/>
            <a:tailEnd type="triangle"/>
          </a:ln>
          <a:effectLst/>
        </p:spPr>
      </p:cxnSp>
      <p:cxnSp>
        <p:nvCxnSpPr>
          <p:cNvPr id="62" name="Connector: Elbow 61">
            <a:extLst>
              <a:ext uri="{FF2B5EF4-FFF2-40B4-BE49-F238E27FC236}">
                <a16:creationId xmlns:a16="http://schemas.microsoft.com/office/drawing/2014/main" id="{329299B0-5B4F-E45B-27FC-A99A2725B790}"/>
              </a:ext>
            </a:extLst>
          </p:cNvPr>
          <p:cNvCxnSpPr>
            <a:cxnSpLocks/>
            <a:stCxn id="11" idx="1"/>
            <a:endCxn id="12" idx="0"/>
          </p:cNvCxnSpPr>
          <p:nvPr/>
        </p:nvCxnSpPr>
        <p:spPr bwMode="auto">
          <a:xfrm rot="10800000" flipV="1">
            <a:off x="38377291" y="22055403"/>
            <a:ext cx="177104" cy="658429"/>
          </a:xfrm>
          <a:prstGeom prst="bentConnector2">
            <a:avLst/>
          </a:prstGeom>
          <a:solidFill>
            <a:schemeClr val="accent1"/>
          </a:solidFill>
          <a:ln w="44450" cap="flat" cmpd="sng" algn="ctr">
            <a:solidFill>
              <a:schemeClr val="tx1"/>
            </a:solidFill>
            <a:prstDash val="solid"/>
            <a:round/>
            <a:headEnd type="none" w="med" len="med"/>
            <a:tailEnd type="triangle"/>
          </a:ln>
          <a:effectLst/>
        </p:spPr>
      </p:cxnSp>
      <p:cxnSp>
        <p:nvCxnSpPr>
          <p:cNvPr id="2049" name="Connector: Elbow 2048">
            <a:extLst>
              <a:ext uri="{FF2B5EF4-FFF2-40B4-BE49-F238E27FC236}">
                <a16:creationId xmlns:a16="http://schemas.microsoft.com/office/drawing/2014/main" id="{423910BB-2841-5D06-0150-95216C2D54B7}"/>
              </a:ext>
            </a:extLst>
          </p:cNvPr>
          <p:cNvCxnSpPr>
            <a:cxnSpLocks/>
            <a:stCxn id="12" idx="2"/>
            <a:endCxn id="16" idx="0"/>
          </p:cNvCxnSpPr>
          <p:nvPr/>
        </p:nvCxnSpPr>
        <p:spPr bwMode="auto">
          <a:xfrm rot="16200000" flipH="1">
            <a:off x="39070460" y="22543206"/>
            <a:ext cx="345246" cy="1731584"/>
          </a:xfrm>
          <a:prstGeom prst="bentConnector3">
            <a:avLst>
              <a:gd name="adj1" fmla="val 50000"/>
            </a:avLst>
          </a:prstGeom>
          <a:solidFill>
            <a:schemeClr val="accent1"/>
          </a:solidFill>
          <a:ln w="44450" cap="flat" cmpd="sng" algn="ctr">
            <a:solidFill>
              <a:schemeClr val="tx1"/>
            </a:solidFill>
            <a:prstDash val="solid"/>
            <a:round/>
            <a:headEnd type="none" w="med" len="med"/>
            <a:tailEnd type="triangle"/>
          </a:ln>
          <a:effectLst/>
        </p:spPr>
      </p:cxnSp>
      <p:cxnSp>
        <p:nvCxnSpPr>
          <p:cNvPr id="2054" name="Connector: Elbow 2053">
            <a:extLst>
              <a:ext uri="{FF2B5EF4-FFF2-40B4-BE49-F238E27FC236}">
                <a16:creationId xmlns:a16="http://schemas.microsoft.com/office/drawing/2014/main" id="{2BF6A9E5-FB56-840E-3674-82E3039F3BE7}"/>
              </a:ext>
            </a:extLst>
          </p:cNvPr>
          <p:cNvCxnSpPr>
            <a:cxnSpLocks/>
            <a:stCxn id="13" idx="2"/>
            <a:endCxn id="16" idx="0"/>
          </p:cNvCxnSpPr>
          <p:nvPr/>
        </p:nvCxnSpPr>
        <p:spPr bwMode="auto">
          <a:xfrm rot="5400000">
            <a:off x="40800523" y="22556871"/>
            <a:ext cx="333102" cy="1716398"/>
          </a:xfrm>
          <a:prstGeom prst="bentConnector3">
            <a:avLst>
              <a:gd name="adj1" fmla="val 50000"/>
            </a:avLst>
          </a:prstGeom>
          <a:solidFill>
            <a:schemeClr val="accent1"/>
          </a:solidFill>
          <a:ln w="44450" cap="flat" cmpd="sng" algn="ctr">
            <a:solidFill>
              <a:schemeClr val="tx1"/>
            </a:solidFill>
            <a:prstDash val="solid"/>
            <a:round/>
            <a:headEnd type="none" w="med" len="med"/>
            <a:tailEnd type="triangle"/>
          </a:ln>
          <a:effectLst/>
        </p:spPr>
      </p:cxnSp>
      <p:cxnSp>
        <p:nvCxnSpPr>
          <p:cNvPr id="2057" name="Connector: Elbow 2056">
            <a:extLst>
              <a:ext uri="{FF2B5EF4-FFF2-40B4-BE49-F238E27FC236}">
                <a16:creationId xmlns:a16="http://schemas.microsoft.com/office/drawing/2014/main" id="{AD8B2029-A6C7-609A-5297-DDBC8FF75DEE}"/>
              </a:ext>
            </a:extLst>
          </p:cNvPr>
          <p:cNvCxnSpPr>
            <a:cxnSpLocks/>
            <a:stCxn id="16" idx="3"/>
            <a:endCxn id="17" idx="0"/>
          </p:cNvCxnSpPr>
          <p:nvPr/>
        </p:nvCxnSpPr>
        <p:spPr bwMode="auto">
          <a:xfrm>
            <a:off x="41663355" y="23919092"/>
            <a:ext cx="161918" cy="670573"/>
          </a:xfrm>
          <a:prstGeom prst="bentConnector2">
            <a:avLst/>
          </a:prstGeom>
          <a:solidFill>
            <a:schemeClr val="accent1"/>
          </a:solidFill>
          <a:ln w="44450" cap="flat" cmpd="sng" algn="ctr">
            <a:solidFill>
              <a:schemeClr val="tx1"/>
            </a:solidFill>
            <a:prstDash val="solid"/>
            <a:round/>
            <a:headEnd type="none" w="med" len="med"/>
            <a:tailEnd type="triangle"/>
          </a:ln>
          <a:effectLst/>
        </p:spPr>
      </p:cxnSp>
      <p:cxnSp>
        <p:nvCxnSpPr>
          <p:cNvPr id="2061" name="Straight Arrow Connector 2060">
            <a:extLst>
              <a:ext uri="{FF2B5EF4-FFF2-40B4-BE49-F238E27FC236}">
                <a16:creationId xmlns:a16="http://schemas.microsoft.com/office/drawing/2014/main" id="{EBC60875-D8A9-2143-EA34-8D8B209C415F}"/>
              </a:ext>
            </a:extLst>
          </p:cNvPr>
          <p:cNvCxnSpPr>
            <a:cxnSpLocks/>
            <a:stCxn id="17" idx="2"/>
            <a:endCxn id="42" idx="0"/>
          </p:cNvCxnSpPr>
          <p:nvPr/>
        </p:nvCxnSpPr>
        <p:spPr bwMode="auto">
          <a:xfrm>
            <a:off x="41825273" y="25112207"/>
            <a:ext cx="0" cy="333102"/>
          </a:xfrm>
          <a:prstGeom prst="straightConnector1">
            <a:avLst/>
          </a:prstGeom>
          <a:solidFill>
            <a:schemeClr val="accent1"/>
          </a:solidFill>
          <a:ln w="44450" cap="flat" cmpd="sng" algn="ctr">
            <a:solidFill>
              <a:schemeClr val="tx1"/>
            </a:solidFill>
            <a:prstDash val="solid"/>
            <a:round/>
            <a:headEnd type="none" w="med" len="med"/>
            <a:tailEnd type="triangle"/>
          </a:ln>
          <a:effectLst/>
        </p:spPr>
      </p:cxnSp>
      <p:cxnSp>
        <p:nvCxnSpPr>
          <p:cNvPr id="2065" name="Straight Arrow Connector 2064">
            <a:extLst>
              <a:ext uri="{FF2B5EF4-FFF2-40B4-BE49-F238E27FC236}">
                <a16:creationId xmlns:a16="http://schemas.microsoft.com/office/drawing/2014/main" id="{48FECBA9-6E18-22C4-5FDF-2D331A6D7682}"/>
              </a:ext>
            </a:extLst>
          </p:cNvPr>
          <p:cNvCxnSpPr>
            <a:cxnSpLocks/>
            <a:stCxn id="42" idx="2"/>
            <a:endCxn id="43" idx="0"/>
          </p:cNvCxnSpPr>
          <p:nvPr/>
        </p:nvCxnSpPr>
        <p:spPr bwMode="auto">
          <a:xfrm>
            <a:off x="41825273" y="25967851"/>
            <a:ext cx="0" cy="333102"/>
          </a:xfrm>
          <a:prstGeom prst="straightConnector1">
            <a:avLst/>
          </a:prstGeom>
          <a:solidFill>
            <a:schemeClr val="accent1"/>
          </a:solidFill>
          <a:ln w="44450" cap="flat" cmpd="sng" algn="ctr">
            <a:solidFill>
              <a:schemeClr val="tx1"/>
            </a:solidFill>
            <a:prstDash val="solid"/>
            <a:round/>
            <a:headEnd type="none" w="med" len="med"/>
            <a:tailEnd type="triangle"/>
          </a:ln>
          <a:effectLst/>
        </p:spPr>
      </p:cxnSp>
      <p:cxnSp>
        <p:nvCxnSpPr>
          <p:cNvPr id="2069" name="Connector: Elbow 2068">
            <a:extLst>
              <a:ext uri="{FF2B5EF4-FFF2-40B4-BE49-F238E27FC236}">
                <a16:creationId xmlns:a16="http://schemas.microsoft.com/office/drawing/2014/main" id="{CFBE9232-ACE7-46DB-8068-2FC9E532C45B}"/>
              </a:ext>
            </a:extLst>
          </p:cNvPr>
          <p:cNvCxnSpPr>
            <a:cxnSpLocks/>
            <a:stCxn id="43" idx="2"/>
            <a:endCxn id="44" idx="3"/>
          </p:cNvCxnSpPr>
          <p:nvPr/>
        </p:nvCxnSpPr>
        <p:spPr bwMode="auto">
          <a:xfrm rot="5400000">
            <a:off x="41386511" y="27362569"/>
            <a:ext cx="713429" cy="164097"/>
          </a:xfrm>
          <a:prstGeom prst="bentConnector2">
            <a:avLst/>
          </a:prstGeom>
          <a:solidFill>
            <a:schemeClr val="accent1"/>
          </a:solidFill>
          <a:ln w="44450" cap="flat" cmpd="sng" algn="ctr">
            <a:solidFill>
              <a:schemeClr val="tx1"/>
            </a:solidFill>
            <a:prstDash val="solid"/>
            <a:round/>
            <a:headEnd type="none" w="med" len="med"/>
            <a:tailEnd type="triangle"/>
          </a:ln>
          <a:effectLst/>
        </p:spPr>
      </p:cxnSp>
      <p:cxnSp>
        <p:nvCxnSpPr>
          <p:cNvPr id="2072" name="Connector: Elbow 2071">
            <a:extLst>
              <a:ext uri="{FF2B5EF4-FFF2-40B4-BE49-F238E27FC236}">
                <a16:creationId xmlns:a16="http://schemas.microsoft.com/office/drawing/2014/main" id="{BFE9C61B-72A2-D0E8-A0EB-6043BB1F4CB1}"/>
              </a:ext>
            </a:extLst>
          </p:cNvPr>
          <p:cNvCxnSpPr>
            <a:cxnSpLocks/>
            <a:stCxn id="16" idx="2"/>
            <a:endCxn id="44" idx="1"/>
          </p:cNvCxnSpPr>
          <p:nvPr/>
        </p:nvCxnSpPr>
        <p:spPr bwMode="auto">
          <a:xfrm rot="5400000">
            <a:off x="37558162" y="25250618"/>
            <a:ext cx="3544769" cy="1556659"/>
          </a:xfrm>
          <a:prstGeom prst="bentConnector4">
            <a:avLst>
              <a:gd name="adj1" fmla="val 44635"/>
              <a:gd name="adj2" fmla="val 114685"/>
            </a:avLst>
          </a:prstGeom>
          <a:solidFill>
            <a:schemeClr val="accent1"/>
          </a:solidFill>
          <a:ln w="44450" cap="flat" cmpd="sng" algn="ctr">
            <a:solidFill>
              <a:schemeClr val="tx1"/>
            </a:solidFill>
            <a:prstDash val="solid"/>
            <a:round/>
            <a:headEnd type="none" w="med" len="med"/>
            <a:tailEnd type="triangle"/>
          </a:ln>
          <a:effectLst/>
        </p:spPr>
      </p:cxnSp>
      <p:cxnSp>
        <p:nvCxnSpPr>
          <p:cNvPr id="2075" name="Straight Arrow Connector 2074">
            <a:extLst>
              <a:ext uri="{FF2B5EF4-FFF2-40B4-BE49-F238E27FC236}">
                <a16:creationId xmlns:a16="http://schemas.microsoft.com/office/drawing/2014/main" id="{DAC814B6-3937-9C7A-1C2E-BE497F771A58}"/>
              </a:ext>
            </a:extLst>
          </p:cNvPr>
          <p:cNvCxnSpPr>
            <a:cxnSpLocks/>
            <a:stCxn id="44" idx="2"/>
            <a:endCxn id="46" idx="0"/>
          </p:cNvCxnSpPr>
          <p:nvPr/>
        </p:nvCxnSpPr>
        <p:spPr bwMode="auto">
          <a:xfrm>
            <a:off x="40106696" y="28181658"/>
            <a:ext cx="0" cy="333102"/>
          </a:xfrm>
          <a:prstGeom prst="straightConnector1">
            <a:avLst/>
          </a:prstGeom>
          <a:solidFill>
            <a:schemeClr val="accent1"/>
          </a:solidFill>
          <a:ln w="44450" cap="flat" cmpd="sng" algn="ctr">
            <a:solidFill>
              <a:schemeClr val="tx1"/>
            </a:solidFill>
            <a:prstDash val="solid"/>
            <a:round/>
            <a:headEnd type="none" w="med" len="med"/>
            <a:tailEnd type="triangle"/>
          </a:ln>
          <a:effectLst/>
        </p:spPr>
      </p:cxnSp>
      <p:cxnSp>
        <p:nvCxnSpPr>
          <p:cNvPr id="2078" name="Straight Arrow Connector 2077">
            <a:extLst>
              <a:ext uri="{FF2B5EF4-FFF2-40B4-BE49-F238E27FC236}">
                <a16:creationId xmlns:a16="http://schemas.microsoft.com/office/drawing/2014/main" id="{8833C7EA-35E2-0B8B-AC68-A2F61510F0A9}"/>
              </a:ext>
            </a:extLst>
          </p:cNvPr>
          <p:cNvCxnSpPr>
            <a:cxnSpLocks/>
            <a:stCxn id="46" idx="2"/>
            <a:endCxn id="47" idx="0"/>
          </p:cNvCxnSpPr>
          <p:nvPr/>
        </p:nvCxnSpPr>
        <p:spPr bwMode="auto">
          <a:xfrm>
            <a:off x="40106696" y="29189702"/>
            <a:ext cx="0" cy="333107"/>
          </a:xfrm>
          <a:prstGeom prst="straightConnector1">
            <a:avLst/>
          </a:prstGeom>
          <a:solidFill>
            <a:schemeClr val="accent1"/>
          </a:solidFill>
          <a:ln w="44450" cap="flat" cmpd="sng" algn="ctr">
            <a:solidFill>
              <a:schemeClr val="tx1"/>
            </a:solidFill>
            <a:prstDash val="solid"/>
            <a:round/>
            <a:headEnd type="none" w="med" len="med"/>
            <a:tailEnd type="triangle"/>
          </a:ln>
          <a:effectLst/>
        </p:spPr>
      </p:cxnSp>
      <p:cxnSp>
        <p:nvCxnSpPr>
          <p:cNvPr id="2081" name="Connector: Elbow 2080">
            <a:extLst>
              <a:ext uri="{FF2B5EF4-FFF2-40B4-BE49-F238E27FC236}">
                <a16:creationId xmlns:a16="http://schemas.microsoft.com/office/drawing/2014/main" id="{5EE33582-9386-C6C7-9704-391720B36442}"/>
              </a:ext>
            </a:extLst>
          </p:cNvPr>
          <p:cNvCxnSpPr>
            <a:cxnSpLocks/>
            <a:stCxn id="46" idx="1"/>
            <a:endCxn id="16" idx="1"/>
          </p:cNvCxnSpPr>
          <p:nvPr/>
        </p:nvCxnSpPr>
        <p:spPr bwMode="auto">
          <a:xfrm rot="10800000" flipH="1">
            <a:off x="38552215" y="23919093"/>
            <a:ext cx="2179" cy="4933139"/>
          </a:xfrm>
          <a:prstGeom prst="bentConnector3">
            <a:avLst>
              <a:gd name="adj1" fmla="val -23313447"/>
            </a:avLst>
          </a:prstGeom>
          <a:solidFill>
            <a:schemeClr val="accent1"/>
          </a:solidFill>
          <a:ln w="44450" cap="flat" cmpd="sng" algn="ctr">
            <a:solidFill>
              <a:schemeClr val="tx1"/>
            </a:solidFill>
            <a:prstDash val="solid"/>
            <a:round/>
            <a:headEnd type="none" w="med" len="med"/>
            <a:tailEnd type="triangle"/>
          </a:ln>
          <a:effectLst/>
        </p:spPr>
      </p:cxnSp>
      <p:sp>
        <p:nvSpPr>
          <p:cNvPr id="2098" name="TextBox 2097">
            <a:extLst>
              <a:ext uri="{FF2B5EF4-FFF2-40B4-BE49-F238E27FC236}">
                <a16:creationId xmlns:a16="http://schemas.microsoft.com/office/drawing/2014/main" id="{CE50C978-7BEB-5BD8-B742-BEDF4B36942A}"/>
              </a:ext>
            </a:extLst>
          </p:cNvPr>
          <p:cNvSpPr txBox="1"/>
          <p:nvPr/>
        </p:nvSpPr>
        <p:spPr>
          <a:xfrm>
            <a:off x="37426697" y="22011811"/>
            <a:ext cx="1143000" cy="461665"/>
          </a:xfrm>
          <a:prstGeom prst="rect">
            <a:avLst/>
          </a:prstGeom>
          <a:noFill/>
        </p:spPr>
        <p:txBody>
          <a:bodyPr wrap="square" rtlCol="0">
            <a:spAutoFit/>
          </a:bodyPr>
          <a:lstStyle/>
          <a:p>
            <a:pPr algn="ctr"/>
            <a:r>
              <a:rPr lang="en-US" altLang="ko-KR" b="0" dirty="0"/>
              <a:t>Yes</a:t>
            </a:r>
          </a:p>
        </p:txBody>
      </p:sp>
      <p:sp>
        <p:nvSpPr>
          <p:cNvPr id="2099" name="TextBox 2098">
            <a:extLst>
              <a:ext uri="{FF2B5EF4-FFF2-40B4-BE49-F238E27FC236}">
                <a16:creationId xmlns:a16="http://schemas.microsoft.com/office/drawing/2014/main" id="{97EF6C25-B8B0-CC48-FAEC-93F7071E3B07}"/>
              </a:ext>
            </a:extLst>
          </p:cNvPr>
          <p:cNvSpPr txBox="1"/>
          <p:nvPr/>
        </p:nvSpPr>
        <p:spPr>
          <a:xfrm>
            <a:off x="41678657" y="22051035"/>
            <a:ext cx="1143000" cy="461665"/>
          </a:xfrm>
          <a:prstGeom prst="rect">
            <a:avLst/>
          </a:prstGeom>
          <a:noFill/>
        </p:spPr>
        <p:txBody>
          <a:bodyPr wrap="square" rtlCol="0">
            <a:spAutoFit/>
          </a:bodyPr>
          <a:lstStyle/>
          <a:p>
            <a:pPr algn="ctr"/>
            <a:r>
              <a:rPr lang="en-US" altLang="ko-KR" b="0" dirty="0"/>
              <a:t>No</a:t>
            </a:r>
          </a:p>
        </p:txBody>
      </p:sp>
      <p:sp>
        <p:nvSpPr>
          <p:cNvPr id="2100" name="TextBox 2099">
            <a:extLst>
              <a:ext uri="{FF2B5EF4-FFF2-40B4-BE49-F238E27FC236}">
                <a16:creationId xmlns:a16="http://schemas.microsoft.com/office/drawing/2014/main" id="{98698A77-23F9-5F00-E39C-0505D259420E}"/>
              </a:ext>
            </a:extLst>
          </p:cNvPr>
          <p:cNvSpPr txBox="1"/>
          <p:nvPr/>
        </p:nvSpPr>
        <p:spPr>
          <a:xfrm>
            <a:off x="41825273" y="23916283"/>
            <a:ext cx="1143000" cy="461665"/>
          </a:xfrm>
          <a:prstGeom prst="rect">
            <a:avLst/>
          </a:prstGeom>
          <a:noFill/>
        </p:spPr>
        <p:txBody>
          <a:bodyPr wrap="square" rtlCol="0">
            <a:spAutoFit/>
          </a:bodyPr>
          <a:lstStyle/>
          <a:p>
            <a:pPr algn="ctr"/>
            <a:r>
              <a:rPr lang="en-US" altLang="ko-KR" b="0" dirty="0"/>
              <a:t>No</a:t>
            </a:r>
          </a:p>
        </p:txBody>
      </p:sp>
      <p:sp>
        <p:nvSpPr>
          <p:cNvPr id="2101" name="TextBox 2100">
            <a:extLst>
              <a:ext uri="{FF2B5EF4-FFF2-40B4-BE49-F238E27FC236}">
                <a16:creationId xmlns:a16="http://schemas.microsoft.com/office/drawing/2014/main" id="{9EEE1928-F941-6976-3AEC-B41F4827230C}"/>
              </a:ext>
            </a:extLst>
          </p:cNvPr>
          <p:cNvSpPr txBox="1"/>
          <p:nvPr/>
        </p:nvSpPr>
        <p:spPr>
          <a:xfrm>
            <a:off x="39115470" y="24296558"/>
            <a:ext cx="1143000" cy="461665"/>
          </a:xfrm>
          <a:prstGeom prst="rect">
            <a:avLst/>
          </a:prstGeom>
          <a:noFill/>
        </p:spPr>
        <p:txBody>
          <a:bodyPr wrap="square" rtlCol="0">
            <a:spAutoFit/>
          </a:bodyPr>
          <a:lstStyle/>
          <a:p>
            <a:pPr algn="ctr"/>
            <a:r>
              <a:rPr lang="en-US" altLang="ko-KR" b="0" dirty="0"/>
              <a:t>Yes</a:t>
            </a:r>
          </a:p>
        </p:txBody>
      </p:sp>
      <p:sp>
        <p:nvSpPr>
          <p:cNvPr id="2102" name="TextBox 2101">
            <a:extLst>
              <a:ext uri="{FF2B5EF4-FFF2-40B4-BE49-F238E27FC236}">
                <a16:creationId xmlns:a16="http://schemas.microsoft.com/office/drawing/2014/main" id="{70BE05B3-80DF-6D5E-9220-10A0A670BACB}"/>
              </a:ext>
            </a:extLst>
          </p:cNvPr>
          <p:cNvSpPr txBox="1"/>
          <p:nvPr/>
        </p:nvSpPr>
        <p:spPr>
          <a:xfrm>
            <a:off x="37894343" y="28245441"/>
            <a:ext cx="1143000" cy="461665"/>
          </a:xfrm>
          <a:prstGeom prst="rect">
            <a:avLst/>
          </a:prstGeom>
          <a:noFill/>
        </p:spPr>
        <p:txBody>
          <a:bodyPr wrap="square" rtlCol="0">
            <a:spAutoFit/>
          </a:bodyPr>
          <a:lstStyle/>
          <a:p>
            <a:pPr algn="ctr"/>
            <a:r>
              <a:rPr lang="en-US" altLang="ko-KR" b="0" dirty="0"/>
              <a:t>No</a:t>
            </a:r>
          </a:p>
        </p:txBody>
      </p:sp>
      <p:sp>
        <p:nvSpPr>
          <p:cNvPr id="2103" name="TextBox 2102">
            <a:extLst>
              <a:ext uri="{FF2B5EF4-FFF2-40B4-BE49-F238E27FC236}">
                <a16:creationId xmlns:a16="http://schemas.microsoft.com/office/drawing/2014/main" id="{2FBA2CAA-1778-398A-6D27-B71D441150B3}"/>
              </a:ext>
            </a:extLst>
          </p:cNvPr>
          <p:cNvSpPr txBox="1"/>
          <p:nvPr/>
        </p:nvSpPr>
        <p:spPr>
          <a:xfrm>
            <a:off x="40123363" y="29080194"/>
            <a:ext cx="1143000" cy="461665"/>
          </a:xfrm>
          <a:prstGeom prst="rect">
            <a:avLst/>
          </a:prstGeom>
          <a:noFill/>
        </p:spPr>
        <p:txBody>
          <a:bodyPr wrap="square" rtlCol="0">
            <a:spAutoFit/>
          </a:bodyPr>
          <a:lstStyle/>
          <a:p>
            <a:pPr algn="ctr"/>
            <a:r>
              <a:rPr lang="en-US" altLang="ko-KR" b="0" dirty="0"/>
              <a:t>Yes</a:t>
            </a:r>
          </a:p>
        </p:txBody>
      </p:sp>
      <p:sp>
        <p:nvSpPr>
          <p:cNvPr id="2104" name="TextBox 2103">
            <a:extLst>
              <a:ext uri="{FF2B5EF4-FFF2-40B4-BE49-F238E27FC236}">
                <a16:creationId xmlns:a16="http://schemas.microsoft.com/office/drawing/2014/main" id="{01E39F38-6345-3A24-BF96-874F197CA439}"/>
              </a:ext>
            </a:extLst>
          </p:cNvPr>
          <p:cNvSpPr txBox="1"/>
          <p:nvPr/>
        </p:nvSpPr>
        <p:spPr>
          <a:xfrm>
            <a:off x="29359984" y="29541859"/>
            <a:ext cx="13874476" cy="1892826"/>
          </a:xfrm>
          <a:prstGeom prst="rect">
            <a:avLst/>
          </a:prstGeom>
          <a:noFill/>
        </p:spPr>
        <p:txBody>
          <a:bodyPr wrap="square">
            <a:spAutoFit/>
          </a:bodyPr>
          <a:lstStyle/>
          <a:p>
            <a:pPr algn="l">
              <a:spcBef>
                <a:spcPct val="50000"/>
              </a:spcBef>
            </a:pPr>
            <a:r>
              <a:rPr lang="en-US" sz="4000" b="1" i="1" dirty="0"/>
              <a:t>References</a:t>
            </a:r>
          </a:p>
          <a:p>
            <a:pPr algn="l">
              <a:spcBef>
                <a:spcPct val="50000"/>
              </a:spcBef>
            </a:pPr>
            <a:r>
              <a:rPr lang="en-US" sz="2200" dirty="0"/>
              <a:t>[1] </a:t>
            </a:r>
            <a:r>
              <a:rPr lang="en-US" altLang="ko-KR" sz="2200" b="0" i="0" dirty="0">
                <a:solidFill>
                  <a:srgbClr val="222222"/>
                </a:solidFill>
                <a:effectLst/>
                <a:latin typeface="Arial" panose="020B0604020202020204" pitchFamily="34" charset="0"/>
              </a:rPr>
              <a:t>Negrete, Aimar, and Ossama </a:t>
            </a:r>
            <a:r>
              <a:rPr lang="en-US" altLang="ko-KR" sz="2200" b="0" i="0" dirty="0" err="1">
                <a:solidFill>
                  <a:srgbClr val="222222"/>
                </a:solidFill>
                <a:effectLst/>
                <a:latin typeface="Arial" panose="020B0604020202020204" pitchFamily="34" charset="0"/>
              </a:rPr>
              <a:t>Abdelkhalik</a:t>
            </a:r>
            <a:r>
              <a:rPr lang="en-US" altLang="ko-KR" sz="2200" b="0" i="0" dirty="0">
                <a:solidFill>
                  <a:srgbClr val="222222"/>
                </a:solidFill>
                <a:effectLst/>
                <a:latin typeface="Arial" panose="020B0604020202020204" pitchFamily="34" charset="0"/>
              </a:rPr>
              <a:t>. "A geometric approach to deep space navigation using angles-only measurements." </a:t>
            </a:r>
            <a:r>
              <a:rPr lang="en-US" altLang="ko-KR" sz="2200" b="0" i="1" dirty="0">
                <a:solidFill>
                  <a:srgbClr val="222222"/>
                </a:solidFill>
                <a:effectLst/>
                <a:latin typeface="Arial" panose="020B0604020202020204" pitchFamily="34" charset="0"/>
              </a:rPr>
              <a:t>AIAA SCITECH 2024 Forum</a:t>
            </a:r>
            <a:r>
              <a:rPr lang="en-US" altLang="ko-KR" sz="2200" b="0" i="0" dirty="0">
                <a:solidFill>
                  <a:srgbClr val="222222"/>
                </a:solidFill>
                <a:effectLst/>
                <a:latin typeface="Arial" panose="020B0604020202020204" pitchFamily="34" charset="0"/>
              </a:rPr>
              <a:t>. 2024.</a:t>
            </a:r>
            <a:r>
              <a:rPr lang="en-US" sz="2200" dirty="0"/>
              <a:t>  [2] </a:t>
            </a:r>
            <a:r>
              <a:rPr lang="en-US" altLang="ko-KR" sz="2200" b="0" i="0" dirty="0">
                <a:solidFill>
                  <a:srgbClr val="222222"/>
                </a:solidFill>
                <a:effectLst/>
                <a:latin typeface="Arial" panose="020B0604020202020204" pitchFamily="34" charset="0"/>
              </a:rPr>
              <a:t>Fang, Bertrand T. "Trilateration and extension to global positioning system navigation." </a:t>
            </a:r>
            <a:r>
              <a:rPr lang="en-US" altLang="ko-KR" sz="2200" b="0" i="1" dirty="0">
                <a:solidFill>
                  <a:srgbClr val="222222"/>
                </a:solidFill>
                <a:effectLst/>
                <a:latin typeface="Arial" panose="020B0604020202020204" pitchFamily="34" charset="0"/>
              </a:rPr>
              <a:t>Journal of Guidance, Control, and Dynamics</a:t>
            </a:r>
            <a:r>
              <a:rPr lang="en-US" altLang="ko-KR" sz="2200" b="0" i="0" dirty="0">
                <a:solidFill>
                  <a:srgbClr val="222222"/>
                </a:solidFill>
                <a:effectLst/>
                <a:latin typeface="Arial" panose="020B0604020202020204" pitchFamily="34" charset="0"/>
              </a:rPr>
              <a:t> 9.6 (1986): 715-717.</a:t>
            </a:r>
            <a:endParaRPr lang="en-US" dirty="0"/>
          </a:p>
        </p:txBody>
      </p:sp>
    </p:spTree>
    <p:extLst>
      <p:ext uri="{BB962C8B-B14F-4D97-AF65-F5344CB8AC3E}">
        <p14:creationId xmlns:p14="http://schemas.microsoft.com/office/powerpoint/2010/main" val="4206299960"/>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1666</TotalTime>
  <Words>4353</Words>
  <Application>Microsoft Office PowerPoint</Application>
  <PresentationFormat>Custom</PresentationFormat>
  <Paragraphs>270</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Times</vt:lpstr>
      <vt:lpstr>Arial</vt:lpstr>
      <vt:lpstr>Cambria Math</vt:lpstr>
      <vt:lpstr>Blank Presentation</vt:lpstr>
      <vt:lpstr>PowerPoint Presentation</vt:lpstr>
      <vt:lpstr>PowerPoint Presentation</vt:lpstr>
      <vt:lpstr>PowerPoint Presentation</vt:lpstr>
      <vt:lpstr>PowerPoint Presentation</vt:lpstr>
    </vt:vector>
  </TitlesOfParts>
  <Company>ISU Printing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 Louden</dc:creator>
  <cp:lastModifiedBy>Choi, Sungmoon [AER E]</cp:lastModifiedBy>
  <cp:revision>74</cp:revision>
  <cp:lastPrinted>2005-05-04T14:31:29Z</cp:lastPrinted>
  <dcterms:created xsi:type="dcterms:W3CDTF">2016-12-19T17:37:43Z</dcterms:created>
  <dcterms:modified xsi:type="dcterms:W3CDTF">2025-04-18T21:26:15Z</dcterms:modified>
</cp:coreProperties>
</file>